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Claims supportés (bras 1)</c:v>
                </c:pt>
              </c:strCache>
            </c:strRef>
          </c:tx>
          <c:spPr>
            <a:ln w="31750">
              <a:solidFill>
                <a:srgbClr val="15803D"/>
              </a:solidFill>
            </a:ln>
          </c:spPr>
          <c:marker>
            <c:symbol val="none"/>
          </c:marker>
          <c:cat>
            <c:strRef>
              <c:f>Sheet1!$A$2:$A$19</c:f>
              <c:strCache>
                <c:ptCount val="18"/>
                <c:pt idx="0">
                  <c:v>R1</c:v>
                </c:pt>
                <c:pt idx="1">
                  <c:v>R2</c:v>
                </c:pt>
                <c:pt idx="2">
                  <c:v>R3</c:v>
                </c:pt>
                <c:pt idx="3">
                  <c:v>R4</c:v>
                </c:pt>
                <c:pt idx="4">
                  <c:v>R5</c:v>
                </c:pt>
                <c:pt idx="5">
                  <c:v>R6</c:v>
                </c:pt>
                <c:pt idx="6">
                  <c:v>R7</c:v>
                </c:pt>
                <c:pt idx="7">
                  <c:v>R8</c:v>
                </c:pt>
                <c:pt idx="8">
                  <c:v>R9</c:v>
                </c:pt>
                <c:pt idx="9">
                  <c:v>R10</c:v>
                </c:pt>
                <c:pt idx="10">
                  <c:v>R11</c:v>
                </c:pt>
                <c:pt idx="11">
                  <c:v>R12</c:v>
                </c:pt>
                <c:pt idx="12">
                  <c:v>R13</c:v>
                </c:pt>
                <c:pt idx="13">
                  <c:v>R14</c:v>
                </c:pt>
                <c:pt idx="14">
                  <c:v>R15</c:v>
                </c:pt>
                <c:pt idx="15">
                  <c:v>R16</c:v>
                </c:pt>
                <c:pt idx="16">
                  <c:v>R17</c:v>
                </c:pt>
                <c:pt idx="17">
                  <c:v>R18</c:v>
                </c:pt>
              </c:strCache>
            </c:strRef>
          </c:cat>
          <c:val>
            <c:numRef>
              <c:f>Sheet1!$B$2:$B$19</c:f>
              <c:numCache>
                <c:formatCode>General</c:formatCode>
                <c:ptCount val="18"/>
                <c:pt idx="0">
                  <c:v>57.0</c:v>
                </c:pt>
                <c:pt idx="1">
                  <c:v>85.5</c:v>
                </c:pt>
                <c:pt idx="2">
                  <c:v>95.2</c:v>
                </c:pt>
                <c:pt idx="3">
                  <c:v>98.4</c:v>
                </c:pt>
                <c:pt idx="4">
                  <c:v>96.4</c:v>
                </c:pt>
                <c:pt idx="5">
                  <c:v>97.6</c:v>
                </c:pt>
                <c:pt idx="6">
                  <c:v>96.5</c:v>
                </c:pt>
                <c:pt idx="7">
                  <c:v>97.9</c:v>
                </c:pt>
                <c:pt idx="8">
                  <c:v>98.2</c:v>
                </c:pt>
                <c:pt idx="9">
                  <c:v>96.7</c:v>
                </c:pt>
                <c:pt idx="10">
                  <c:v>95.0</c:v>
                </c:pt>
                <c:pt idx="11">
                  <c:v>95.9</c:v>
                </c:pt>
                <c:pt idx="12">
                  <c:v>94.9</c:v>
                </c:pt>
                <c:pt idx="13">
                  <c:v>94.6</c:v>
                </c:pt>
                <c:pt idx="14">
                  <c:v>95.2</c:v>
                </c:pt>
                <c:pt idx="15">
                  <c:v>96.5</c:v>
                </c:pt>
                <c:pt idx="16">
                  <c:v>96.5</c:v>
                </c:pt>
                <c:pt idx="17">
                  <c:v>97.1</c:v>
                </c:pt>
              </c:numCache>
            </c:numRef>
          </c:val>
          <c:smooth val="0"/>
        </c:ser>
        <c:ser>
          <c:idx val="1"/>
          <c:order val="1"/>
          <c:tx>
            <c:strRef>
              <c:f>Sheet1!$C$1</c:f>
              <c:strCache>
                <c:ptCount val="1"/>
                <c:pt idx="0">
                  <c:v>Porte de release (95 %)</c:v>
                </c:pt>
              </c:strCache>
            </c:strRef>
          </c:tx>
          <c:spPr>
            <a:ln w="19050">
              <a:solidFill>
                <a:srgbClr val="9CA3AF"/>
              </a:solidFill>
            </a:ln>
          </c:spPr>
          <c:marker>
            <c:symbol val="none"/>
          </c:marker>
          <c:cat>
            <c:strRef>
              <c:f>Sheet1!$A$2:$A$19</c:f>
              <c:strCache>
                <c:ptCount val="18"/>
                <c:pt idx="0">
                  <c:v>R1</c:v>
                </c:pt>
                <c:pt idx="1">
                  <c:v>R2</c:v>
                </c:pt>
                <c:pt idx="2">
                  <c:v>R3</c:v>
                </c:pt>
                <c:pt idx="3">
                  <c:v>R4</c:v>
                </c:pt>
                <c:pt idx="4">
                  <c:v>R5</c:v>
                </c:pt>
                <c:pt idx="5">
                  <c:v>R6</c:v>
                </c:pt>
                <c:pt idx="6">
                  <c:v>R7</c:v>
                </c:pt>
                <c:pt idx="7">
                  <c:v>R8</c:v>
                </c:pt>
                <c:pt idx="8">
                  <c:v>R9</c:v>
                </c:pt>
                <c:pt idx="9">
                  <c:v>R10</c:v>
                </c:pt>
                <c:pt idx="10">
                  <c:v>R11</c:v>
                </c:pt>
                <c:pt idx="11">
                  <c:v>R12</c:v>
                </c:pt>
                <c:pt idx="12">
                  <c:v>R13</c:v>
                </c:pt>
                <c:pt idx="13">
                  <c:v>R14</c:v>
                </c:pt>
                <c:pt idx="14">
                  <c:v>R15</c:v>
                </c:pt>
                <c:pt idx="15">
                  <c:v>R16</c:v>
                </c:pt>
                <c:pt idx="16">
                  <c:v>R17</c:v>
                </c:pt>
                <c:pt idx="17">
                  <c:v>R18</c:v>
                </c:pt>
              </c:strCache>
            </c:strRef>
          </c:cat>
          <c:val>
            <c:numRef>
              <c:f>Sheet1!$C$2:$C$19</c:f>
              <c:numCache>
                <c:formatCode>General</c:formatCode>
                <c:ptCount val="18"/>
                <c:pt idx="0">
                  <c:v>95.0</c:v>
                </c:pt>
                <c:pt idx="1">
                  <c:v>95.0</c:v>
                </c:pt>
                <c:pt idx="2">
                  <c:v>95.0</c:v>
                </c:pt>
                <c:pt idx="3">
                  <c:v>95.0</c:v>
                </c:pt>
                <c:pt idx="4">
                  <c:v>95.0</c:v>
                </c:pt>
                <c:pt idx="5">
                  <c:v>95.0</c:v>
                </c:pt>
                <c:pt idx="6">
                  <c:v>95.0</c:v>
                </c:pt>
                <c:pt idx="7">
                  <c:v>95.0</c:v>
                </c:pt>
                <c:pt idx="8">
                  <c:v>95.0</c:v>
                </c:pt>
                <c:pt idx="9">
                  <c:v>95.0</c:v>
                </c:pt>
                <c:pt idx="10">
                  <c:v>95.0</c:v>
                </c:pt>
                <c:pt idx="11">
                  <c:v>95.0</c:v>
                </c:pt>
                <c:pt idx="12">
                  <c:v>95.0</c:v>
                </c:pt>
                <c:pt idx="13">
                  <c:v>95.0</c:v>
                </c:pt>
                <c:pt idx="14">
                  <c:v>95.0</c:v>
                </c:pt>
                <c:pt idx="15">
                  <c:v>95.0</c:v>
                </c:pt>
                <c:pt idx="16">
                  <c:v>95.0</c:v>
                </c:pt>
                <c:pt idx="17">
                  <c:v>95.0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5E7EB"/>
            </a:solidFill>
          </a:ln>
        </c:spPr>
        <c:txPr>
          <a:bodyPr/>
          <a:lstStyle/>
          <a:p>
            <a:pPr>
              <a:defRPr sz="850">
                <a:latin typeface="Calibri"/>
              </a:defRPr>
            </a:pPr>
          </a:p>
        </c:txPr>
        <c:crossAx val="2140495176"/>
        <c:crosses val="autoZero"/>
        <c:auto val="1"/>
        <c:lblAlgn val="ctr"/>
        <c:lblOffset val="100"/>
        <c:noMultiLvlLbl val="0"/>
      </c:catAx>
      <c:valAx>
        <c:axId val="2140495176"/>
        <c:scaling>
          <c:max val="100.0"/>
          <c:min val="50.0"/>
        </c:scaling>
        <c:delete val="0"/>
        <c:axPos val="l"/>
        <c:majorGridlines>
          <c:spPr>
            <a:ln w="6350">
              <a:solidFill>
                <a:srgbClr val="E5E7EB"/>
              </a:solidFill>
            </a:ln>
          </c:spPr>
        </c:majorGridlines>
        <c:numFmt formatCode="0&quot;%&quot;" sourceLinked="0"/>
        <c:majorTickMark val="out"/>
        <c:minorTickMark val="none"/>
        <c:tickLblPos val="nextTo"/>
        <c:spPr>
          <a:ln>
            <a:noFill/>
          </a:ln>
        </c:spPr>
        <c:txPr>
          <a:bodyPr/>
          <a:lstStyle/>
          <a:p>
            <a:pPr>
              <a:defRPr sz="900">
                <a:latin typeface="Calibri"/>
              </a:defRPr>
            </a:pPr>
          </a:p>
        </c:txPr>
        <c:crossAx val="2118791784"/>
        <c:crosses val="autoZero"/>
        <c:majorUnit val="10.0"/>
      </c:valAx>
    </c:plotArea>
    <c:legend>
      <c:legendPos val="b"/>
      <c:layout/>
      <c:overlay val="0"/>
      <c:txPr>
        <a:bodyPr/>
        <a:lstStyle/>
        <a:p>
          <a:pPr>
            <a:defRPr sz="1000">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du projet 4 (système de questions-réponses) : une plateforme RAG complète, en production, qui répond en français et en anglais sur 273 propositions de financement du GCF, avec citations à la phrase, preuves visuelles surlignées sur les pages sources, et un vérificateur factuel qui audite chaque réponse.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parties : les fondements théoriques et le positionnement dans la littérature ; l'architecture de la plateforme composant par composant ; le programme qualité (vérification, évaluation, campagne de couverture) ; enfin l'exploitation, le bilan et les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sujet du professeur impose 7 étapes ; le prototype de 2024 les couvrait déjà. La version finale les dépasse : le corpus GCF est difficile (long, tabulaire, auto-contradictoire), ce qui a imposé une exigence de vérifiabilité qui structure toute la plateforme.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partie relit la littérature RAG non pas comme un catalogue, mais comme une grille de lecture de la plateforme : chaque concept cité reviendra dans la partie II en face du composant qui l'implémente.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fils de littérature se croisent : le RAG proprement dit, et la génération attribuée (synthèse assistée). Le chiffre de Liu et al. — à peine la moitié des phrases des moteurs génératifs réellement supportées — justifie l'investissement massif du projet dans la vérification.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survey de Gao et al. décrit une évolution historique du domaine ; le projet l'a rejouée en accéléré. Le prototype de 2024 (rapport initial) était un RAG naïf canonique. Chaque limite rencontrée en pratique a poussé vers l'étage suivant de la taxonomie, jusqu'à l'orchestration modulaire actuelle.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grille tirée du survey « RAG and Beyond » n'est pas un habillage a posteriori : le rapport de build du projet l'utilise nommément pour se positionner, puis un audit dédié a contesté le mot « couvert » et l'a remplacé par des dénominateurs mesurés — c'est l'objet de la partie III.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pipelines : l'ingestion hors ligne (reproductible couche par couche par une commande) et le service en ligne (par tour de conversation). Règle d'architecture : chaque enrichissement dégrade sans bloquer.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gauche, la chaîne d'ingestion : du PDF brut à l'index FAISS, au BM25 SQLite et au registre de faits. En bas, le tour de conversation : le conducteur décide chat ou retrieve, la récupération hybride alimente des notes déterministes, gpt-5.2 génère une réponse citée, le vérificateur l'audite, Chainlit affiche sources et pages surlignées.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corpus est fermé et daté : cette propriété, souvent absente des benchmarks, est exploitée partout — absences confirmées, agrégats exacts, table conseils/années. La discipline de régénération par commande garantit la reproductibilité de chaque couche de données.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Neuf méthodes d'extraction ont été réellement exécutées et comparées — les notebooks en gardent la trace. Le VLM local gagne sur les tableaux financiers, cruciaux pour ce corpus. Le benchmark de rendu (résolution/format) illustre la méthode générale du projet : chaque paramètre par une mesure contre le système réel.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L'extracteur hérité plantait, se bloquait et perdait des pages silencieusement. La version industrialisée traite ces trois familles : crash (sérialisation + disjoncteur), blocage (ensemble de tâches plat sous sémaphore), perte (sidecars par page + fusion gardée par la complétude). Le cas 240/243 prouve la valeur de la vérification.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L'attribution ne s'arrête pas à « [doc, p. 17] » : l'utilisateur voit la page, avec le passage cité surligné. C'est une exigence de confiance (l'utilisateur vérifie d'un regard) et un instrument d'ingénierie (deux bugs de géométrie n'auraient jamais été trouvés par des tests unitaires).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décisions contre-intuitives et mesurées : le préfixe de section aide en théorie, mais dégrade le rappel du modèle d'embedding retenu — donc désactivé ; et les tables sont atomiques parce qu'une table coupée perd sa ligne d'en-tête. La séparation source_text/retrieval_text garantit qu'un artefact de récupération ne peut jamais atteindre le modèle de réponse ni l'ancrage.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cas d'école : un embedding ne distingue pas FP151 de FP152, et le document qui « mentionne » FP151 dans une liste peut battre le document qui EST FP151 — d'où le tokenizer d'identifiants, le poids lexical double et la distinction is/mentions. Chaque étage du pipeline (dédup avant quota, diversité de pages) répond à un défaut observé en vrai.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conducteur est le seul endroit où l'historique de conversation touche la recherche : il réécrit, il ne répond pas. La décomposition avec quotas est la réponse au constat de l'Acte V : à l'intérieur d'un document, « budget » n'a plus 178 000 concurrents — l'annexe qui perd globalement gagne localement.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registre est la réponse au constat que les questions les plus fréquentes (montants, entités, pays d'une FP) méritent mieux qu'une récupération vectorielle : un magasin de faits avec provenance, construit déterministiquement, corrigé par adjudication humaine, et qui assume les contradictions du corpus au lieu de les lisser.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matrice rend la comparaison inspectable : on voit quelle cellule vient d'où, ce qui manque, ce qui se contredit. Le refus de calculer dans les cellules est un choix de sûreté : l'arithmétique dérivée est traitée plus tard, côté vérificateur, avec ses propres garde-fous.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prompt n'est pas un texte : c'est un artefact assemblé, testé, budgété. tests/test_prompts.py épingle l'assemblage comme un tout — l'ajout du CONTEXT_BLOCK a dû prouver que la plus grande variante ne grossissait pas. Les règles de citation implémentent ALCE au niveau de la phrase, avec une hiérarchie anti-fausse-précision.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tour est une chorégraphie stricte : qui voit quoi est défini par des tests de câblage. L'isolation des preuves est la décision la plus contre-intuitive — moins de contexte pour le modèle de réponse — et elle a été imposée par une régression mesurée, pas par une théorie.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partie la plus originale du projet : la qualité n'est pas une phase de test, c'est un programme complet avec ses instruments, sa métrologie et ses audits — y compris l'audit des instruments eux-mêmes.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différence avec RAGAS/FActScore : ces cadres évaluent des systèmes hors ligne ; ici le même instrument tourne en production sur chaque réponse, avec des contraintes strictes de coût (1 appel), de sûreté (jamais d'écriture) et d'auditabilité (le juge lui-même est mesuré par set-difference sans API).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moment charnière du projet : avant d'améliorer le système, prouver que l'instrument mesure juste. L'adjudication en aveugle a montré que 83 % des échecs étaient des faux positifs du vérificateur. La calibration qui a suivi est elle-même sous contrôle : ancres adjudiquées, signature humaine, et cinq bras de scoring pour que l'instrument ne puisse plus se dégrader en silence.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L'histoire la plus instructive du projet : l'auto-réparation passait toutes les portes et améliorait tous les chiffres — en supprimant du contenu vérifié. La leçon générale : quand une métrique devient une cible, supprimer devient moins cher que corriger. La suppression du code (plutôt qu'un flag) est une position d'ingénierie assumée.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métrologie est le squelette du programme qualité : on mesure la variance avant de revendiquer un progrès, on raisonne en comptes entiers plutôt qu'en pourcentages, et on considère tout interrupteur d'environnement comme une variable expérimentale à consigner. C'est rare même dans la littérature d'évaluation.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courbe raconte trois histoires : la remontée initiale (calibration de l'instrument + citations à la phrase), le plateau au-dessus de la porte pendant que le gold grossit de 66 à 157 cas, et l'épisode R14 rouge / R15 verte — un échec nommé et guéri par la cure du corpus, pas masqué. R18 est le meilleur bras enregistré.</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moment épistémologique du projet : un gold set à 97 % peut cacher des défauts certifiés par le vérificateur lui-même (F13). Quinze probes à onze centimes ont trouvé quatre défauts qu'une septième release n'aurait jamais vus. D'où la campagne de couverture qui suit.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campagne transforme l'audit en travail : mécanismes, données, gold, instruments. Point remarquable : la phase 2½ a REJETÉ l'index sectionné après A/B — la capacité espérée dégradait la génération ; on a gardé l'adressage par une voie moins coûteuse. La passe R16–R18 règle l'ergonomie (réponses trop nues) sans sacrifier la vérifiabilité.</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partie : le système en tant qu'objet opéré (déploiement, rollback, ledger), le bilan d'ingénierie, et la mise en regard finale avec la littérature.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L'exploitation est traitée avec la même discipline que le code : images adressées par contenu, journal de bord append-only, procédure de rollback rehearsée. Le choix de laisser l'opérateur coller la ligne de ledger à la main est délibéré : l'automatiser déclencherait l'interlock d'arbre sale du déploiement lui-même.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contraste avant/après re-architecture est le socle de tout le reste : sans un point de vérité par constante et sans tests, aucune des mesures précédentes n'aurait de sens. Les incidents (clés, .git) sont racontés parce qu'ils ont produit les règles : zéro clé en source, jamais de rm pressé, historique préservé.</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table de synthèse : chaque ligne relie un concept de la revue de littérature à sa réalisation concrète et mesurée dans la plateforme. C'est la réponse directe à la question des « intersections » : le projet n'applique pas la littérature en bloc, il l'instancie composant par composant, et la contredit là où la mesure l'exige.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types de contributions : ce que la plateforme fait de plus que la pratique publiée, et — tout aussi important pour un travail académique — ce qu'elle refuse d'adopter faute d'écart mesuré. La hype (GraphRAG, agents) est traitée comme une hypothèse à coût, pas comme un défaut d'ambition.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limites sont énumérées avec le même sérieux que les résultats : chacune est adossée à une mesure ou à un artefact du repo (plan de campagne, mémoire de session). Rien ici n'est une excuse — ce sont des éléments de backlog datés et priorisés.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Conclusion en trois temps : conformité au sujet, dialogue constant avec la littérature, et les leçons qui dépassent le projet — métrologie, indépendance de l'évaluation, honnêteté comme propriété de conception. Le système est en production et chaque chiffre de cette présentation est traçable à un artefact checksummé du dépôt.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Références de la revue de littérature mobilisées dans la présentation ; les artefacts internes du projet (rapport de build, plan de campagne, taxonomie d'adjudication, ledger de déploiement) sont dans le dépôt.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protocole de paire est la réponse du projet au non-déterminisme des API : un chiffre isolé n'est pas un résultat. La paire 13 illustre l'honnêteté du compte entier ; la 14, qu'un échec cohérent est une information ; la 18, qu'un bras avorté ne se recycle pas en preuve.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Récapitulatif des valeurs effectives en production — chacune vit dans config.py ou .env (jamais dans une copie de fichier), et presque chacune porte, dans le code, la mesure A/B qui l'a choisie.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1091672" cy="365760"/>
          </a:xfrm>
          <a:prstGeom prst="rect">
            <a:avLst/>
          </a:prstGeom>
          <a:noFill/>
        </p:spPr>
        <p:txBody>
          <a:bodyPr wrap="square">
            <a:spAutoFit/>
          </a:bodyPr>
          <a:lstStyle/>
          <a:p>
            <a:r>
              <a:rPr sz="1300" b="1" i="0">
                <a:solidFill>
                  <a:srgbClr val="16A34A"/>
                </a:solidFill>
                <a:latin typeface="Calibri"/>
              </a:rPr>
              <a:t>PROJET ANNUEL MASTER 1 · PROJET 4 — SYSTÈME DE QUESTIONS-RÉPONSES</a:t>
            </a:r>
          </a:p>
        </p:txBody>
      </p:sp>
      <p:sp>
        <p:nvSpPr>
          <p:cNvPr id="4" name="TextBox 3"/>
          <p:cNvSpPr txBox="1"/>
          <p:nvPr/>
        </p:nvSpPr>
        <p:spPr>
          <a:xfrm>
            <a:off x="548640" y="1417320"/>
            <a:ext cx="11091672" cy="1737360"/>
          </a:xfrm>
          <a:prstGeom prst="rect">
            <a:avLst/>
          </a:prstGeom>
          <a:noFill/>
        </p:spPr>
        <p:txBody>
          <a:bodyPr wrap="square">
            <a:spAutoFit/>
          </a:bodyPr>
          <a:lstStyle/>
          <a:p>
            <a:r>
              <a:rPr sz="4000" b="1" i="0">
                <a:solidFill>
                  <a:srgbClr val="FFFFFF"/>
                </a:solidFill>
                <a:latin typeface="Calibri"/>
              </a:rPr>
              <a:t>SSA CHATBOT — une plateforme RAG vérifiée</a:t>
            </a:r>
          </a:p>
          <a:p>
            <a:pPr>
              <a:spcBef>
                <a:spcPts val="1000"/>
              </a:spcBef>
            </a:pPr>
            <a:r>
              <a:rPr sz="2000" b="0" i="0">
                <a:solidFill>
                  <a:srgbClr val="D1FAE5"/>
                </a:solidFill>
                <a:latin typeface="Calibri"/>
              </a:rPr>
              <a:t>Questions-réponses ancrées sur 273 propositions de financement du Fonds Vert pour le Climat (GCF)</a:t>
            </a:r>
          </a:p>
        </p:txBody>
      </p:sp>
      <p:sp>
        <p:nvSpPr>
          <p:cNvPr id="5" name="Rectangle 4"/>
          <p:cNvSpPr/>
          <p:nvPr/>
        </p:nvSpPr>
        <p:spPr>
          <a:xfrm>
            <a:off x="548640" y="3246120"/>
            <a:ext cx="2377440" cy="381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566160"/>
            <a:ext cx="11091672" cy="1005840"/>
          </a:xfrm>
          <a:prstGeom prst="rect">
            <a:avLst/>
          </a:prstGeom>
          <a:noFill/>
        </p:spPr>
        <p:txBody>
          <a:bodyPr wrap="square">
            <a:spAutoFit/>
          </a:bodyPr>
          <a:lstStyle/>
          <a:p>
            <a:r>
              <a:rPr sz="1500" b="0" i="1">
                <a:solidFill>
                  <a:srgbClr val="A7F3D0"/>
                </a:solidFill>
                <a:latin typeface="Calibri"/>
              </a:rPr>
              <a:t>De l'extraction vision-langage à la vérification factuelle par claims — architecture, mesures et intersections avec la littérature RAG et la synthèse assistée par IA</a:t>
            </a:r>
          </a:p>
        </p:txBody>
      </p:sp>
      <p:sp>
        <p:nvSpPr>
          <p:cNvPr id="7" name="TextBox 6"/>
          <p:cNvSpPr txBox="1"/>
          <p:nvPr/>
        </p:nvSpPr>
        <p:spPr>
          <a:xfrm>
            <a:off x="548640" y="4709160"/>
            <a:ext cx="11091672" cy="731520"/>
          </a:xfrm>
          <a:prstGeom prst="rect">
            <a:avLst/>
          </a:prstGeom>
          <a:noFill/>
        </p:spPr>
        <p:txBody>
          <a:bodyPr wrap="square">
            <a:spAutoFit/>
          </a:bodyPr>
          <a:lstStyle/>
          <a:p>
            <a:r>
              <a:rPr sz="1700" b="1" i="0">
                <a:solidFill>
                  <a:srgbClr val="FFFFFF"/>
                </a:solidFill>
                <a:latin typeface="Calibri"/>
              </a:rPr>
              <a:t>KOUDAYA Kokou Abel</a:t>
            </a:r>
          </a:p>
          <a:p>
            <a:r>
              <a:rPr sz="1300" b="0" i="0">
                <a:solidFill>
                  <a:srgbClr val="A7C4AF"/>
                </a:solidFill>
                <a:latin typeface="Calibri"/>
              </a:rPr>
              <a:t>Août 2026 · en production : fp-gcf.ssa.tg</a:t>
            </a:r>
          </a:p>
        </p:txBody>
      </p:sp>
      <p:sp>
        <p:nvSpPr>
          <p:cNvPr id="8" name="Rounded Rectangle 7"/>
          <p:cNvSpPr/>
          <p:nvPr/>
        </p:nvSpPr>
        <p:spPr>
          <a:xfrm>
            <a:off x="548640" y="5623560"/>
            <a:ext cx="2130552" cy="731520"/>
          </a:xfrm>
          <a:prstGeom prst="roundRect">
            <a:avLst>
              <a:gd name="adj" fmla="val 12000"/>
            </a:avLst>
          </a:prstGeom>
          <a:solidFill>
            <a:srgbClr val="1B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273</a:t>
            </a:r>
          </a:p>
          <a:p>
            <a:pPr algn="ctr"/>
            <a:r>
              <a:rPr sz="900" b="0" i="0">
                <a:solidFill>
                  <a:srgbClr val="A7F3D0"/>
                </a:solidFill>
                <a:latin typeface="Calibri"/>
              </a:rPr>
              <a:t>documents PDF</a:t>
            </a:r>
          </a:p>
        </p:txBody>
      </p:sp>
      <p:sp>
        <p:nvSpPr>
          <p:cNvPr id="9" name="Rounded Rectangle 8"/>
          <p:cNvSpPr/>
          <p:nvPr/>
        </p:nvSpPr>
        <p:spPr>
          <a:xfrm>
            <a:off x="2788920" y="5623560"/>
            <a:ext cx="2130552" cy="731520"/>
          </a:xfrm>
          <a:prstGeom prst="roundRect">
            <a:avLst>
              <a:gd name="adj" fmla="val 12000"/>
            </a:avLst>
          </a:prstGeom>
          <a:solidFill>
            <a:srgbClr val="1B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41 550</a:t>
            </a:r>
          </a:p>
          <a:p>
            <a:pPr algn="ctr"/>
            <a:r>
              <a:rPr sz="900" b="0" i="0">
                <a:solidFill>
                  <a:srgbClr val="A7F3D0"/>
                </a:solidFill>
                <a:latin typeface="Calibri"/>
              </a:rPr>
              <a:t>pages extraites</a:t>
            </a:r>
          </a:p>
        </p:txBody>
      </p:sp>
      <p:sp>
        <p:nvSpPr>
          <p:cNvPr id="10" name="Rounded Rectangle 9"/>
          <p:cNvSpPr/>
          <p:nvPr/>
        </p:nvSpPr>
        <p:spPr>
          <a:xfrm>
            <a:off x="5029200" y="5623560"/>
            <a:ext cx="2130552" cy="731520"/>
          </a:xfrm>
          <a:prstGeom prst="roundRect">
            <a:avLst>
              <a:gd name="adj" fmla="val 12000"/>
            </a:avLst>
          </a:prstGeom>
          <a:solidFill>
            <a:srgbClr val="1B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178 456</a:t>
            </a:r>
          </a:p>
          <a:p>
            <a:pPr algn="ctr"/>
            <a:r>
              <a:rPr sz="900" b="0" i="0">
                <a:solidFill>
                  <a:srgbClr val="A7F3D0"/>
                </a:solidFill>
                <a:latin typeface="Calibri"/>
              </a:rPr>
              <a:t>chunks indexés</a:t>
            </a:r>
          </a:p>
        </p:txBody>
      </p:sp>
      <p:sp>
        <p:nvSpPr>
          <p:cNvPr id="11" name="Rounded Rectangle 10"/>
          <p:cNvSpPr/>
          <p:nvPr/>
        </p:nvSpPr>
        <p:spPr>
          <a:xfrm>
            <a:off x="7269480" y="5623560"/>
            <a:ext cx="2130552" cy="731520"/>
          </a:xfrm>
          <a:prstGeom prst="roundRect">
            <a:avLst>
              <a:gd name="adj" fmla="val 12000"/>
            </a:avLst>
          </a:prstGeom>
          <a:solidFill>
            <a:srgbClr val="1B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97,1 %</a:t>
            </a:r>
          </a:p>
          <a:p>
            <a:pPr algn="ctr"/>
            <a:r>
              <a:rPr sz="900" b="0" i="0">
                <a:solidFill>
                  <a:srgbClr val="A7F3D0"/>
                </a:solidFill>
                <a:latin typeface="Calibri"/>
              </a:rPr>
              <a:t>claims supportés (R18)</a:t>
            </a:r>
          </a:p>
        </p:txBody>
      </p:sp>
      <p:sp>
        <p:nvSpPr>
          <p:cNvPr id="12" name="Rounded Rectangle 11"/>
          <p:cNvSpPr/>
          <p:nvPr/>
        </p:nvSpPr>
        <p:spPr>
          <a:xfrm>
            <a:off x="9509760" y="5623560"/>
            <a:ext cx="2130552" cy="731520"/>
          </a:xfrm>
          <a:prstGeom prst="roundRect">
            <a:avLst>
              <a:gd name="adj" fmla="val 12000"/>
            </a:avLst>
          </a:prstGeom>
          <a:solidFill>
            <a:srgbClr val="1B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≈1 770</a:t>
            </a:r>
          </a:p>
          <a:p>
            <a:pPr algn="ctr"/>
            <a:r>
              <a:rPr sz="900" b="0" i="0">
                <a:solidFill>
                  <a:srgbClr val="A7F3D0"/>
                </a:solidFill>
                <a:latin typeface="Calibri"/>
              </a:rPr>
              <a:t>tests verts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502920"/>
          </a:xfrm>
          <a:prstGeom prst="rect">
            <a:avLst/>
          </a:prstGeom>
          <a:noFill/>
        </p:spPr>
        <p:txBody>
          <a:bodyPr wrap="square">
            <a:spAutoFit/>
          </a:bodyPr>
          <a:lstStyle/>
          <a:p>
            <a:r>
              <a:rPr sz="2400" b="1" i="0">
                <a:solidFill>
                  <a:srgbClr val="14532D"/>
                </a:solidFill>
                <a:latin typeface="Calibri"/>
              </a:rPr>
              <a:t>Plan de la présentation</a:t>
            </a:r>
          </a:p>
        </p:txBody>
      </p:sp>
      <p:sp>
        <p:nvSpPr>
          <p:cNvPr id="4" name="Rectangle 3"/>
          <p:cNvSpPr/>
          <p:nvPr/>
        </p:nvSpPr>
        <p:spPr>
          <a:xfrm>
            <a:off x="548640" y="76809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950976"/>
            <a:ext cx="5394960" cy="2148840"/>
          </a:xfrm>
          <a:prstGeom prst="roundRect">
            <a:avLst>
              <a:gd name="adj" fmla="val 6000"/>
            </a:avLst>
          </a:prstGeom>
          <a:solidFill>
            <a:srgbClr val="F0FDF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09728"/>
          <a:lstStyle/>
          <a:p>
            <a:pPr algn="ctr"/>
            <a:r>
              <a:rPr sz="1550" b="1" i="0">
                <a:solidFill>
                  <a:srgbClr val="14532D"/>
                </a:solidFill>
                <a:latin typeface="Calibri"/>
              </a:rPr>
              <a:t>I — Contexte &amp; fondements</a:t>
            </a:r>
          </a:p>
          <a:p>
            <a:pPr>
              <a:spcAft>
                <a:spcPts val="200"/>
              </a:spcAft>
            </a:pPr>
            <a:r>
              <a:rPr sz="1200" b="0" i="0">
                <a:solidFill>
                  <a:srgbClr val="16A34A"/>
                </a:solidFill>
                <a:latin typeface="Calibri"/>
              </a:rPr>
              <a:t>•  </a:t>
            </a:r>
            <a:r>
              <a:rPr sz="1200" b="0" i="0">
                <a:solidFill>
                  <a:srgbClr val="1F2937"/>
                </a:solidFill>
                <a:latin typeface="Calibri"/>
              </a:rPr>
              <a:t>Le cahier des charges et le défi du corpus GCF</a:t>
            </a:r>
          </a:p>
          <a:p>
            <a:pPr>
              <a:spcAft>
                <a:spcPts val="200"/>
              </a:spcAft>
            </a:pPr>
            <a:r>
              <a:rPr sz="1200" b="0" i="0">
                <a:solidFill>
                  <a:srgbClr val="16A34A"/>
                </a:solidFill>
                <a:latin typeface="Calibri"/>
              </a:rPr>
              <a:t>•  </a:t>
            </a:r>
            <a:r>
              <a:rPr sz="1200" b="0" i="0">
                <a:solidFill>
                  <a:srgbClr val="1F2937"/>
                </a:solidFill>
                <a:latin typeface="Calibri"/>
              </a:rPr>
              <a:t>Le paradigme RAG et la synthèse assistée par IA</a:t>
            </a:r>
          </a:p>
          <a:p>
            <a:pPr>
              <a:spcAft>
                <a:spcPts val="200"/>
              </a:spcAft>
            </a:pPr>
            <a:r>
              <a:rPr sz="1200" b="0" i="0">
                <a:solidFill>
                  <a:srgbClr val="16A34A"/>
                </a:solidFill>
                <a:latin typeface="Calibri"/>
              </a:rPr>
              <a:t>•  </a:t>
            </a:r>
            <a:r>
              <a:rPr sz="1200" b="0" i="0">
                <a:solidFill>
                  <a:srgbClr val="1F2937"/>
                </a:solidFill>
                <a:latin typeface="Calibri"/>
              </a:rPr>
              <a:t>Naive → Advanced → Modular RAG : la trajectoire du projet</a:t>
            </a:r>
          </a:p>
          <a:p>
            <a:pPr>
              <a:spcAft>
                <a:spcPts val="200"/>
              </a:spcAft>
            </a:pPr>
            <a:r>
              <a:rPr sz="1200" b="0" i="0">
                <a:solidFill>
                  <a:srgbClr val="16A34A"/>
                </a:solidFill>
                <a:latin typeface="Calibri"/>
              </a:rPr>
              <a:t>•  </a:t>
            </a:r>
            <a:r>
              <a:rPr sz="1200" b="0" i="0">
                <a:solidFill>
                  <a:srgbClr val="1F2937"/>
                </a:solidFill>
                <a:latin typeface="Calibri"/>
              </a:rPr>
              <a:t>Les niveaux de requêtes L1–L4 (Zhao et al. 2024)</a:t>
            </a:r>
          </a:p>
        </p:txBody>
      </p:sp>
      <p:sp>
        <p:nvSpPr>
          <p:cNvPr id="6" name="Rounded Rectangle 5"/>
          <p:cNvSpPr/>
          <p:nvPr/>
        </p:nvSpPr>
        <p:spPr>
          <a:xfrm>
            <a:off x="6217920" y="950976"/>
            <a:ext cx="5394960" cy="2148840"/>
          </a:xfrm>
          <a:prstGeom prst="roundRect">
            <a:avLst>
              <a:gd name="adj" fmla="val 6000"/>
            </a:avLst>
          </a:prstGeom>
          <a:solidFill>
            <a:srgbClr val="F5F5F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09728"/>
          <a:lstStyle/>
          <a:p>
            <a:pPr algn="ctr"/>
            <a:r>
              <a:rPr sz="1550" b="1" i="0">
                <a:solidFill>
                  <a:srgbClr val="14532D"/>
                </a:solidFill>
                <a:latin typeface="Calibri"/>
              </a:rPr>
              <a:t>II — La plateforme</a:t>
            </a:r>
          </a:p>
          <a:p>
            <a:pPr>
              <a:spcAft>
                <a:spcPts val="200"/>
              </a:spcAft>
            </a:pPr>
            <a:r>
              <a:rPr sz="1200" b="0" i="0">
                <a:solidFill>
                  <a:srgbClr val="16A34A"/>
                </a:solidFill>
                <a:latin typeface="Calibri"/>
              </a:rPr>
              <a:t>•  </a:t>
            </a:r>
            <a:r>
              <a:rPr sz="1200" b="0" i="0">
                <a:solidFill>
                  <a:srgbClr val="1F2937"/>
                </a:solidFill>
                <a:latin typeface="Calibri"/>
              </a:rPr>
              <a:t>Architecture d'ensemble</a:t>
            </a:r>
          </a:p>
          <a:p>
            <a:pPr>
              <a:spcAft>
                <a:spcPts val="200"/>
              </a:spcAft>
            </a:pPr>
            <a:r>
              <a:rPr sz="1200" b="0" i="0">
                <a:solidFill>
                  <a:srgbClr val="16A34A"/>
                </a:solidFill>
                <a:latin typeface="Calibri"/>
              </a:rPr>
              <a:t>•  </a:t>
            </a:r>
            <a:r>
              <a:rPr sz="1200" b="0" i="0">
                <a:solidFill>
                  <a:srgbClr val="1F2937"/>
                </a:solidFill>
                <a:latin typeface="Calibri"/>
              </a:rPr>
              <a:t>Extraction VLM, ancrage visuel, chunking &amp; index</a:t>
            </a:r>
          </a:p>
          <a:p>
            <a:pPr>
              <a:spcAft>
                <a:spcPts val="200"/>
              </a:spcAft>
            </a:pPr>
            <a:r>
              <a:rPr sz="1200" b="0" i="0">
                <a:solidFill>
                  <a:srgbClr val="16A34A"/>
                </a:solidFill>
                <a:latin typeface="Calibri"/>
              </a:rPr>
              <a:t>•  </a:t>
            </a:r>
            <a:r>
              <a:rPr sz="1200" b="0" i="0">
                <a:solidFill>
                  <a:srgbClr val="1F2937"/>
                </a:solidFill>
                <a:latin typeface="Calibri"/>
              </a:rPr>
              <a:t>Récupération hybride, conducteur, registre, planificateur</a:t>
            </a:r>
          </a:p>
          <a:p>
            <a:pPr>
              <a:spcAft>
                <a:spcPts val="200"/>
              </a:spcAft>
            </a:pPr>
            <a:r>
              <a:rPr sz="1200" b="0" i="0">
                <a:solidFill>
                  <a:srgbClr val="16A34A"/>
                </a:solidFill>
                <a:latin typeface="Calibri"/>
              </a:rPr>
              <a:t>•  </a:t>
            </a:r>
            <a:r>
              <a:rPr sz="1200" b="0" i="0">
                <a:solidFill>
                  <a:srgbClr val="1F2937"/>
                </a:solidFill>
                <a:latin typeface="Calibri"/>
              </a:rPr>
              <a:t>Assemblage du prompt et génération</a:t>
            </a:r>
          </a:p>
        </p:txBody>
      </p:sp>
      <p:sp>
        <p:nvSpPr>
          <p:cNvPr id="7" name="Rounded Rectangle 6"/>
          <p:cNvSpPr/>
          <p:nvPr/>
        </p:nvSpPr>
        <p:spPr>
          <a:xfrm>
            <a:off x="548640" y="3282696"/>
            <a:ext cx="5394960" cy="2148840"/>
          </a:xfrm>
          <a:prstGeom prst="roundRect">
            <a:avLst>
              <a:gd name="adj" fmla="val 6000"/>
            </a:avLst>
          </a:prstGeom>
          <a:solidFill>
            <a:srgbClr val="E0F2FE"/>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09728"/>
          <a:lstStyle/>
          <a:p>
            <a:pPr algn="ctr"/>
            <a:r>
              <a:rPr sz="1550" b="1" i="0">
                <a:solidFill>
                  <a:srgbClr val="14532D"/>
                </a:solidFill>
                <a:latin typeface="Calibri"/>
              </a:rPr>
              <a:t>III — La qualité comme programme</a:t>
            </a:r>
          </a:p>
          <a:p>
            <a:pPr>
              <a:spcAft>
                <a:spcPts val="200"/>
              </a:spcAft>
            </a:pPr>
            <a:r>
              <a:rPr sz="1200" b="0" i="0">
                <a:solidFill>
                  <a:srgbClr val="16A34A"/>
                </a:solidFill>
                <a:latin typeface="Calibri"/>
              </a:rPr>
              <a:t>•  </a:t>
            </a:r>
            <a:r>
              <a:rPr sz="1200" b="0" i="0">
                <a:solidFill>
                  <a:srgbClr val="1F2937"/>
                </a:solidFill>
                <a:latin typeface="Calibri"/>
              </a:rPr>
              <a:t>Le vérificateur claim-support et son juge</a:t>
            </a:r>
          </a:p>
          <a:p>
            <a:pPr>
              <a:spcAft>
                <a:spcPts val="200"/>
              </a:spcAft>
            </a:pPr>
            <a:r>
              <a:rPr sz="1200" b="0" i="0">
                <a:solidFill>
                  <a:srgbClr val="16A34A"/>
                </a:solidFill>
                <a:latin typeface="Calibri"/>
              </a:rPr>
              <a:t>•  </a:t>
            </a:r>
            <a:r>
              <a:rPr sz="1200" b="0" i="0">
                <a:solidFill>
                  <a:srgbClr val="1F2937"/>
                </a:solidFill>
                <a:latin typeface="Calibri"/>
              </a:rPr>
              <a:t>Mesurer l'instrument : adjudication en aveugle</a:t>
            </a:r>
          </a:p>
          <a:p>
            <a:pPr>
              <a:spcAft>
                <a:spcPts val="200"/>
              </a:spcAft>
            </a:pPr>
            <a:r>
              <a:rPr sz="1200" b="0" i="0">
                <a:solidFill>
                  <a:srgbClr val="16A34A"/>
                </a:solidFill>
                <a:latin typeface="Calibri"/>
              </a:rPr>
              <a:t>•  </a:t>
            </a:r>
            <a:r>
              <a:rPr sz="1200" b="0" i="0">
                <a:solidFill>
                  <a:srgbClr val="1F2937"/>
                </a:solidFill>
                <a:latin typeface="Calibri"/>
              </a:rPr>
              <a:t>La fonctionnalité tuée : l'auto-réparation</a:t>
            </a:r>
          </a:p>
          <a:p>
            <a:pPr>
              <a:spcAft>
                <a:spcPts val="200"/>
              </a:spcAft>
            </a:pPr>
            <a:r>
              <a:rPr sz="1200" b="0" i="0">
                <a:solidFill>
                  <a:srgbClr val="16A34A"/>
                </a:solidFill>
                <a:latin typeface="Calibri"/>
              </a:rPr>
              <a:t>•  </a:t>
            </a:r>
            <a:r>
              <a:rPr sz="1200" b="0" i="0">
                <a:solidFill>
                  <a:srgbClr val="1F2937"/>
                </a:solidFill>
                <a:latin typeface="Calibri"/>
              </a:rPr>
              <a:t>Protocole de release, 18 releases, audit &amp; campagne de couverture</a:t>
            </a:r>
          </a:p>
        </p:txBody>
      </p:sp>
      <p:sp>
        <p:nvSpPr>
          <p:cNvPr id="8" name="Rounded Rectangle 7"/>
          <p:cNvSpPr/>
          <p:nvPr/>
        </p:nvSpPr>
        <p:spPr>
          <a:xfrm>
            <a:off x="6217920" y="3282696"/>
            <a:ext cx="5394960" cy="2148840"/>
          </a:xfrm>
          <a:prstGeom prst="roundRect">
            <a:avLst>
              <a:gd name="adj" fmla="val 6000"/>
            </a:avLst>
          </a:prstGeom>
          <a:solidFill>
            <a:srgbClr val="F5F5F4"/>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09728"/>
          <a:lstStyle/>
          <a:p>
            <a:pPr algn="ctr"/>
            <a:r>
              <a:rPr sz="1550" b="1" i="0">
                <a:solidFill>
                  <a:srgbClr val="14532D"/>
                </a:solidFill>
                <a:latin typeface="Calibri"/>
              </a:rPr>
              <a:t>IV — Exploitation &amp; bilan</a:t>
            </a:r>
          </a:p>
          <a:p>
            <a:pPr>
              <a:spcAft>
                <a:spcPts val="200"/>
              </a:spcAft>
            </a:pPr>
            <a:r>
              <a:rPr sz="1200" b="0" i="0">
                <a:solidFill>
                  <a:srgbClr val="16A34A"/>
                </a:solidFill>
                <a:latin typeface="Calibri"/>
              </a:rPr>
              <a:t>•  </a:t>
            </a:r>
            <a:r>
              <a:rPr sz="1200" b="0" i="0">
                <a:solidFill>
                  <a:srgbClr val="1F2937"/>
                </a:solidFill>
                <a:latin typeface="Calibri"/>
              </a:rPr>
              <a:t>Interface, déploiement, discipline d'ingénierie</a:t>
            </a:r>
          </a:p>
          <a:p>
            <a:pPr>
              <a:spcAft>
                <a:spcPts val="200"/>
              </a:spcAft>
            </a:pPr>
            <a:r>
              <a:rPr sz="1200" b="0" i="0">
                <a:solidFill>
                  <a:srgbClr val="16A34A"/>
                </a:solidFill>
                <a:latin typeface="Calibri"/>
              </a:rPr>
              <a:t>•  </a:t>
            </a:r>
            <a:r>
              <a:rPr sz="1200" b="0" i="0">
                <a:solidFill>
                  <a:srgbClr val="1F2937"/>
                </a:solidFill>
                <a:latin typeface="Calibri"/>
              </a:rPr>
              <a:t>Synthèse des intersections avec la littérature</a:t>
            </a:r>
          </a:p>
          <a:p>
            <a:pPr>
              <a:spcAft>
                <a:spcPts val="200"/>
              </a:spcAft>
            </a:pPr>
            <a:r>
              <a:rPr sz="1200" b="0" i="0">
                <a:solidFill>
                  <a:srgbClr val="16A34A"/>
                </a:solidFill>
                <a:latin typeface="Calibri"/>
              </a:rPr>
              <a:t>•  </a:t>
            </a:r>
            <a:r>
              <a:rPr sz="1200" b="0" i="0">
                <a:solidFill>
                  <a:srgbClr val="1F2937"/>
                </a:solidFill>
                <a:latin typeface="Calibri"/>
              </a:rPr>
              <a:t>Contributions, limites et perspectives</a:t>
            </a:r>
          </a:p>
        </p:txBody>
      </p:sp>
      <p:sp>
        <p:nvSpPr>
          <p:cNvPr id="9" name="TextBox 8"/>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10" name="TextBox 9"/>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 · CONTEXTE &amp; FONDEMENTS</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Contexte, cahier des charges et défi</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383280"/>
          </a:xfrm>
          <a:prstGeom prst="rect">
            <a:avLst/>
          </a:prstGeom>
          <a:noFill/>
        </p:spPr>
        <p:txBody>
          <a:bodyPr wrap="square">
            <a:spAutoFit/>
          </a:bodyPr>
          <a:lstStyle/>
          <a:p>
            <a:pPr>
              <a:lnSpc>
                <a:spcPct val="102000"/>
              </a:lnSpc>
              <a:spcAft>
                <a:spcPts val="600"/>
              </a:spcAft>
            </a:pPr>
            <a:r>
              <a:rPr sz="1450" b="1" i="0">
                <a:solidFill>
                  <a:srgbClr val="16A34A"/>
                </a:solidFill>
                <a:latin typeface="Calibri"/>
              </a:rPr>
              <a:t>▪  </a:t>
            </a:r>
            <a:r>
              <a:rPr sz="1450" b="1" i="0">
                <a:solidFill>
                  <a:srgbClr val="1F2937"/>
                </a:solidFill>
                <a:latin typeface="Calibri"/>
              </a:rPr>
              <a:t>Cahier des charges (Projet 4)</a:t>
            </a:r>
            <a:r>
              <a:rPr sz="1450" b="0" i="0">
                <a:solidFill>
                  <a:srgbClr val="1F2937"/>
                </a:solidFill>
                <a:latin typeface="Calibri"/>
              </a:rPr>
              <a:t> : un système répondant en langage naturel à partir d'un ensemble de documents — 7 étapes imposées : collecte, prétraitement, indexation, modèle Q&amp;R, intégration LangChain, test/évaluation, déploiement</a:t>
            </a:r>
          </a:p>
          <a:p>
            <a:pPr>
              <a:lnSpc>
                <a:spcPct val="102000"/>
              </a:lnSpc>
              <a:spcAft>
                <a:spcPts val="600"/>
              </a:spcAft>
            </a:pPr>
            <a:r>
              <a:rPr sz="1450" b="1" i="0">
                <a:solidFill>
                  <a:srgbClr val="16A34A"/>
                </a:solidFill>
                <a:latin typeface="Calibri"/>
              </a:rPr>
              <a:t>▪  </a:t>
            </a:r>
            <a:r>
              <a:rPr sz="1450" b="1" i="0">
                <a:solidFill>
                  <a:srgbClr val="1F2937"/>
                </a:solidFill>
                <a:latin typeface="Calibri"/>
              </a:rPr>
              <a:t>Corpus choisi</a:t>
            </a:r>
            <a:r>
              <a:rPr sz="1450" b="0" i="0">
                <a:solidFill>
                  <a:srgbClr val="1F2937"/>
                </a:solidFill>
                <a:latin typeface="Calibri"/>
              </a:rPr>
              <a:t> : 273 propositions de financement du Green Climate Fund — conseils B.11 (2015) à B.43 (2025), 41 550 pages</a:t>
            </a:r>
          </a:p>
          <a:p>
            <a:pPr>
              <a:lnSpc>
                <a:spcPct val="102000"/>
              </a:lnSpc>
              <a:spcAft>
                <a:spcPts val="400"/>
              </a:spcAft>
            </a:pPr>
            <a:r>
              <a:rPr sz="1300" b="0" i="0">
                <a:solidFill>
                  <a:srgbClr val="6B7280"/>
                </a:solidFill>
                <a:latin typeface="Calibri"/>
              </a:rPr>
              <a:t>    –  </a:t>
            </a:r>
            <a:r>
              <a:rPr sz="1300" b="0" i="0">
                <a:solidFill>
                  <a:srgbClr val="374151"/>
                </a:solidFill>
                <a:latin typeface="Calibri"/>
              </a:rPr>
              <a:t>documents longs (jusqu'à ~200 pages), tableaux financiers denses, annexes, gabarits changeants selon les époques</a:t>
            </a:r>
          </a:p>
          <a:p>
            <a:pPr>
              <a:lnSpc>
                <a:spcPct val="102000"/>
              </a:lnSpc>
              <a:spcAft>
                <a:spcPts val="400"/>
              </a:spcAft>
            </a:pPr>
            <a:r>
              <a:rPr sz="1300" b="0" i="0">
                <a:solidFill>
                  <a:srgbClr val="6B7280"/>
                </a:solidFill>
                <a:latin typeface="Calibri"/>
              </a:rPr>
              <a:t>    –  </a:t>
            </a:r>
            <a:r>
              <a:rPr sz="1300" b="0" i="0">
                <a:solidFill>
                  <a:srgbClr val="374151"/>
                </a:solidFill>
                <a:latin typeface="Calibri"/>
              </a:rPr>
              <a:t>le corpus se contredit lui-même : </a:t>
            </a:r>
            <a:r>
              <a:rPr sz="1300" b="1" i="0">
                <a:solidFill>
                  <a:srgbClr val="374151"/>
                </a:solidFill>
                <a:latin typeface="Calibri"/>
              </a:rPr>
              <a:t>210 conflits internes</a:t>
            </a:r>
            <a:r>
              <a:rPr sz="1300" b="0" i="0">
                <a:solidFill>
                  <a:srgbClr val="374151"/>
                </a:solidFill>
                <a:latin typeface="Calibri"/>
              </a:rPr>
              <a:t> mesurés dans 120 des 273 documents (ex. FP274 imprime trois montants GCF différents p. 7, 8 et 40)</a:t>
            </a:r>
          </a:p>
          <a:p>
            <a:pPr>
              <a:lnSpc>
                <a:spcPct val="102000"/>
              </a:lnSpc>
              <a:spcAft>
                <a:spcPts val="600"/>
              </a:spcAft>
            </a:pPr>
            <a:r>
              <a:rPr sz="1450" b="1" i="0">
                <a:solidFill>
                  <a:srgbClr val="16A34A"/>
                </a:solidFill>
                <a:latin typeface="Calibri"/>
              </a:rPr>
              <a:t>▪  </a:t>
            </a:r>
            <a:r>
              <a:rPr sz="1450" b="1" i="0">
                <a:solidFill>
                  <a:srgbClr val="1F2937"/>
                </a:solidFill>
                <a:latin typeface="Calibri"/>
              </a:rPr>
              <a:t>Exigence centrale retenue</a:t>
            </a:r>
            <a:r>
              <a:rPr sz="1450" b="0" i="0">
                <a:solidFill>
                  <a:srgbClr val="1F2937"/>
                </a:solidFill>
                <a:latin typeface="Calibri"/>
              </a:rPr>
              <a:t> : pas seulement répondre — répondre </a:t>
            </a:r>
            <a:r>
              <a:rPr sz="1450" b="1" i="0">
                <a:solidFill>
                  <a:srgbClr val="1F2937"/>
                </a:solidFill>
                <a:latin typeface="Calibri"/>
              </a:rPr>
              <a:t>juste, cité et vérifiable</a:t>
            </a:r>
            <a:r>
              <a:rPr sz="1450" b="0" i="0">
                <a:solidFill>
                  <a:srgbClr val="1F2937"/>
                </a:solidFill>
                <a:latin typeface="Calibri"/>
              </a:rPr>
              <a:t>, en français comme en anglais</a:t>
            </a:r>
          </a:p>
          <a:p>
            <a:pPr>
              <a:lnSpc>
                <a:spcPct val="102000"/>
              </a:lnSpc>
              <a:spcAft>
                <a:spcPts val="600"/>
              </a:spcAft>
            </a:pPr>
            <a:r>
              <a:rPr sz="1450" b="1" i="0">
                <a:solidFill>
                  <a:srgbClr val="16A34A"/>
                </a:solidFill>
                <a:latin typeface="Calibri"/>
              </a:rPr>
              <a:t>▪  </a:t>
            </a:r>
            <a:r>
              <a:rPr sz="1450" b="1" i="0">
                <a:solidFill>
                  <a:srgbClr val="1F2937"/>
                </a:solidFill>
                <a:latin typeface="Calibri"/>
              </a:rPr>
              <a:t>Résultat</a:t>
            </a:r>
            <a:r>
              <a:rPr sz="1450" b="0" i="0">
                <a:solidFill>
                  <a:srgbClr val="1F2937"/>
                </a:solidFill>
                <a:latin typeface="Calibri"/>
              </a:rPr>
              <a:t> : plateforme en production (fp-gcf.ssa.tg), 97,1 % de claims supportés au dernier release, chaque réponse auditée par un vérificateur factuel</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Le sujet impose la famille « QA sur documents » ; la littérature (Lewis et al. 2020 ; Gao et al. 2023) fait du RAG l'architecture de référence pour ce problème — le projet la pousse jusqu'à la vérification factuelle en production.</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51560"/>
            <a:ext cx="2377440" cy="1463040"/>
          </a:xfrm>
          <a:prstGeom prst="rect">
            <a:avLst/>
          </a:prstGeom>
          <a:noFill/>
        </p:spPr>
        <p:txBody>
          <a:bodyPr wrap="square">
            <a:spAutoFit/>
          </a:bodyPr>
          <a:lstStyle/>
          <a:p>
            <a:r>
              <a:rPr sz="8800" b="1" i="0">
                <a:solidFill>
                  <a:srgbClr val="16A34A"/>
                </a:solidFill>
                <a:latin typeface="Calibri"/>
              </a:rPr>
              <a:t>I</a:t>
            </a:r>
          </a:p>
        </p:txBody>
      </p:sp>
      <p:sp>
        <p:nvSpPr>
          <p:cNvPr id="4" name="TextBox 3"/>
          <p:cNvSpPr txBox="1"/>
          <p:nvPr/>
        </p:nvSpPr>
        <p:spPr>
          <a:xfrm>
            <a:off x="548640" y="2606040"/>
            <a:ext cx="10515600" cy="914400"/>
          </a:xfrm>
          <a:prstGeom prst="rect">
            <a:avLst/>
          </a:prstGeom>
          <a:noFill/>
        </p:spPr>
        <p:txBody>
          <a:bodyPr wrap="square">
            <a:spAutoFit/>
          </a:bodyPr>
          <a:lstStyle/>
          <a:p>
            <a:r>
              <a:rPr sz="3400" b="1" i="0">
                <a:solidFill>
                  <a:srgbClr val="FFFFFF"/>
                </a:solidFill>
                <a:latin typeface="Calibri"/>
              </a:rPr>
              <a:t>Fondements — la revue de littérature en un coup d'œil</a:t>
            </a:r>
          </a:p>
        </p:txBody>
      </p:sp>
      <p:sp>
        <p:nvSpPr>
          <p:cNvPr id="5" name="Rectangle 4"/>
          <p:cNvSpPr/>
          <p:nvPr/>
        </p:nvSpPr>
        <p:spPr>
          <a:xfrm>
            <a:off x="548640" y="3429000"/>
            <a:ext cx="2011680" cy="381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794760"/>
            <a:ext cx="10515600" cy="2194560"/>
          </a:xfrm>
          <a:prstGeom prst="rect">
            <a:avLst/>
          </a:prstGeom>
          <a:noFill/>
        </p:spPr>
        <p:txBody>
          <a:bodyPr wrap="square">
            <a:spAutoFit/>
          </a:bodyPr>
          <a:lstStyle/>
          <a:p>
            <a:pPr>
              <a:spcAft>
                <a:spcPts val="800"/>
              </a:spcAft>
            </a:pPr>
            <a:r>
              <a:rPr sz="1500" b="1" i="0">
                <a:solidFill>
                  <a:srgbClr val="16A34A"/>
                </a:solidFill>
                <a:latin typeface="Calibri"/>
              </a:rPr>
              <a:t>—  </a:t>
            </a:r>
            <a:r>
              <a:rPr sz="1500" b="0" i="0">
                <a:solidFill>
                  <a:srgbClr val="D1FAE5"/>
                </a:solidFill>
                <a:latin typeface="Calibri"/>
              </a:rPr>
              <a:t>Le paradigme RAG : récupérer avant de générer (Lewis et al. 2020)</a:t>
            </a:r>
          </a:p>
          <a:p>
            <a:pPr>
              <a:spcAft>
                <a:spcPts val="800"/>
              </a:spcAft>
            </a:pPr>
            <a:r>
              <a:rPr sz="1500" b="1" i="0">
                <a:solidFill>
                  <a:srgbClr val="16A34A"/>
                </a:solidFill>
                <a:latin typeface="Calibri"/>
              </a:rPr>
              <a:t>—  </a:t>
            </a:r>
            <a:r>
              <a:rPr sz="1500" b="0" i="0">
                <a:solidFill>
                  <a:srgbClr val="D1FAE5"/>
                </a:solidFill>
                <a:latin typeface="Calibri"/>
              </a:rPr>
              <a:t>La taxonomie Naive → Advanced → Modular (Gao et al. 2023) — et où se situe le projet</a:t>
            </a:r>
          </a:p>
          <a:p>
            <a:pPr>
              <a:spcAft>
                <a:spcPts val="800"/>
              </a:spcAft>
            </a:pPr>
            <a:r>
              <a:rPr sz="1500" b="1" i="0">
                <a:solidFill>
                  <a:srgbClr val="16A34A"/>
                </a:solidFill>
                <a:latin typeface="Calibri"/>
              </a:rPr>
              <a:t>—  </a:t>
            </a:r>
            <a:r>
              <a:rPr sz="1500" b="0" i="0">
                <a:solidFill>
                  <a:srgbClr val="D1FAE5"/>
                </a:solidFill>
                <a:latin typeface="Calibri"/>
              </a:rPr>
              <a:t>Les niveaux de requêtes L1–L4 (Zhao et al. 2024) — le cadre adopté par la plateforme</a:t>
            </a:r>
          </a:p>
          <a:p>
            <a:pPr>
              <a:spcAft>
                <a:spcPts val="800"/>
              </a:spcAft>
            </a:pPr>
            <a:r>
              <a:rPr sz="1500" b="1" i="0">
                <a:solidFill>
                  <a:srgbClr val="16A34A"/>
                </a:solidFill>
                <a:latin typeface="Calibri"/>
              </a:rPr>
              <a:t>—  </a:t>
            </a:r>
            <a:r>
              <a:rPr sz="1500" b="0" i="0">
                <a:solidFill>
                  <a:srgbClr val="D1FAE5"/>
                </a:solidFill>
                <a:latin typeface="Calibri"/>
              </a:rPr>
              <a:t>La synthèse assistée par IA : attribution, citations et vérifiabilité</a:t>
            </a:r>
          </a:p>
        </p:txBody>
      </p:sp>
      <p:sp>
        <p:nvSpPr>
          <p:cNvPr id="7" name="TextBox 6"/>
          <p:cNvSpPr txBox="1"/>
          <p:nvPr/>
        </p:nvSpPr>
        <p:spPr>
          <a:xfrm>
            <a:off x="548640" y="6510528"/>
            <a:ext cx="7315200" cy="274320"/>
          </a:xfrm>
          <a:prstGeom prst="rect">
            <a:avLst/>
          </a:prstGeom>
          <a:noFill/>
        </p:spPr>
        <p:txBody>
          <a:bodyPr wrap="square">
            <a:spAutoFit/>
          </a:bodyPr>
          <a:lstStyle/>
          <a:p>
            <a:r>
              <a:rPr sz="900" b="0" i="0">
                <a:solidFill>
                  <a:srgbClr val="A7C4AF"/>
                </a:solidFill>
                <a:latin typeface="Calibri"/>
              </a:rPr>
              <a:t>SSA CHATBOT — plateforme RAG · propositions de financement GCF</a:t>
            </a:r>
          </a:p>
        </p:txBody>
      </p:sp>
      <p:sp>
        <p:nvSpPr>
          <p:cNvPr id="8" name="TextBox 7"/>
          <p:cNvSpPr txBox="1"/>
          <p:nvPr/>
        </p:nvSpPr>
        <p:spPr>
          <a:xfrm>
            <a:off x="11292840" y="6510528"/>
            <a:ext cx="640080" cy="274320"/>
          </a:xfrm>
          <a:prstGeom prst="rect">
            <a:avLst/>
          </a:prstGeom>
          <a:noFill/>
        </p:spPr>
        <p:txBody>
          <a:bodyPr wrap="square">
            <a:spAutoFit/>
          </a:bodyPr>
          <a:lstStyle/>
          <a:p>
            <a:pPr algn="r"/>
            <a:r>
              <a:rPr sz="900" b="0" i="0">
                <a:solidFill>
                  <a:srgbClr val="A7C4AF"/>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 · FONDEMENTS</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Le paradigme RAG et la synthèse assistée par IA</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931920"/>
          </a:xfrm>
          <a:prstGeom prst="rect">
            <a:avLst/>
          </a:prstGeom>
          <a:noFill/>
        </p:spPr>
        <p:txBody>
          <a:bodyPr wrap="square">
            <a:spAutoFit/>
          </a:bodyPr>
          <a:lstStyle/>
          <a:p>
            <a:pPr>
              <a:lnSpc>
                <a:spcPct val="102000"/>
              </a:lnSpc>
              <a:spcAft>
                <a:spcPts val="600"/>
              </a:spcAft>
            </a:pPr>
            <a:r>
              <a:rPr sz="1450" b="1" i="0">
                <a:solidFill>
                  <a:srgbClr val="16A34A"/>
                </a:solidFill>
                <a:latin typeface="Calibri"/>
              </a:rPr>
              <a:t>▪  </a:t>
            </a:r>
            <a:r>
              <a:rPr sz="1450" b="1" i="0">
                <a:solidFill>
                  <a:srgbClr val="1F2937"/>
                </a:solidFill>
                <a:latin typeface="Calibri"/>
              </a:rPr>
              <a:t>RAG</a:t>
            </a:r>
            <a:r>
              <a:rPr sz="1450" b="0" i="0">
                <a:solidFill>
                  <a:srgbClr val="1F2937"/>
                </a:solidFill>
                <a:latin typeface="Calibri"/>
              </a:rPr>
              <a:t> (Lewis et al. 2020 ; REALM, Guu et al. 2020) : coupler un </a:t>
            </a:r>
            <a:r>
              <a:rPr sz="1450" b="1" i="0">
                <a:solidFill>
                  <a:srgbClr val="1F2937"/>
                </a:solidFill>
                <a:latin typeface="Calibri"/>
              </a:rPr>
              <a:t>récupérateur</a:t>
            </a:r>
            <a:r>
              <a:rPr sz="1450" b="0" i="0">
                <a:solidFill>
                  <a:srgbClr val="1F2937"/>
                </a:solidFill>
                <a:latin typeface="Calibri"/>
              </a:rPr>
              <a:t> (index de passages) et un </a:t>
            </a:r>
            <a:r>
              <a:rPr sz="1450" b="1" i="0">
                <a:solidFill>
                  <a:srgbClr val="1F2937"/>
                </a:solidFill>
                <a:latin typeface="Calibri"/>
              </a:rPr>
              <a:t>générateur</a:t>
            </a:r>
            <a:r>
              <a:rPr sz="1450" b="0" i="0">
                <a:solidFill>
                  <a:srgbClr val="1F2937"/>
                </a:solidFill>
                <a:latin typeface="Calibri"/>
              </a:rPr>
              <a:t> (LLM) — les connaissances vivent dans le corpus, pas dans les poids</a:t>
            </a:r>
          </a:p>
          <a:p>
            <a:pPr>
              <a:lnSpc>
                <a:spcPct val="102000"/>
              </a:lnSpc>
              <a:spcAft>
                <a:spcPts val="400"/>
              </a:spcAft>
            </a:pPr>
            <a:r>
              <a:rPr sz="1300" b="0" i="0">
                <a:solidFill>
                  <a:srgbClr val="6B7280"/>
                </a:solidFill>
                <a:latin typeface="Calibri"/>
              </a:rPr>
              <a:t>    –  </a:t>
            </a:r>
            <a:r>
              <a:rPr sz="1300" b="0" i="0">
                <a:solidFill>
                  <a:srgbClr val="374151"/>
                </a:solidFill>
                <a:latin typeface="Calibri"/>
              </a:rPr>
              <a:t>récupération dense par bi-encodeurs : DPR (Karpukhin et al. 2020), Sentence-BERT (Reimers &amp; Gurevych 2019)</a:t>
            </a:r>
          </a:p>
          <a:p>
            <a:pPr>
              <a:lnSpc>
                <a:spcPct val="102000"/>
              </a:lnSpc>
              <a:spcAft>
                <a:spcPts val="400"/>
              </a:spcAft>
            </a:pPr>
            <a:r>
              <a:rPr sz="1300" b="0" i="0">
                <a:solidFill>
                  <a:srgbClr val="6B7280"/>
                </a:solidFill>
                <a:latin typeface="Calibri"/>
              </a:rPr>
              <a:t>    –  </a:t>
            </a:r>
            <a:r>
              <a:rPr sz="1300" b="0" i="0">
                <a:solidFill>
                  <a:srgbClr val="374151"/>
                </a:solidFill>
                <a:latin typeface="Calibri"/>
              </a:rPr>
              <a:t>motivations : réduire l'</a:t>
            </a:r>
            <a:r>
              <a:rPr sz="1300" b="1" i="0">
                <a:solidFill>
                  <a:srgbClr val="374151"/>
                </a:solidFill>
                <a:latin typeface="Calibri"/>
              </a:rPr>
              <a:t>hallucination</a:t>
            </a:r>
            <a:r>
              <a:rPr sz="1300" b="0" i="0">
                <a:solidFill>
                  <a:srgbClr val="374151"/>
                </a:solidFill>
                <a:latin typeface="Calibri"/>
              </a:rPr>
              <a:t> (Ji et al. 2023 ; Shuster et al. 2021), actualiser les connaissances sans réentraîner, </a:t>
            </a:r>
            <a:r>
              <a:rPr sz="1300" b="1" i="0">
                <a:solidFill>
                  <a:srgbClr val="374151"/>
                </a:solidFill>
                <a:latin typeface="Calibri"/>
              </a:rPr>
              <a:t>tracer</a:t>
            </a:r>
            <a:r>
              <a:rPr sz="1300" b="0" i="0">
                <a:solidFill>
                  <a:srgbClr val="374151"/>
                </a:solidFill>
                <a:latin typeface="Calibri"/>
              </a:rPr>
              <a:t> chaque affirmation vers sa source</a:t>
            </a:r>
          </a:p>
          <a:p>
            <a:pPr>
              <a:lnSpc>
                <a:spcPct val="102000"/>
              </a:lnSpc>
              <a:spcAft>
                <a:spcPts val="600"/>
              </a:spcAft>
            </a:pPr>
            <a:r>
              <a:rPr sz="1450" b="1" i="0">
                <a:solidFill>
                  <a:srgbClr val="16A34A"/>
                </a:solidFill>
                <a:latin typeface="Calibri"/>
              </a:rPr>
              <a:t>▪  </a:t>
            </a:r>
            <a:r>
              <a:rPr sz="1450" b="1" i="0">
                <a:solidFill>
                  <a:srgbClr val="1F2937"/>
                </a:solidFill>
                <a:latin typeface="Calibri"/>
              </a:rPr>
              <a:t>Synthèse assistée par IA</a:t>
            </a:r>
            <a:r>
              <a:rPr sz="1450" b="0" i="0">
                <a:solidFill>
                  <a:srgbClr val="1F2937"/>
                </a:solidFill>
                <a:latin typeface="Calibri"/>
              </a:rPr>
              <a:t> : générer des réponses/synthèses </a:t>
            </a:r>
            <a:r>
              <a:rPr sz="1450" b="1" i="0">
                <a:solidFill>
                  <a:srgbClr val="1F2937"/>
                </a:solidFill>
                <a:latin typeface="Calibri"/>
              </a:rPr>
              <a:t>attribuées</a:t>
            </a:r>
            <a:r>
              <a:rPr sz="1450" b="0" i="0">
                <a:solidFill>
                  <a:srgbClr val="1F2937"/>
                </a:solidFill>
                <a:latin typeface="Calibri"/>
              </a:rPr>
              <a:t> — WebGPT (Nakano et al. 2021), GopherCite (Menick et al. 2022), cadre AIS (Rashkin et al. 2021)</a:t>
            </a:r>
          </a:p>
          <a:p>
            <a:pPr>
              <a:lnSpc>
                <a:spcPct val="102000"/>
              </a:lnSpc>
              <a:spcAft>
                <a:spcPts val="400"/>
              </a:spcAft>
            </a:pPr>
            <a:r>
              <a:rPr sz="1300" b="0" i="0">
                <a:solidFill>
                  <a:srgbClr val="6B7280"/>
                </a:solidFill>
                <a:latin typeface="Calibri"/>
              </a:rPr>
              <a:t>    –  </a:t>
            </a:r>
            <a:r>
              <a:rPr sz="1300" b="0" i="0">
                <a:solidFill>
                  <a:srgbClr val="374151"/>
                </a:solidFill>
                <a:latin typeface="Calibri"/>
              </a:rPr>
              <a:t>constat empirique : les moteurs génératifs citent mal — seules ~52 % des phrases sont pleinement supportées par leurs citations (Liu et al. 2023)</a:t>
            </a:r>
          </a:p>
          <a:p>
            <a:pPr>
              <a:lnSpc>
                <a:spcPct val="102000"/>
              </a:lnSpc>
              <a:spcAft>
                <a:spcPts val="600"/>
              </a:spcAft>
            </a:pPr>
            <a:r>
              <a:rPr sz="1450" b="1" i="0">
                <a:solidFill>
                  <a:srgbClr val="16A34A"/>
                </a:solidFill>
                <a:latin typeface="Calibri"/>
              </a:rPr>
              <a:t>▪  </a:t>
            </a:r>
            <a:r>
              <a:rPr sz="1450" b="1" i="0">
                <a:solidFill>
                  <a:srgbClr val="1F2937"/>
                </a:solidFill>
                <a:latin typeface="Calibri"/>
              </a:rPr>
              <a:t>Conséquence pour le projet</a:t>
            </a:r>
            <a:r>
              <a:rPr sz="1450" b="0" i="0">
                <a:solidFill>
                  <a:srgbClr val="1F2937"/>
                </a:solidFill>
                <a:latin typeface="Calibri"/>
              </a:rPr>
              <a:t> : la citation n'est pas un ornement mais un contrat — d'où citation à la phrase, ancrage visuel et vérification claim par claim</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Lewis et al. 2020 · Guu et al. 2020 · Karpukhin et al. 2020 · Ji et al. 2023 · Nakano et al. 2021 · Menick et al. 2022 · Rashkin et al. 2021 · Liu et al. 2023.</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 · FONDEMENTS</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Naive → Advanced → Modular RAG : la trajectoire du projet</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271016"/>
          <a:ext cx="11091670" cy="1463040"/>
        </p:xfrm>
        <a:graphic>
          <a:graphicData uri="http://schemas.openxmlformats.org/drawingml/2006/table">
            <a:tbl>
              <a:tblPr>
                <a:tableStyleId>{5C22544A-7EE6-4342-B048-85BDC9FD1C3A}</a:tableStyleId>
              </a:tblPr>
              <a:tblGrid>
                <a:gridCol w="1674214"/>
                <a:gridCol w="3766982"/>
                <a:gridCol w="5650474"/>
              </a:tblGrid>
              <a:tr h="365760">
                <a:tc>
                  <a:txBody>
                    <a:bodyPr wrap="square"/>
                    <a:lstStyle/>
                    <a:p>
                      <a:pPr>
                        <a:lnSpc>
                          <a:spcPct val="98000"/>
                        </a:lnSpc>
                      </a:pPr>
                      <a:r>
                        <a:rPr sz="1150" b="1" i="0">
                          <a:solidFill>
                            <a:srgbClr val="FFFFFF"/>
                          </a:solidFill>
                          <a:latin typeface="Calibri"/>
                        </a:rPr>
                        <a:t>Étape (Gao et al. 2023)</a:t>
                      </a:r>
                    </a:p>
                  </a:txBody>
                  <a:tcPr marL="54864" marR="54864" marT="27432" marB="27432" anchor="ctr">
                    <a:solidFill>
                      <a:srgbClr val="166534"/>
                    </a:solidFill>
                  </a:tcPr>
                </a:tc>
                <a:tc>
                  <a:txBody>
                    <a:bodyPr wrap="square"/>
                    <a:lstStyle/>
                    <a:p>
                      <a:pPr algn="l">
                        <a:lnSpc>
                          <a:spcPct val="98000"/>
                        </a:lnSpc>
                      </a:pPr>
                      <a:r>
                        <a:rPr sz="1150" b="1" i="0">
                          <a:solidFill>
                            <a:srgbClr val="FFFFFF"/>
                          </a:solidFill>
                          <a:latin typeface="Calibri"/>
                        </a:rPr>
                        <a:t>Ce que dit la littérature</a:t>
                      </a:r>
                    </a:p>
                  </a:txBody>
                  <a:tcPr marL="54864" marR="54864" marT="27432" marB="27432" anchor="ctr">
                    <a:solidFill>
                      <a:srgbClr val="166534"/>
                    </a:solidFill>
                  </a:tcPr>
                </a:tc>
                <a:tc>
                  <a:txBody>
                    <a:bodyPr wrap="square"/>
                    <a:lstStyle/>
                    <a:p>
                      <a:pPr algn="l">
                        <a:lnSpc>
                          <a:spcPct val="98000"/>
                        </a:lnSpc>
                      </a:pPr>
                      <a:r>
                        <a:rPr sz="1150" b="1" i="0">
                          <a:solidFill>
                            <a:srgbClr val="FFFFFF"/>
                          </a:solidFill>
                          <a:latin typeface="Calibri"/>
                        </a:rPr>
                        <a:t>Dans le projet</a:t>
                      </a:r>
                    </a:p>
                  </a:txBody>
                  <a:tcPr marL="54864" marR="54864" marT="27432" marB="27432" anchor="ctr">
                    <a:solidFill>
                      <a:srgbClr val="166534"/>
                    </a:solidFill>
                  </a:tcPr>
                </a:tc>
              </a:tr>
              <a:tr h="365760">
                <a:tc>
                  <a:txBody>
                    <a:bodyPr wrap="square"/>
                    <a:lstStyle/>
                    <a:p>
                      <a:pPr>
                        <a:lnSpc>
                          <a:spcPct val="98000"/>
                        </a:lnSpc>
                      </a:pPr>
                      <a:r>
                        <a:rPr sz="1150" b="0" i="0">
                          <a:solidFill>
                            <a:srgbClr val="1F2937"/>
                          </a:solidFill>
                          <a:latin typeface="Calibri"/>
                        </a:rPr>
                        <a:t>Naive RAG</a:t>
                      </a:r>
                    </a:p>
                  </a:txBody>
                  <a:tcPr marL="54864" marR="54864" marT="27432" marB="27432" anchor="ctr">
                    <a:solidFill>
                      <a:srgbClr val="FFFFFF"/>
                    </a:solidFill>
                  </a:tcPr>
                </a:tc>
                <a:tc>
                  <a:txBody>
                    <a:bodyPr wrap="square"/>
                    <a:lstStyle/>
                    <a:p>
                      <a:pPr algn="l">
                        <a:lnSpc>
                          <a:spcPct val="98000"/>
                        </a:lnSpc>
                      </a:pPr>
                      <a:r>
                        <a:rPr sz="1150" b="0" i="0">
                          <a:solidFill>
                            <a:srgbClr val="1F2937"/>
                          </a:solidFill>
                          <a:latin typeface="Calibri"/>
                        </a:rPr>
                        <a:t>indexer → récupérer top-k → générer ; fragile : mauvais rappel, contexte bruité, aucune garantie de fidélité</a:t>
                      </a:r>
                    </a:p>
                  </a:txBody>
                  <a:tcPr marL="54864" marR="54864" marT="27432" marB="27432" anchor="ctr">
                    <a:solidFill>
                      <a:srgbClr val="FFFFFF"/>
                    </a:solidFill>
                  </a:tcPr>
                </a:tc>
                <a:tc>
                  <a:txBody>
                    <a:bodyPr wrap="square"/>
                    <a:lstStyle/>
                    <a:p>
                      <a:pPr algn="l">
                        <a:lnSpc>
                          <a:spcPct val="98000"/>
                        </a:lnSpc>
                      </a:pPr>
                      <a:r>
                        <a:rPr sz="1150" b="0" i="0">
                          <a:solidFill>
                            <a:srgbClr val="1F2937"/>
                          </a:solidFill>
                          <a:latin typeface="Calibri"/>
                        </a:rPr>
                        <a:t>Prototype d'août 2024 : LangChain ConversationalRetrievalChain + Chroma + HuggingFaceEmbeddings, découpage 1000/200, Claude 3.5 — fonctionnel mais invérifiable</a:t>
                      </a:r>
                    </a:p>
                  </a:txBody>
                  <a:tcPr marL="54864" marR="54864" marT="27432" marB="27432" anchor="ctr">
                    <a:solidFill>
                      <a:srgbClr val="FFFFFF"/>
                    </a:solidFill>
                  </a:tcPr>
                </a:tc>
              </a:tr>
              <a:tr h="365760">
                <a:tc>
                  <a:txBody>
                    <a:bodyPr wrap="square"/>
                    <a:lstStyle/>
                    <a:p>
                      <a:pPr>
                        <a:lnSpc>
                          <a:spcPct val="98000"/>
                        </a:lnSpc>
                      </a:pPr>
                      <a:r>
                        <a:rPr sz="1150" b="0" i="0">
                          <a:solidFill>
                            <a:srgbClr val="1F2937"/>
                          </a:solidFill>
                          <a:latin typeface="Calibri"/>
                        </a:rPr>
                        <a:t>Advanced RAG</a:t>
                      </a:r>
                    </a:p>
                  </a:txBody>
                  <a:tcPr marL="54864" marR="54864" marT="27432" marB="27432" anchor="ctr">
                    <a:solidFill>
                      <a:srgbClr val="F5F5F4"/>
                    </a:solidFill>
                  </a:tcPr>
                </a:tc>
                <a:tc>
                  <a:txBody>
                    <a:bodyPr wrap="square"/>
                    <a:lstStyle/>
                    <a:p>
                      <a:pPr algn="l">
                        <a:lnSpc>
                          <a:spcPct val="98000"/>
                        </a:lnSpc>
                      </a:pPr>
                      <a:r>
                        <a:rPr sz="1150" b="0" i="0">
                          <a:solidFill>
                            <a:srgbClr val="1F2937"/>
                          </a:solidFill>
                          <a:latin typeface="Calibri"/>
                        </a:rPr>
                        <a:t>optimiser avant/pendant/après la récupération : nettoyage du corpus, réécriture de requête, hybride, reranking</a:t>
                      </a:r>
                    </a:p>
                  </a:txBody>
                  <a:tcPr marL="54864" marR="54864" marT="27432" marB="27432" anchor="ctr">
                    <a:solidFill>
                      <a:srgbClr val="F5F5F4"/>
                    </a:solidFill>
                  </a:tcPr>
                </a:tc>
                <a:tc>
                  <a:txBody>
                    <a:bodyPr wrap="square"/>
                    <a:lstStyle/>
                    <a:p>
                      <a:pPr algn="l">
                        <a:lnSpc>
                          <a:spcPct val="98000"/>
                        </a:lnSpc>
                      </a:pPr>
                      <a:r>
                        <a:rPr sz="1150" b="0" i="0">
                          <a:solidFill>
                            <a:srgbClr val="1F2937"/>
                          </a:solidFill>
                          <a:latin typeface="Calibri"/>
                        </a:rPr>
                        <a:t>Extraction VLM vérifiée, tokenizer d'identifiants, hybride BM25+dense (RRF), cross-encoder, condensation conversationnelle</a:t>
                      </a:r>
                    </a:p>
                  </a:txBody>
                  <a:tcPr marL="54864" marR="54864" marT="27432" marB="27432" anchor="ctr">
                    <a:solidFill>
                      <a:srgbClr val="F5F5F4"/>
                    </a:solidFill>
                  </a:tcPr>
                </a:tc>
              </a:tr>
              <a:tr h="365760">
                <a:tc>
                  <a:txBody>
                    <a:bodyPr wrap="square"/>
                    <a:lstStyle/>
                    <a:p>
                      <a:pPr>
                        <a:lnSpc>
                          <a:spcPct val="98000"/>
                        </a:lnSpc>
                      </a:pPr>
                      <a:r>
                        <a:rPr sz="1150" b="0" i="0">
                          <a:solidFill>
                            <a:srgbClr val="1F2937"/>
                          </a:solidFill>
                          <a:latin typeface="Calibri"/>
                        </a:rPr>
                        <a:t>Modular RAG</a:t>
                      </a:r>
                    </a:p>
                  </a:txBody>
                  <a:tcPr marL="54864" marR="54864" marT="27432" marB="27432" anchor="ctr">
                    <a:solidFill>
                      <a:srgbClr val="FFFFFF"/>
                    </a:solidFill>
                  </a:tcPr>
                </a:tc>
                <a:tc>
                  <a:txBody>
                    <a:bodyPr wrap="square"/>
                    <a:lstStyle/>
                    <a:p>
                      <a:pPr algn="l">
                        <a:lnSpc>
                          <a:spcPct val="98000"/>
                        </a:lnSpc>
                      </a:pPr>
                      <a:r>
                        <a:rPr sz="1150" b="0" i="0">
                          <a:solidFill>
                            <a:srgbClr val="1F2937"/>
                          </a:solidFill>
                          <a:latin typeface="Calibri"/>
                        </a:rPr>
                        <a:t>modules orchestrés : routage, mémoire, outils de recherche spécialisés, boucles de vérification</a:t>
                      </a:r>
                    </a:p>
                  </a:txBody>
                  <a:tcPr marL="54864" marR="54864" marT="27432" marB="27432" anchor="ctr">
                    <a:solidFill>
                      <a:srgbClr val="FFFFFF"/>
                    </a:solidFill>
                  </a:tcPr>
                </a:tc>
                <a:tc>
                  <a:txBody>
                    <a:bodyPr wrap="square"/>
                    <a:lstStyle/>
                    <a:p>
                      <a:pPr algn="l">
                        <a:lnSpc>
                          <a:spcPct val="98000"/>
                        </a:lnSpc>
                      </a:pPr>
                      <a:r>
                        <a:rPr sz="1150" b="0" i="0">
                          <a:solidFill>
                            <a:srgbClr val="1F2937"/>
                          </a:solidFill>
                          <a:latin typeface="Calibri"/>
                        </a:rPr>
                        <a:t>Conducteur (routage chat/retrieve), planificateur de matrices, registre symbolique, probes de pages, vérificateur + juge — chaque module derrière son propre commutateur</a:t>
                      </a:r>
                    </a:p>
                  </a:txBody>
                  <a:tcPr marL="54864" marR="54864" marT="27432" marB="27432" anchor="ctr">
                    <a:solidFill>
                      <a:srgbClr val="FFFFFF"/>
                    </a:solidFill>
                  </a:tcPr>
                </a:tc>
              </a:tr>
            </a:tbl>
          </a:graphicData>
        </a:graphic>
      </p:graphicFrame>
      <p:sp>
        <p:nvSpPr>
          <p:cNvPr id="7" name="TextBox 6"/>
          <p:cNvSpPr txBox="1"/>
          <p:nvPr/>
        </p:nvSpPr>
        <p:spPr>
          <a:xfrm>
            <a:off x="548640" y="5074920"/>
            <a:ext cx="11091672" cy="548640"/>
          </a:xfrm>
          <a:prstGeom prst="rect">
            <a:avLst/>
          </a:prstGeom>
          <a:noFill/>
        </p:spPr>
        <p:txBody>
          <a:bodyPr wrap="square">
            <a:spAutoFit/>
          </a:bodyPr>
          <a:lstStyle/>
          <a:p>
            <a:r>
              <a:rPr sz="1150" b="0" i="1">
                <a:solidFill>
                  <a:srgbClr val="6B7280"/>
                </a:solidFill>
                <a:latin typeface="Calibri"/>
              </a:rPr>
              <a:t>Le même découpage 1000/200 survit du prototype à la plateforme — tout le reste a été remplacé par des composants mesurés.</a:t>
            </a:r>
          </a:p>
        </p:txBody>
      </p:sp>
      <p:sp>
        <p:nvSpPr>
          <p:cNvPr id="8" name="Rounded Rectangle 7"/>
          <p:cNvSpPr/>
          <p:nvPr/>
        </p:nvSpPr>
        <p:spPr>
          <a:xfrm>
            <a:off x="548640" y="580644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Gao et al. 2023 (survey RAG) — la trajectoire du projet recoupe exactement la taxonomie : le prototype naïf de 2024 est devenu, mesure après mesure, un système modulaire.</a:t>
            </a:r>
          </a:p>
        </p:txBody>
      </p:sp>
      <p:sp>
        <p:nvSpPr>
          <p:cNvPr id="9" name="TextBox 8"/>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10" name="TextBox 9"/>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 · FONDEMENTS</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Les niveaux de requêtes L1–L4 — le cadre adopté</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271016"/>
          <a:ext cx="11091671" cy="1828800"/>
        </p:xfrm>
        <a:graphic>
          <a:graphicData uri="http://schemas.openxmlformats.org/drawingml/2006/table">
            <a:tbl>
              <a:tblPr>
                <a:tableStyleId>{5C22544A-7EE6-4342-B048-85BDC9FD1C3A}</a:tableStyleId>
              </a:tblPr>
              <a:tblGrid>
                <a:gridCol w="2016667"/>
                <a:gridCol w="2750001"/>
                <a:gridCol w="6325003"/>
              </a:tblGrid>
              <a:tr h="365760">
                <a:tc>
                  <a:txBody>
                    <a:bodyPr wrap="square"/>
                    <a:lstStyle/>
                    <a:p>
                      <a:pPr>
                        <a:lnSpc>
                          <a:spcPct val="98000"/>
                        </a:lnSpc>
                      </a:pPr>
                      <a:r>
                        <a:rPr sz="1100" b="1" i="0">
                          <a:solidFill>
                            <a:srgbClr val="FFFFFF"/>
                          </a:solidFill>
                          <a:latin typeface="Calibri"/>
                        </a:rPr>
                        <a:t>Niveau (Zhao et al. 2024)</a:t>
                      </a:r>
                    </a:p>
                  </a:txBody>
                  <a:tcPr marL="54864" marR="54864" marT="27432" marB="27432" anchor="ctr">
                    <a:solidFill>
                      <a:srgbClr val="166534"/>
                    </a:solidFill>
                  </a:tcPr>
                </a:tc>
                <a:tc>
                  <a:txBody>
                    <a:bodyPr wrap="square"/>
                    <a:lstStyle/>
                    <a:p>
                      <a:pPr algn="l">
                        <a:lnSpc>
                          <a:spcPct val="98000"/>
                        </a:lnSpc>
                      </a:pPr>
                      <a:r>
                        <a:rPr sz="1100" b="1" i="0">
                          <a:solidFill>
                            <a:srgbClr val="FFFFFF"/>
                          </a:solidFill>
                          <a:latin typeface="Calibri"/>
                        </a:rPr>
                        <a:t>Définition</a:t>
                      </a:r>
                    </a:p>
                  </a:txBody>
                  <a:tcPr marL="54864" marR="54864" marT="27432" marB="27432" anchor="ctr">
                    <a:solidFill>
                      <a:srgbClr val="166534"/>
                    </a:solidFill>
                  </a:tcPr>
                </a:tc>
                <a:tc>
                  <a:txBody>
                    <a:bodyPr wrap="square"/>
                    <a:lstStyle/>
                    <a:p>
                      <a:pPr algn="l">
                        <a:lnSpc>
                          <a:spcPct val="98000"/>
                        </a:lnSpc>
                      </a:pPr>
                      <a:r>
                        <a:rPr sz="1100" b="1" i="0">
                          <a:solidFill>
                            <a:srgbClr val="FFFFFF"/>
                          </a:solidFill>
                          <a:latin typeface="Calibri"/>
                        </a:rPr>
                        <a:t>Position de la plateforme (auto-évaluée, puis auditée)</a:t>
                      </a:r>
                    </a:p>
                  </a:txBody>
                  <a:tcPr marL="54864" marR="54864" marT="27432" marB="27432" anchor="ctr">
                    <a:solidFill>
                      <a:srgbClr val="166534"/>
                    </a:solidFill>
                  </a:tcPr>
                </a:tc>
              </a:tr>
              <a:tr h="365760">
                <a:tc>
                  <a:txBody>
                    <a:bodyPr wrap="square"/>
                    <a:lstStyle/>
                    <a:p>
                      <a:pPr>
                        <a:lnSpc>
                          <a:spcPct val="98000"/>
                        </a:lnSpc>
                      </a:pPr>
                      <a:r>
                        <a:rPr sz="1100" b="0" i="0">
                          <a:solidFill>
                            <a:srgbClr val="1F2937"/>
                          </a:solidFill>
                          <a:latin typeface="Calibri"/>
                        </a:rPr>
                        <a:t>L1 · faits explicites</a:t>
                      </a:r>
                    </a:p>
                  </a:txBody>
                  <a:tcPr marL="54864" marR="54864" marT="27432" marB="27432" anchor="ctr">
                    <a:solidFill>
                      <a:srgbClr val="FFFFFF"/>
                    </a:solidFill>
                  </a:tcPr>
                </a:tc>
                <a:tc>
                  <a:txBody>
                    <a:bodyPr wrap="square"/>
                    <a:lstStyle/>
                    <a:p>
                      <a:pPr algn="l">
                        <a:lnSpc>
                          <a:spcPct val="98000"/>
                        </a:lnSpc>
                      </a:pPr>
                      <a:r>
                        <a:rPr sz="1100" b="0" i="0">
                          <a:solidFill>
                            <a:srgbClr val="1F2937"/>
                          </a:solidFill>
                          <a:latin typeface="Calibri"/>
                        </a:rPr>
                        <a:t>la réponse est écrite quelque part dans le corpus</a:t>
                      </a:r>
                    </a:p>
                  </a:txBody>
                  <a:tcPr marL="54864" marR="54864" marT="27432" marB="27432" anchor="ctr">
                    <a:solidFill>
                      <a:srgbClr val="FFFFFF"/>
                    </a:solidFill>
                  </a:tcPr>
                </a:tc>
                <a:tc>
                  <a:txBody>
                    <a:bodyPr wrap="square"/>
                    <a:lstStyle/>
                    <a:p>
                      <a:pPr algn="l">
                        <a:lnSpc>
                          <a:spcPct val="98000"/>
                        </a:lnSpc>
                      </a:pPr>
                      <a:r>
                        <a:rPr sz="1100" b="0" i="0">
                          <a:solidFill>
                            <a:srgbClr val="1F2937"/>
                          </a:solidFill>
                          <a:latin typeface="Calibri"/>
                        </a:rPr>
                        <a:t>COUVERT : hybride sur 178 456 chunks + registre avec provenance + vérification par claim ; 1 195 paires (document, champ) servables à l'arité 1</a:t>
                      </a:r>
                    </a:p>
                  </a:txBody>
                  <a:tcPr marL="54864" marR="54864" marT="27432" marB="27432" anchor="ctr">
                    <a:solidFill>
                      <a:srgbClr val="FFFFFF"/>
                    </a:solidFill>
                  </a:tcPr>
                </a:tc>
              </a:tr>
              <a:tr h="365760">
                <a:tc>
                  <a:txBody>
                    <a:bodyPr wrap="square"/>
                    <a:lstStyle/>
                    <a:p>
                      <a:pPr>
                        <a:lnSpc>
                          <a:spcPct val="98000"/>
                        </a:lnSpc>
                      </a:pPr>
                      <a:r>
                        <a:rPr sz="1100" b="0" i="0">
                          <a:solidFill>
                            <a:srgbClr val="1F2937"/>
                          </a:solidFill>
                          <a:latin typeface="Calibri"/>
                        </a:rPr>
                        <a:t>L2 · faits implicites</a:t>
                      </a:r>
                    </a:p>
                  </a:txBody>
                  <a:tcPr marL="54864" marR="54864" marT="27432" marB="27432" anchor="ctr">
                    <a:solidFill>
                      <a:srgbClr val="F5F5F4"/>
                    </a:solidFill>
                  </a:tcPr>
                </a:tc>
                <a:tc>
                  <a:txBody>
                    <a:bodyPr wrap="square"/>
                    <a:lstStyle/>
                    <a:p>
                      <a:pPr algn="l">
                        <a:lnSpc>
                          <a:spcPct val="98000"/>
                        </a:lnSpc>
                      </a:pPr>
                      <a:r>
                        <a:rPr sz="1100" b="0" i="0">
                          <a:solidFill>
                            <a:srgbClr val="1F2937"/>
                          </a:solidFill>
                          <a:latin typeface="Calibri"/>
                        </a:rPr>
                        <a:t>il faut combiner plusieurs passages / documents</a:t>
                      </a:r>
                    </a:p>
                  </a:txBody>
                  <a:tcPr marL="54864" marR="54864" marT="27432" marB="27432" anchor="ctr">
                    <a:solidFill>
                      <a:srgbClr val="F5F5F4"/>
                    </a:solidFill>
                  </a:tcPr>
                </a:tc>
                <a:tc>
                  <a:txBody>
                    <a:bodyPr wrap="square"/>
                    <a:lstStyle/>
                    <a:p>
                      <a:pPr algn="l">
                        <a:lnSpc>
                          <a:spcPct val="98000"/>
                        </a:lnSpc>
                      </a:pPr>
                      <a:r>
                        <a:rPr sz="1100" b="0" i="0">
                          <a:solidFill>
                            <a:srgbClr val="1F2937"/>
                          </a:solidFill>
                          <a:latin typeface="Calibri"/>
                        </a:rPr>
                        <a:t>COUVERT : décomposition avec quotas par document, matrices document×champ, index inverses (pays, entité, conseil), agrégats calculés — jamais échantillonnés</a:t>
                      </a:r>
                    </a:p>
                  </a:txBody>
                  <a:tcPr marL="54864" marR="54864" marT="27432" marB="27432" anchor="ctr">
                    <a:solidFill>
                      <a:srgbClr val="F5F5F4"/>
                    </a:solidFill>
                  </a:tcPr>
                </a:tc>
              </a:tr>
              <a:tr h="365760">
                <a:tc>
                  <a:txBody>
                    <a:bodyPr wrap="square"/>
                    <a:lstStyle/>
                    <a:p>
                      <a:pPr>
                        <a:lnSpc>
                          <a:spcPct val="98000"/>
                        </a:lnSpc>
                      </a:pPr>
                      <a:r>
                        <a:rPr sz="1100" b="0" i="0">
                          <a:solidFill>
                            <a:srgbClr val="1F2937"/>
                          </a:solidFill>
                          <a:latin typeface="Calibri"/>
                        </a:rPr>
                        <a:t>L3 · rationales interprétables</a:t>
                      </a:r>
                    </a:p>
                  </a:txBody>
                  <a:tcPr marL="54864" marR="54864" marT="27432" marB="27432" anchor="ctr">
                    <a:solidFill>
                      <a:srgbClr val="FFFFFF"/>
                    </a:solidFill>
                  </a:tcPr>
                </a:tc>
                <a:tc>
                  <a:txBody>
                    <a:bodyPr wrap="square"/>
                    <a:lstStyle/>
                    <a:p>
                      <a:pPr algn="l">
                        <a:lnSpc>
                          <a:spcPct val="98000"/>
                        </a:lnSpc>
                      </a:pPr>
                      <a:r>
                        <a:rPr sz="1100" b="0" i="0">
                          <a:solidFill>
                            <a:srgbClr val="1F2937"/>
                          </a:solidFill>
                          <a:latin typeface="Calibri"/>
                        </a:rPr>
                        <a:t>appliquer des règles/procédures documentées</a:t>
                      </a:r>
                    </a:p>
                  </a:txBody>
                  <a:tcPr marL="54864" marR="54864" marT="27432" marB="27432" anchor="ctr">
                    <a:solidFill>
                      <a:srgbClr val="FFFFFF"/>
                    </a:solidFill>
                  </a:tcPr>
                </a:tc>
                <a:tc>
                  <a:txBody>
                    <a:bodyPr wrap="square"/>
                    <a:lstStyle/>
                    <a:p>
                      <a:pPr algn="l">
                        <a:lnSpc>
                          <a:spcPct val="98000"/>
                        </a:lnSpc>
                      </a:pPr>
                      <a:r>
                        <a:rPr sz="1100" b="0" i="0">
                          <a:solidFill>
                            <a:srgbClr val="1F2937"/>
                          </a:solidFill>
                          <a:latin typeface="Calibri"/>
                        </a:rPr>
                        <a:t>PARTIEL : classe « procédure » mesurée (59/59 claims) ; ingestion du segment politiques GCF planifiée (phase 5a)</a:t>
                      </a:r>
                    </a:p>
                  </a:txBody>
                  <a:tcPr marL="54864" marR="54864" marT="27432" marB="27432" anchor="ctr">
                    <a:solidFill>
                      <a:srgbClr val="FFFFFF"/>
                    </a:solidFill>
                  </a:tcPr>
                </a:tc>
              </a:tr>
              <a:tr h="365760">
                <a:tc>
                  <a:txBody>
                    <a:bodyPr wrap="square"/>
                    <a:lstStyle/>
                    <a:p>
                      <a:pPr>
                        <a:lnSpc>
                          <a:spcPct val="98000"/>
                        </a:lnSpc>
                      </a:pPr>
                      <a:r>
                        <a:rPr sz="1100" b="0" i="0">
                          <a:solidFill>
                            <a:srgbClr val="1F2937"/>
                          </a:solidFill>
                          <a:latin typeface="Calibri"/>
                        </a:rPr>
                        <a:t>L4 · rationales cachées</a:t>
                      </a:r>
                    </a:p>
                  </a:txBody>
                  <a:tcPr marL="54864" marR="54864" marT="27432" marB="27432" anchor="ctr">
                    <a:solidFill>
                      <a:srgbClr val="F5F5F4"/>
                    </a:solidFill>
                  </a:tcPr>
                </a:tc>
                <a:tc>
                  <a:txBody>
                    <a:bodyPr wrap="square"/>
                    <a:lstStyle/>
                    <a:p>
                      <a:pPr algn="l">
                        <a:lnSpc>
                          <a:spcPct val="98000"/>
                        </a:lnSpc>
                      </a:pPr>
                      <a:r>
                        <a:rPr sz="1100" b="0" i="0">
                          <a:solidFill>
                            <a:srgbClr val="1F2937"/>
                          </a:solidFill>
                          <a:latin typeface="Calibri"/>
                        </a:rPr>
                        <a:t>raisonnement expert non écrit dans le corpus</a:t>
                      </a:r>
                    </a:p>
                  </a:txBody>
                  <a:tcPr marL="54864" marR="54864" marT="27432" marB="27432" anchor="ctr">
                    <a:solidFill>
                      <a:srgbClr val="F5F5F4"/>
                    </a:solidFill>
                  </a:tcPr>
                </a:tc>
                <a:tc>
                  <a:txBody>
                    <a:bodyPr wrap="square"/>
                    <a:lstStyle/>
                    <a:p>
                      <a:pPr algn="l">
                        <a:lnSpc>
                          <a:spcPct val="98000"/>
                        </a:lnSpc>
                      </a:pPr>
                      <a:r>
                        <a:rPr sz="1100" b="0" i="0">
                          <a:solidFill>
                            <a:srgbClr val="1F2937"/>
                          </a:solidFill>
                          <a:latin typeface="Calibri"/>
                        </a:rPr>
                        <a:t>HORS PÉRIMÈTRE — assumé et documenté plutôt que simulé</a:t>
                      </a:r>
                    </a:p>
                  </a:txBody>
                  <a:tcPr marL="54864" marR="54864" marT="27432" marB="27432" anchor="ctr">
                    <a:solidFill>
                      <a:srgbClr val="F5F5F4"/>
                    </a:solidFill>
                  </a:tcPr>
                </a:tc>
              </a:tr>
            </a:tbl>
          </a:graphicData>
        </a:graphic>
      </p:graphicFrame>
      <p:sp>
        <p:nvSpPr>
          <p:cNvPr id="7" name="Rounded Rectangle 6"/>
          <p:cNvSpPr/>
          <p:nvPr/>
        </p:nvSpPr>
        <p:spPr>
          <a:xfrm>
            <a:off x="548640" y="580644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Zhao et al. 2024 (arXiv:2409.14924) — le repo cartographie explicitement ses mécanismes sur cette grille ; l'audit de couverture a ensuite vérifié que « couvert » avait un dénominateur.</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51560"/>
            <a:ext cx="2377440" cy="1463040"/>
          </a:xfrm>
          <a:prstGeom prst="rect">
            <a:avLst/>
          </a:prstGeom>
          <a:noFill/>
        </p:spPr>
        <p:txBody>
          <a:bodyPr wrap="square">
            <a:spAutoFit/>
          </a:bodyPr>
          <a:lstStyle/>
          <a:p>
            <a:r>
              <a:rPr sz="8800" b="1" i="0">
                <a:solidFill>
                  <a:srgbClr val="16A34A"/>
                </a:solidFill>
                <a:latin typeface="Calibri"/>
              </a:rPr>
              <a:t>II</a:t>
            </a:r>
          </a:p>
        </p:txBody>
      </p:sp>
      <p:sp>
        <p:nvSpPr>
          <p:cNvPr id="4" name="TextBox 3"/>
          <p:cNvSpPr txBox="1"/>
          <p:nvPr/>
        </p:nvSpPr>
        <p:spPr>
          <a:xfrm>
            <a:off x="548640" y="2606040"/>
            <a:ext cx="10515600" cy="914400"/>
          </a:xfrm>
          <a:prstGeom prst="rect">
            <a:avLst/>
          </a:prstGeom>
          <a:noFill/>
        </p:spPr>
        <p:txBody>
          <a:bodyPr wrap="square">
            <a:spAutoFit/>
          </a:bodyPr>
          <a:lstStyle/>
          <a:p>
            <a:r>
              <a:rPr sz="3400" b="1" i="0">
                <a:solidFill>
                  <a:srgbClr val="FFFFFF"/>
                </a:solidFill>
                <a:latin typeface="Calibri"/>
              </a:rPr>
              <a:t>La plateforme — de la page PDF à la réponse citée</a:t>
            </a:r>
          </a:p>
        </p:txBody>
      </p:sp>
      <p:sp>
        <p:nvSpPr>
          <p:cNvPr id="5" name="Rectangle 4"/>
          <p:cNvSpPr/>
          <p:nvPr/>
        </p:nvSpPr>
        <p:spPr>
          <a:xfrm>
            <a:off x="548640" y="3429000"/>
            <a:ext cx="2011680" cy="381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794760"/>
            <a:ext cx="10515600" cy="2194560"/>
          </a:xfrm>
          <a:prstGeom prst="rect">
            <a:avLst/>
          </a:prstGeom>
          <a:noFill/>
        </p:spPr>
        <p:txBody>
          <a:bodyPr wrap="square">
            <a:spAutoFit/>
          </a:bodyPr>
          <a:lstStyle/>
          <a:p>
            <a:pPr>
              <a:spcAft>
                <a:spcPts val="800"/>
              </a:spcAft>
            </a:pPr>
            <a:r>
              <a:rPr sz="1500" b="1" i="0">
                <a:solidFill>
                  <a:srgbClr val="16A34A"/>
                </a:solidFill>
                <a:latin typeface="Calibri"/>
              </a:rPr>
              <a:t>—  </a:t>
            </a:r>
            <a:r>
              <a:rPr sz="1500" b="0" i="0">
                <a:solidFill>
                  <a:srgbClr val="D1FAE5"/>
                </a:solidFill>
                <a:latin typeface="Calibri"/>
              </a:rPr>
              <a:t>Pipeline hors ligne : extraction VLM → ancrage → chunking → index hybride + registre</a:t>
            </a:r>
          </a:p>
          <a:p>
            <a:pPr>
              <a:spcAft>
                <a:spcPts val="800"/>
              </a:spcAft>
            </a:pPr>
            <a:r>
              <a:rPr sz="1500" b="1" i="0">
                <a:solidFill>
                  <a:srgbClr val="16A34A"/>
                </a:solidFill>
                <a:latin typeface="Calibri"/>
              </a:rPr>
              <a:t>—  </a:t>
            </a:r>
            <a:r>
              <a:rPr sz="1500" b="0" i="0">
                <a:solidFill>
                  <a:srgbClr val="D1FAE5"/>
                </a:solidFill>
                <a:latin typeface="Calibri"/>
              </a:rPr>
              <a:t>Pipeline en ligne : conducteur → récupération → notes → génération → vérification</a:t>
            </a:r>
          </a:p>
          <a:p>
            <a:pPr>
              <a:spcAft>
                <a:spcPts val="800"/>
              </a:spcAft>
            </a:pPr>
            <a:r>
              <a:rPr sz="1500" b="1" i="0">
                <a:solidFill>
                  <a:srgbClr val="16A34A"/>
                </a:solidFill>
                <a:latin typeface="Calibri"/>
              </a:rPr>
              <a:t>—  </a:t>
            </a:r>
            <a:r>
              <a:rPr sz="1500" b="0" i="0">
                <a:solidFill>
                  <a:srgbClr val="D1FAE5"/>
                </a:solidFill>
                <a:latin typeface="Calibri"/>
              </a:rPr>
              <a:t>Chaque composant : sa mesure, son commutateur, sa dégradation gracieuse</a:t>
            </a:r>
          </a:p>
        </p:txBody>
      </p:sp>
      <p:sp>
        <p:nvSpPr>
          <p:cNvPr id="7" name="TextBox 6"/>
          <p:cNvSpPr txBox="1"/>
          <p:nvPr/>
        </p:nvSpPr>
        <p:spPr>
          <a:xfrm>
            <a:off x="548640" y="6510528"/>
            <a:ext cx="7315200" cy="274320"/>
          </a:xfrm>
          <a:prstGeom prst="rect">
            <a:avLst/>
          </a:prstGeom>
          <a:noFill/>
        </p:spPr>
        <p:txBody>
          <a:bodyPr wrap="square">
            <a:spAutoFit/>
          </a:bodyPr>
          <a:lstStyle/>
          <a:p>
            <a:r>
              <a:rPr sz="900" b="0" i="0">
                <a:solidFill>
                  <a:srgbClr val="A7C4AF"/>
                </a:solidFill>
                <a:latin typeface="Calibri"/>
              </a:rPr>
              <a:t>SSA CHATBOT — plateforme RAG · propositions de financement GCF</a:t>
            </a:r>
          </a:p>
        </p:txBody>
      </p:sp>
      <p:sp>
        <p:nvSpPr>
          <p:cNvPr id="8" name="TextBox 7"/>
          <p:cNvSpPr txBox="1"/>
          <p:nvPr/>
        </p:nvSpPr>
        <p:spPr>
          <a:xfrm>
            <a:off x="11292840" y="6510528"/>
            <a:ext cx="640080" cy="274320"/>
          </a:xfrm>
          <a:prstGeom prst="rect">
            <a:avLst/>
          </a:prstGeom>
          <a:noFill/>
        </p:spPr>
        <p:txBody>
          <a:bodyPr wrap="square">
            <a:spAutoFit/>
          </a:bodyPr>
          <a:lstStyle/>
          <a:p>
            <a:pPr algn="r"/>
            <a:r>
              <a:rPr sz="900" b="0" i="0">
                <a:solidFill>
                  <a:srgbClr val="A7C4AF"/>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 · LA PLATEFORME</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Architecture d'ensemble</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07008"/>
            <a:ext cx="2743200" cy="274320"/>
          </a:xfrm>
          <a:prstGeom prst="rect">
            <a:avLst/>
          </a:prstGeom>
          <a:noFill/>
        </p:spPr>
        <p:txBody>
          <a:bodyPr wrap="square">
            <a:spAutoFit/>
          </a:bodyPr>
          <a:lstStyle/>
          <a:p>
            <a:r>
              <a:rPr sz="1100" b="1" i="0">
                <a:solidFill>
                  <a:srgbClr val="0F766E"/>
                </a:solidFill>
                <a:latin typeface="Calibri"/>
              </a:rPr>
              <a:t>HORS LIGNE — ingestion du corpus</a:t>
            </a:r>
          </a:p>
        </p:txBody>
      </p:sp>
      <p:sp>
        <p:nvSpPr>
          <p:cNvPr id="7" name="Rounded Rectangle 6"/>
          <p:cNvSpPr/>
          <p:nvPr/>
        </p:nvSpPr>
        <p:spPr>
          <a:xfrm>
            <a:off x="548640" y="1499616"/>
            <a:ext cx="1680972" cy="777240"/>
          </a:xfrm>
          <a:prstGeom prst="roundRect">
            <a:avLst>
              <a:gd name="adj" fmla="val 10000"/>
            </a:avLst>
          </a:prstGeom>
          <a:solidFill>
            <a:srgbClr val="F0FDF4"/>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1000" b="0" i="0">
                <a:solidFill>
                  <a:srgbClr val="14532D"/>
                </a:solidFill>
                <a:latin typeface="Calibri"/>
              </a:rPr>
              <a:t>273 PDFs GCF_x000B_(41 550 pages)</a:t>
            </a:r>
          </a:p>
        </p:txBody>
      </p:sp>
      <p:sp>
        <p:nvSpPr>
          <p:cNvPr id="8" name="Right Arrow 7"/>
          <p:cNvSpPr/>
          <p:nvPr/>
        </p:nvSpPr>
        <p:spPr>
          <a:xfrm>
            <a:off x="2229612" y="1819656"/>
            <a:ext cx="201168" cy="13716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430780" y="1499616"/>
            <a:ext cx="1680972" cy="777240"/>
          </a:xfrm>
          <a:prstGeom prst="roundRect">
            <a:avLst>
              <a:gd name="adj" fmla="val 10000"/>
            </a:avLst>
          </a:prstGeom>
          <a:solidFill>
            <a:srgbClr val="F0FDF4"/>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1000" b="0" i="0">
                <a:solidFill>
                  <a:srgbClr val="14532D"/>
                </a:solidFill>
                <a:latin typeface="Calibri"/>
              </a:rPr>
              <a:t>Rendu 2,0 MP_x000B_+ cache JPEG</a:t>
            </a:r>
          </a:p>
        </p:txBody>
      </p:sp>
      <p:sp>
        <p:nvSpPr>
          <p:cNvPr id="10" name="Right Arrow 9"/>
          <p:cNvSpPr/>
          <p:nvPr/>
        </p:nvSpPr>
        <p:spPr>
          <a:xfrm>
            <a:off x="4111752" y="1819656"/>
            <a:ext cx="201168" cy="13716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12920" y="1499616"/>
            <a:ext cx="1680972" cy="777240"/>
          </a:xfrm>
          <a:prstGeom prst="roundRect">
            <a:avLst>
              <a:gd name="adj" fmla="val 10000"/>
            </a:avLst>
          </a:prstGeom>
          <a:solidFill>
            <a:srgbClr val="F0FDF4"/>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1000" b="0" i="0">
                <a:solidFill>
                  <a:srgbClr val="14532D"/>
                </a:solidFill>
                <a:latin typeface="Calibri"/>
              </a:rPr>
              <a:t>VLM local Qwen-VL_x000B_(LM Studio)</a:t>
            </a:r>
          </a:p>
        </p:txBody>
      </p:sp>
      <p:sp>
        <p:nvSpPr>
          <p:cNvPr id="12" name="Right Arrow 11"/>
          <p:cNvSpPr/>
          <p:nvPr/>
        </p:nvSpPr>
        <p:spPr>
          <a:xfrm>
            <a:off x="5993892" y="1819656"/>
            <a:ext cx="201168" cy="13716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95060" y="1499616"/>
            <a:ext cx="1680972" cy="777240"/>
          </a:xfrm>
          <a:prstGeom prst="roundRect">
            <a:avLst>
              <a:gd name="adj" fmla="val 10000"/>
            </a:avLst>
          </a:prstGeom>
          <a:solidFill>
            <a:srgbClr val="F0FDF4"/>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1000" b="0" i="0">
                <a:solidFill>
                  <a:srgbClr val="14532D"/>
                </a:solidFill>
                <a:latin typeface="Calibri"/>
              </a:rPr>
              <a:t>Markdown / page_x000B_+ géométrie (boxes)</a:t>
            </a:r>
          </a:p>
        </p:txBody>
      </p:sp>
      <p:sp>
        <p:nvSpPr>
          <p:cNvPr id="14" name="Right Arrow 13"/>
          <p:cNvSpPr/>
          <p:nvPr/>
        </p:nvSpPr>
        <p:spPr>
          <a:xfrm>
            <a:off x="7876032" y="1819656"/>
            <a:ext cx="201168" cy="13716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77200" y="1499616"/>
            <a:ext cx="1680972" cy="777240"/>
          </a:xfrm>
          <a:prstGeom prst="roundRect">
            <a:avLst>
              <a:gd name="adj" fmla="val 10000"/>
            </a:avLst>
          </a:prstGeom>
          <a:solidFill>
            <a:srgbClr val="F0FDF4"/>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1000" b="0" i="0">
                <a:solidFill>
                  <a:srgbClr val="14532D"/>
                </a:solidFill>
                <a:latin typeface="Calibri"/>
              </a:rPr>
              <a:t>Chunks sectionnés_x000B_(1000 / 200)</a:t>
            </a:r>
          </a:p>
        </p:txBody>
      </p:sp>
      <p:sp>
        <p:nvSpPr>
          <p:cNvPr id="16" name="Right Arrow 15"/>
          <p:cNvSpPr/>
          <p:nvPr/>
        </p:nvSpPr>
        <p:spPr>
          <a:xfrm>
            <a:off x="9758172" y="1819656"/>
            <a:ext cx="201168" cy="13716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59340" y="1499616"/>
            <a:ext cx="1680972" cy="777240"/>
          </a:xfrm>
          <a:prstGeom prst="roundRect">
            <a:avLst>
              <a:gd name="adj" fmla="val 10000"/>
            </a:avLst>
          </a:prstGeom>
          <a:solidFill>
            <a:srgbClr val="F0FDF4"/>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1000" b="0" i="0">
                <a:solidFill>
                  <a:srgbClr val="14532D"/>
                </a:solidFill>
                <a:latin typeface="Calibri"/>
              </a:rPr>
              <a:t>FAISS + BM25_x000B_+ Registre v2</a:t>
            </a:r>
          </a:p>
        </p:txBody>
      </p:sp>
      <p:sp>
        <p:nvSpPr>
          <p:cNvPr id="18" name="TextBox 17"/>
          <p:cNvSpPr txBox="1"/>
          <p:nvPr/>
        </p:nvSpPr>
        <p:spPr>
          <a:xfrm>
            <a:off x="548640" y="2523744"/>
            <a:ext cx="3108960" cy="274320"/>
          </a:xfrm>
          <a:prstGeom prst="rect">
            <a:avLst/>
          </a:prstGeom>
          <a:noFill/>
        </p:spPr>
        <p:txBody>
          <a:bodyPr wrap="square">
            <a:spAutoFit/>
          </a:bodyPr>
          <a:lstStyle/>
          <a:p>
            <a:r>
              <a:rPr sz="1100" b="1" i="0">
                <a:solidFill>
                  <a:srgbClr val="0F766E"/>
                </a:solidFill>
                <a:latin typeface="Calibri"/>
              </a:rPr>
              <a:t>EN LIGNE — un tour de conversation</a:t>
            </a:r>
          </a:p>
        </p:txBody>
      </p:sp>
      <p:sp>
        <p:nvSpPr>
          <p:cNvPr id="19" name="Rounded Rectangle 18"/>
          <p:cNvSpPr/>
          <p:nvPr/>
        </p:nvSpPr>
        <p:spPr>
          <a:xfrm>
            <a:off x="548640" y="2798064"/>
            <a:ext cx="1412094" cy="777240"/>
          </a:xfrm>
          <a:prstGeom prst="roundRect">
            <a:avLst>
              <a:gd name="adj" fmla="val 10000"/>
            </a:avLst>
          </a:prstGeom>
          <a:solidFill>
            <a:srgbClr val="ECFDF5"/>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950" b="0" i="0">
                <a:solidFill>
                  <a:srgbClr val="14532D"/>
                </a:solidFill>
                <a:latin typeface="Calibri"/>
              </a:rPr>
              <a:t>Question_x000B_FR / EN</a:t>
            </a:r>
          </a:p>
        </p:txBody>
      </p:sp>
      <p:sp>
        <p:nvSpPr>
          <p:cNvPr id="20" name="Right Arrow 19"/>
          <p:cNvSpPr/>
          <p:nvPr/>
        </p:nvSpPr>
        <p:spPr>
          <a:xfrm>
            <a:off x="1960734" y="3118104"/>
            <a:ext cx="201168" cy="13716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61902" y="2798064"/>
            <a:ext cx="1412094" cy="777240"/>
          </a:xfrm>
          <a:prstGeom prst="roundRect">
            <a:avLst>
              <a:gd name="adj" fmla="val 10000"/>
            </a:avLst>
          </a:prstGeom>
          <a:solidFill>
            <a:srgbClr val="ECFDF5"/>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950" b="0" i="0">
                <a:solidFill>
                  <a:srgbClr val="14532D"/>
                </a:solidFill>
                <a:latin typeface="Calibri"/>
              </a:rPr>
              <a:t>Conducteur /_x000B_Planificateur</a:t>
            </a:r>
          </a:p>
        </p:txBody>
      </p:sp>
      <p:sp>
        <p:nvSpPr>
          <p:cNvPr id="22" name="Right Arrow 21"/>
          <p:cNvSpPr/>
          <p:nvPr/>
        </p:nvSpPr>
        <p:spPr>
          <a:xfrm>
            <a:off x="3573996" y="3118104"/>
            <a:ext cx="201168" cy="13716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775164" y="2798064"/>
            <a:ext cx="1412094" cy="777240"/>
          </a:xfrm>
          <a:prstGeom prst="roundRect">
            <a:avLst>
              <a:gd name="adj" fmla="val 10000"/>
            </a:avLst>
          </a:prstGeom>
          <a:solidFill>
            <a:srgbClr val="ECFDF5"/>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950" b="0" i="0">
                <a:solidFill>
                  <a:srgbClr val="14532D"/>
                </a:solidFill>
                <a:latin typeface="Calibri"/>
              </a:rPr>
              <a:t>Hybride RRF_x000B_+ rerank + quotas</a:t>
            </a:r>
          </a:p>
        </p:txBody>
      </p:sp>
      <p:sp>
        <p:nvSpPr>
          <p:cNvPr id="24" name="Right Arrow 23"/>
          <p:cNvSpPr/>
          <p:nvPr/>
        </p:nvSpPr>
        <p:spPr>
          <a:xfrm>
            <a:off x="5187258" y="3118104"/>
            <a:ext cx="201168" cy="13716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388426" y="2798064"/>
            <a:ext cx="1412094" cy="777240"/>
          </a:xfrm>
          <a:prstGeom prst="roundRect">
            <a:avLst>
              <a:gd name="adj" fmla="val 10000"/>
            </a:avLst>
          </a:prstGeom>
          <a:solidFill>
            <a:srgbClr val="ECFDF5"/>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950" b="0" i="0">
                <a:solidFill>
                  <a:srgbClr val="14532D"/>
                </a:solidFill>
                <a:latin typeface="Calibri"/>
              </a:rPr>
              <a:t>Notes : registre,_x000B_année, couverture</a:t>
            </a:r>
          </a:p>
        </p:txBody>
      </p:sp>
      <p:sp>
        <p:nvSpPr>
          <p:cNvPr id="26" name="Right Arrow 25"/>
          <p:cNvSpPr/>
          <p:nvPr/>
        </p:nvSpPr>
        <p:spPr>
          <a:xfrm>
            <a:off x="6800520" y="3118104"/>
            <a:ext cx="201168" cy="13716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01688" y="2798064"/>
            <a:ext cx="1412094" cy="777240"/>
          </a:xfrm>
          <a:prstGeom prst="roundRect">
            <a:avLst>
              <a:gd name="adj" fmla="val 10000"/>
            </a:avLst>
          </a:prstGeom>
          <a:solidFill>
            <a:srgbClr val="ECFDF5"/>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950" b="0" i="0">
                <a:solidFill>
                  <a:srgbClr val="14532D"/>
                </a:solidFill>
                <a:latin typeface="Calibri"/>
              </a:rPr>
              <a:t>gpt-5.2_x000B_(prompt assemblé)</a:t>
            </a:r>
          </a:p>
        </p:txBody>
      </p:sp>
      <p:sp>
        <p:nvSpPr>
          <p:cNvPr id="28" name="Right Arrow 27"/>
          <p:cNvSpPr/>
          <p:nvPr/>
        </p:nvSpPr>
        <p:spPr>
          <a:xfrm>
            <a:off x="8413782" y="3118104"/>
            <a:ext cx="201168" cy="13716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614950" y="2798064"/>
            <a:ext cx="1412094" cy="777240"/>
          </a:xfrm>
          <a:prstGeom prst="roundRect">
            <a:avLst>
              <a:gd name="adj" fmla="val 10000"/>
            </a:avLst>
          </a:prstGeom>
          <a:solidFill>
            <a:srgbClr val="ECFDF5"/>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950" b="0" i="0">
                <a:solidFill>
                  <a:srgbClr val="14532D"/>
                </a:solidFill>
                <a:latin typeface="Calibri"/>
              </a:rPr>
              <a:t>Vérificateur_x000B_+ juge LLM</a:t>
            </a:r>
          </a:p>
        </p:txBody>
      </p:sp>
      <p:sp>
        <p:nvSpPr>
          <p:cNvPr id="30" name="Right Arrow 29"/>
          <p:cNvSpPr/>
          <p:nvPr/>
        </p:nvSpPr>
        <p:spPr>
          <a:xfrm>
            <a:off x="10027044" y="3118104"/>
            <a:ext cx="201168" cy="13716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228212" y="2798064"/>
            <a:ext cx="1412094" cy="777240"/>
          </a:xfrm>
          <a:prstGeom prst="roundRect">
            <a:avLst>
              <a:gd name="adj" fmla="val 10000"/>
            </a:avLst>
          </a:prstGeom>
          <a:solidFill>
            <a:srgbClr val="ECFDF5"/>
          </a:solidFill>
          <a:ln w="952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lnSpc>
                <a:spcPct val="95000"/>
              </a:lnSpc>
            </a:pPr>
            <a:r>
              <a:rPr sz="950" b="0" i="0">
                <a:solidFill>
                  <a:srgbClr val="14532D"/>
                </a:solidFill>
                <a:latin typeface="Calibri"/>
              </a:rPr>
              <a:t>Chainlit : réponse citée_x000B_+ preuves visuelles</a:t>
            </a:r>
          </a:p>
        </p:txBody>
      </p:sp>
      <p:sp>
        <p:nvSpPr>
          <p:cNvPr id="32" name="Down Arrow 31"/>
          <p:cNvSpPr/>
          <p:nvPr/>
        </p:nvSpPr>
        <p:spPr>
          <a:xfrm>
            <a:off x="10561320" y="2295144"/>
            <a:ext cx="182880" cy="484632"/>
          </a:xfrm>
          <a:prstGeom prst="down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8640" y="3831336"/>
            <a:ext cx="1757172" cy="713232"/>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bIns="18288"/>
          <a:lstStyle/>
          <a:p>
            <a:pPr algn="ctr"/>
            <a:r>
              <a:rPr sz="1500" b="1" i="0">
                <a:solidFill>
                  <a:srgbClr val="14532D"/>
                </a:solidFill>
                <a:latin typeface="Calibri"/>
              </a:rPr>
              <a:t>178 456</a:t>
            </a:r>
          </a:p>
          <a:p>
            <a:pPr algn="ctr"/>
            <a:r>
              <a:rPr sz="900" b="0" i="0">
                <a:solidFill>
                  <a:srgbClr val="6B7280"/>
                </a:solidFill>
                <a:latin typeface="Calibri"/>
              </a:rPr>
              <a:t>chunks (17 196 tableaux)</a:t>
            </a:r>
          </a:p>
        </p:txBody>
      </p:sp>
      <p:sp>
        <p:nvSpPr>
          <p:cNvPr id="34" name="Rounded Rectangle 33"/>
          <p:cNvSpPr/>
          <p:nvPr/>
        </p:nvSpPr>
        <p:spPr>
          <a:xfrm>
            <a:off x="2415540" y="3831336"/>
            <a:ext cx="1757172" cy="713232"/>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bIns="18288"/>
          <a:lstStyle/>
          <a:p>
            <a:pPr algn="ctr"/>
            <a:r>
              <a:rPr sz="1500" b="1" i="0">
                <a:solidFill>
                  <a:srgbClr val="14532D"/>
                </a:solidFill>
                <a:latin typeface="Calibri"/>
              </a:rPr>
              <a:t>65 ms</a:t>
            </a:r>
          </a:p>
          <a:p>
            <a:pPr algn="ctr"/>
            <a:r>
              <a:rPr sz="900" b="0" i="0">
                <a:solidFill>
                  <a:srgbClr val="6B7280"/>
                </a:solidFill>
                <a:latin typeface="Calibri"/>
              </a:rPr>
              <a:t>récupération hybride</a:t>
            </a:r>
          </a:p>
        </p:txBody>
      </p:sp>
      <p:sp>
        <p:nvSpPr>
          <p:cNvPr id="35" name="Rounded Rectangle 34"/>
          <p:cNvSpPr/>
          <p:nvPr/>
        </p:nvSpPr>
        <p:spPr>
          <a:xfrm>
            <a:off x="4282440" y="3831336"/>
            <a:ext cx="1757172" cy="713232"/>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bIns="18288"/>
          <a:lstStyle/>
          <a:p>
            <a:pPr algn="ctr"/>
            <a:r>
              <a:rPr sz="1500" b="1" i="0">
                <a:solidFill>
                  <a:srgbClr val="14532D"/>
                </a:solidFill>
                <a:latin typeface="Calibri"/>
              </a:rPr>
              <a:t>p50 ≈ 3,9 s</a:t>
            </a:r>
          </a:p>
          <a:p>
            <a:pPr algn="ctr"/>
            <a:r>
              <a:rPr sz="900" b="0" i="0">
                <a:solidFill>
                  <a:srgbClr val="6B7280"/>
                </a:solidFill>
                <a:latin typeface="Calibri"/>
              </a:rPr>
              <a:t>réponse complète</a:t>
            </a:r>
          </a:p>
        </p:txBody>
      </p:sp>
      <p:sp>
        <p:nvSpPr>
          <p:cNvPr id="36" name="Rounded Rectangle 35"/>
          <p:cNvSpPr/>
          <p:nvPr/>
        </p:nvSpPr>
        <p:spPr>
          <a:xfrm>
            <a:off x="6149340" y="3831336"/>
            <a:ext cx="1757172" cy="713232"/>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bIns="18288"/>
          <a:lstStyle/>
          <a:p>
            <a:pPr algn="ctr"/>
            <a:r>
              <a:rPr sz="1500" b="1" i="0">
                <a:solidFill>
                  <a:srgbClr val="14532D"/>
                </a:solidFill>
                <a:latin typeface="Calibri"/>
              </a:rPr>
              <a:t>≈ 0,006 $</a:t>
            </a:r>
          </a:p>
          <a:p>
            <a:pPr algn="ctr"/>
            <a:r>
              <a:rPr sz="900" b="0" i="0">
                <a:solidFill>
                  <a:srgbClr val="6B7280"/>
                </a:solidFill>
                <a:latin typeface="Calibri"/>
              </a:rPr>
              <a:t>coût / question</a:t>
            </a:r>
          </a:p>
        </p:txBody>
      </p:sp>
      <p:sp>
        <p:nvSpPr>
          <p:cNvPr id="37" name="Rounded Rectangle 36"/>
          <p:cNvSpPr/>
          <p:nvPr/>
        </p:nvSpPr>
        <p:spPr>
          <a:xfrm>
            <a:off x="8016240" y="3831336"/>
            <a:ext cx="1757172" cy="713232"/>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bIns="18288"/>
          <a:lstStyle/>
          <a:p>
            <a:pPr algn="ctr"/>
            <a:r>
              <a:rPr sz="1500" b="1" i="0">
                <a:solidFill>
                  <a:srgbClr val="14532D"/>
                </a:solidFill>
                <a:latin typeface="Calibri"/>
              </a:rPr>
              <a:t>3 appels max</a:t>
            </a:r>
          </a:p>
          <a:p>
            <a:pPr algn="ctr"/>
            <a:r>
              <a:rPr sz="900" b="0" i="0">
                <a:solidFill>
                  <a:srgbClr val="6B7280"/>
                </a:solidFill>
                <a:latin typeface="Calibri"/>
              </a:rPr>
              <a:t>LLM par tour</a:t>
            </a:r>
          </a:p>
        </p:txBody>
      </p:sp>
      <p:sp>
        <p:nvSpPr>
          <p:cNvPr id="38" name="Rounded Rectangle 37"/>
          <p:cNvSpPr/>
          <p:nvPr/>
        </p:nvSpPr>
        <p:spPr>
          <a:xfrm>
            <a:off x="9883140" y="3831336"/>
            <a:ext cx="1757172" cy="713232"/>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bIns="18288"/>
          <a:lstStyle/>
          <a:p>
            <a:pPr algn="ctr"/>
            <a:r>
              <a:rPr sz="1500" b="1" i="0">
                <a:solidFill>
                  <a:srgbClr val="14532D"/>
                </a:solidFill>
                <a:latin typeface="Calibri"/>
              </a:rPr>
              <a:t>100 %</a:t>
            </a:r>
          </a:p>
          <a:p>
            <a:pPr algn="ctr"/>
            <a:r>
              <a:rPr sz="900" b="0" i="0">
                <a:solidFill>
                  <a:srgbClr val="6B7280"/>
                </a:solidFill>
                <a:latin typeface="Calibri"/>
              </a:rPr>
              <a:t>rejouable par couche</a:t>
            </a:r>
          </a:p>
        </p:txBody>
      </p:sp>
      <p:sp>
        <p:nvSpPr>
          <p:cNvPr id="39" name="TextBox 38"/>
          <p:cNvSpPr txBox="1"/>
          <p:nvPr/>
        </p:nvSpPr>
        <p:spPr>
          <a:xfrm>
            <a:off x="548640" y="4681728"/>
            <a:ext cx="11091672" cy="502920"/>
          </a:xfrm>
          <a:prstGeom prst="rect">
            <a:avLst/>
          </a:prstGeom>
          <a:noFill/>
        </p:spPr>
        <p:txBody>
          <a:bodyPr wrap="square">
            <a:spAutoFit/>
          </a:bodyPr>
          <a:lstStyle/>
          <a:p>
            <a:r>
              <a:rPr sz="1100" b="0" i="1">
                <a:solidFill>
                  <a:srgbClr val="6B7280"/>
                </a:solidFill>
                <a:latin typeface="Calibri"/>
              </a:rPr>
              <a:t>Un seul point de vérité par constante (config.py) · chaque couche derrière un commutateur d'environnement (HYBRID, RERANK, PLANNER, VERIFY…) · chaque enrichissement dégrade sans jamais bloquer la réponse.</a:t>
            </a:r>
          </a:p>
        </p:txBody>
      </p:sp>
      <p:sp>
        <p:nvSpPr>
          <p:cNvPr id="40" name="TextBox 39"/>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41" name="TextBox 40"/>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 · LA PLATEFORME</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Corpus et acquisition</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40480"/>
          </a:xfrm>
          <a:prstGeom prst="rect">
            <a:avLst/>
          </a:prstGeom>
          <a:noFill/>
        </p:spPr>
        <p:txBody>
          <a:bodyPr wrap="square">
            <a:spAutoFit/>
          </a:bodyPr>
          <a:lstStyle/>
          <a:p>
            <a:pPr>
              <a:lnSpc>
                <a:spcPct val="102000"/>
              </a:lnSpc>
              <a:spcAft>
                <a:spcPts val="600"/>
              </a:spcAft>
            </a:pPr>
            <a:r>
              <a:rPr sz="1450" b="1" i="0">
                <a:solidFill>
                  <a:srgbClr val="16A34A"/>
                </a:solidFill>
                <a:latin typeface="Calibri"/>
              </a:rPr>
              <a:t>▪  </a:t>
            </a:r>
            <a:r>
              <a:rPr sz="1450" b="1" i="0">
                <a:solidFill>
                  <a:srgbClr val="1F2937"/>
                </a:solidFill>
                <a:latin typeface="Calibri"/>
              </a:rPr>
              <a:t>Acquisition</a:t>
            </a:r>
            <a:r>
              <a:rPr sz="1450" b="0" i="0">
                <a:solidFill>
                  <a:srgbClr val="1F2937"/>
                </a:solidFill>
                <a:latin typeface="Calibri"/>
              </a:rPr>
              <a:t> : scraping du portail GCF (notebooks dédiés) → CSVs de suivi + téléchargement des paquets de propositions ; les PDFs sont l'</a:t>
            </a:r>
            <a:r>
              <a:rPr sz="1450" b="1" i="0">
                <a:solidFill>
                  <a:srgbClr val="1F2937"/>
                </a:solidFill>
                <a:latin typeface="Calibri"/>
              </a:rPr>
              <a:t>entrée irremplaçable</a:t>
            </a:r>
            <a:r>
              <a:rPr sz="1450" b="0" i="0">
                <a:solidFill>
                  <a:srgbClr val="1F2937"/>
                </a:solidFill>
                <a:latin typeface="Calibri"/>
              </a:rPr>
              <a:t> du contrat de données</a:t>
            </a:r>
          </a:p>
          <a:p>
            <a:pPr>
              <a:lnSpc>
                <a:spcPct val="102000"/>
              </a:lnSpc>
              <a:spcAft>
                <a:spcPts val="600"/>
              </a:spcAft>
            </a:pPr>
            <a:r>
              <a:rPr sz="1450" b="1" i="0">
                <a:solidFill>
                  <a:srgbClr val="16A34A"/>
                </a:solidFill>
                <a:latin typeface="Calibri"/>
              </a:rPr>
              <a:t>▪  </a:t>
            </a:r>
            <a:r>
              <a:rPr sz="1450" b="1" i="0">
                <a:solidFill>
                  <a:srgbClr val="1F2937"/>
                </a:solidFill>
                <a:latin typeface="Calibri"/>
              </a:rPr>
              <a:t>273 propositions de financement</a:t>
            </a:r>
            <a:r>
              <a:rPr sz="1450" b="0" i="0">
                <a:solidFill>
                  <a:srgbClr val="1F2937"/>
                </a:solidFill>
                <a:latin typeface="Calibri"/>
              </a:rPr>
              <a:t> (FP) — conseils B.11 (2015) → B.43 (2025), une proposition par document, 41 550 pages</a:t>
            </a:r>
          </a:p>
          <a:p>
            <a:pPr>
              <a:lnSpc>
                <a:spcPct val="102000"/>
              </a:lnSpc>
              <a:spcAft>
                <a:spcPts val="400"/>
              </a:spcAft>
            </a:pPr>
            <a:r>
              <a:rPr sz="1300" b="0" i="0">
                <a:solidFill>
                  <a:srgbClr val="6B7280"/>
                </a:solidFill>
                <a:latin typeface="Calibri"/>
              </a:rPr>
              <a:t>    –  </a:t>
            </a:r>
            <a:r>
              <a:rPr sz="1300" b="0" i="0">
                <a:solidFill>
                  <a:srgbClr val="374151"/>
                </a:solidFill>
                <a:latin typeface="Calibri"/>
              </a:rPr>
              <a:t>répartition annuelle calculée (note de couverture) : 2015 : 8 · 2016 : 28 · 2017 : 21 · 2018 : 39 · 2019 : 25 · 2020 : 30 · 2021 : 28 · 2022 : 17 · 2023 : 27 · 2024 : 29 · 2025 : 21</a:t>
            </a:r>
          </a:p>
          <a:p>
            <a:pPr>
              <a:lnSpc>
                <a:spcPct val="102000"/>
              </a:lnSpc>
              <a:spcAft>
                <a:spcPts val="600"/>
              </a:spcAft>
            </a:pPr>
            <a:r>
              <a:rPr sz="1450" b="1" i="0">
                <a:solidFill>
                  <a:srgbClr val="16A34A"/>
                </a:solidFill>
                <a:latin typeface="Calibri"/>
              </a:rPr>
              <a:t>▪  </a:t>
            </a:r>
            <a:r>
              <a:rPr sz="1450" b="1" i="0">
                <a:solidFill>
                  <a:srgbClr val="1F2937"/>
                </a:solidFill>
                <a:latin typeface="Calibri"/>
              </a:rPr>
              <a:t>Contrat de régénération</a:t>
            </a:r>
            <a:r>
              <a:rPr sz="1450" b="0" i="0">
                <a:solidFill>
                  <a:srgbClr val="1F2937"/>
                </a:solidFill>
                <a:latin typeface="Calibri"/>
              </a:rPr>
              <a:t> (data/README) : chaque couche dérivée se reconstruit par une commande nommée — cache de pages (~3 s/PDF), extraction, index</a:t>
            </a:r>
          </a:p>
          <a:p>
            <a:pPr>
              <a:lnSpc>
                <a:spcPct val="102000"/>
              </a:lnSpc>
              <a:spcAft>
                <a:spcPts val="400"/>
              </a:spcAft>
            </a:pPr>
            <a:r>
              <a:rPr sz="1300" b="0" i="0">
                <a:solidFill>
                  <a:srgbClr val="6B7280"/>
                </a:solidFill>
                <a:latin typeface="Calibri"/>
              </a:rPr>
              <a:t>    –  </a:t>
            </a:r>
            <a:r>
              <a:rPr sz="1300" b="0" i="0">
                <a:solidFill>
                  <a:srgbClr val="374151"/>
                </a:solidFill>
                <a:latin typeface="Calibri"/>
              </a:rPr>
              <a:t>un monde clos : le registre couvrant tout le corpus, </a:t>
            </a:r>
            <a:r>
              <a:rPr sz="1300" b="1" i="0">
                <a:solidFill>
                  <a:srgbClr val="374151"/>
                </a:solidFill>
                <a:latin typeface="Calibri"/>
              </a:rPr>
              <a:t>l'absence devient une preuve</a:t>
            </a:r>
            <a:r>
              <a:rPr sz="1300" b="0" i="0">
                <a:solidFill>
                  <a:srgbClr val="374151"/>
                </a:solidFill>
                <a:latin typeface="Calibri"/>
              </a:rPr>
              <a:t> (« FP999 n'existe pas dans ce corpus » est un fait citable)</a:t>
            </a:r>
          </a:p>
          <a:p>
            <a:pPr>
              <a:lnSpc>
                <a:spcPct val="102000"/>
              </a:lnSpc>
              <a:spcAft>
                <a:spcPts val="600"/>
              </a:spcAft>
            </a:pPr>
            <a:r>
              <a:rPr sz="1450" b="1" i="0">
                <a:solidFill>
                  <a:srgbClr val="16A34A"/>
                </a:solidFill>
                <a:latin typeface="Calibri"/>
              </a:rPr>
              <a:t>▪  </a:t>
            </a:r>
            <a:r>
              <a:rPr sz="1450" b="1" i="0">
                <a:solidFill>
                  <a:srgbClr val="1F2937"/>
                </a:solidFill>
                <a:latin typeface="Calibri"/>
              </a:rPr>
              <a:t>Table de correspondance conseils→années</a:t>
            </a:r>
            <a:r>
              <a:rPr sz="1450" b="0" i="0">
                <a:solidFill>
                  <a:srgbClr val="1F2937"/>
                </a:solidFill>
                <a:latin typeface="Calibri"/>
              </a:rPr>
              <a:t> vérifiée contre les dates de page 1 de 271 documents (B.12 et B.17 interpolés)</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Hypothèse « closed-world » : rare dans les benchmarks RAG ouverts, elle permet ici des refus honnêtes certifiables (abstention mesurée en classe de test dédiée) — un enjeu central de la littérature sur l'hallucination.</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 · LA PLATEFORME</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Extraction (1/2) — le banc d'essai des méthodes</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40480"/>
          </a:xfrm>
          <a:prstGeom prst="rect">
            <a:avLst/>
          </a:prstGeom>
          <a:noFill/>
        </p:spPr>
        <p:txBody>
          <a:bodyPr wrap="square">
            <a:spAutoFit/>
          </a:bodyPr>
          <a:lstStyle/>
          <a:p>
            <a:pPr>
              <a:lnSpc>
                <a:spcPct val="102000"/>
              </a:lnSpc>
              <a:spcAft>
                <a:spcPts val="600"/>
              </a:spcAft>
            </a:pPr>
            <a:r>
              <a:rPr sz="1450" b="1" i="0">
                <a:solidFill>
                  <a:srgbClr val="16A34A"/>
                </a:solidFill>
                <a:latin typeface="Calibri"/>
              </a:rPr>
              <a:t>▪  </a:t>
            </a:r>
            <a:r>
              <a:rPr sz="1450" b="1" i="0">
                <a:solidFill>
                  <a:srgbClr val="1F2937"/>
                </a:solidFill>
                <a:latin typeface="Calibri"/>
              </a:rPr>
              <a:t>9 méthodes comparées</a:t>
            </a:r>
            <a:r>
              <a:rPr sz="1450" b="0" i="0">
                <a:solidFill>
                  <a:srgbClr val="1F2937"/>
                </a:solidFill>
                <a:latin typeface="Calibri"/>
              </a:rPr>
              <a:t> sur le même corpus : parseurs classiques (pypdf, PyMuPDF, pdfplumber), Docling, LLMs API (GPT-4o-mini, o4-mini) et </a:t>
            </a:r>
            <a:r>
              <a:rPr sz="1450" b="1" i="0">
                <a:solidFill>
                  <a:srgbClr val="1F2937"/>
                </a:solidFill>
                <a:latin typeface="Calibri"/>
              </a:rPr>
              <a:t>7 VLM locaux</a:t>
            </a:r>
            <a:r>
              <a:rPr sz="1450" b="0" i="0">
                <a:solidFill>
                  <a:srgbClr val="1F2937"/>
                </a:solidFill>
                <a:latin typeface="Calibri"/>
              </a:rPr>
              <a:t> via LM Studio</a:t>
            </a:r>
          </a:p>
          <a:p>
            <a:pPr>
              <a:lnSpc>
                <a:spcPct val="102000"/>
              </a:lnSpc>
              <a:spcAft>
                <a:spcPts val="400"/>
              </a:spcAft>
            </a:pPr>
            <a:r>
              <a:rPr sz="1300" b="0" i="0">
                <a:solidFill>
                  <a:srgbClr val="6B7280"/>
                </a:solidFill>
                <a:latin typeface="Calibri"/>
              </a:rPr>
              <a:t>    –  </a:t>
            </a:r>
            <a:r>
              <a:rPr sz="1300" b="0" i="0">
                <a:solidFill>
                  <a:srgbClr val="374151"/>
                </a:solidFill>
                <a:latin typeface="Calibri"/>
              </a:rPr>
              <a:t>VLM testés : Qwen2.5-VL-7B, Qwen3-VL-8B, Pixtral-12B, olmOCR-2-7B, Granite Vision 3.2, GLM-4.6V-flash</a:t>
            </a:r>
          </a:p>
          <a:p>
            <a:pPr>
              <a:lnSpc>
                <a:spcPct val="102000"/>
              </a:lnSpc>
              <a:spcAft>
                <a:spcPts val="600"/>
              </a:spcAft>
            </a:pPr>
            <a:r>
              <a:rPr sz="1450" b="1" i="0">
                <a:solidFill>
                  <a:srgbClr val="16A34A"/>
                </a:solidFill>
                <a:latin typeface="Calibri"/>
              </a:rPr>
              <a:t>▪  </a:t>
            </a:r>
            <a:r>
              <a:rPr sz="1450" b="1" i="0">
                <a:solidFill>
                  <a:srgbClr val="1F2937"/>
                </a:solidFill>
                <a:latin typeface="Calibri"/>
              </a:rPr>
              <a:t>Choix : VLM local</a:t>
            </a:r>
            <a:r>
              <a:rPr sz="1450" b="0" i="0">
                <a:solidFill>
                  <a:srgbClr val="1F2937"/>
                </a:solidFill>
                <a:latin typeface="Calibri"/>
              </a:rPr>
              <a:t> — fidélité aux tableaux (contrat markdown : chaque table avec en-tête et séparateur), coût nul par page, confidentialité, débit maîtrisé</a:t>
            </a:r>
          </a:p>
          <a:p>
            <a:pPr>
              <a:lnSpc>
                <a:spcPct val="102000"/>
              </a:lnSpc>
              <a:spcAft>
                <a:spcPts val="600"/>
              </a:spcAft>
            </a:pPr>
            <a:r>
              <a:rPr sz="1450" b="1" i="0">
                <a:solidFill>
                  <a:srgbClr val="16A34A"/>
                </a:solidFill>
                <a:latin typeface="Calibri"/>
              </a:rPr>
              <a:t>▪  </a:t>
            </a:r>
            <a:r>
              <a:rPr sz="1450" b="1" i="0">
                <a:solidFill>
                  <a:srgbClr val="1F2937"/>
                </a:solidFill>
                <a:latin typeface="Calibri"/>
              </a:rPr>
              <a:t>Rendu mesuré contre le serveur réel</a:t>
            </a:r>
            <a:r>
              <a:rPr sz="1450" b="0" i="0">
                <a:solidFill>
                  <a:srgbClr val="1F2937"/>
                </a:solidFill>
                <a:latin typeface="Calibri"/>
              </a:rPr>
              <a:t> : 6,0 MP PNG = 17,9 s/page · </a:t>
            </a:r>
            <a:r>
              <a:rPr sz="1450" b="1" i="0">
                <a:solidFill>
                  <a:srgbClr val="1F2937"/>
                </a:solidFill>
                <a:latin typeface="Calibri"/>
              </a:rPr>
              <a:t>2,0 MP JPEG = 8,1 s</a:t>
            </a:r>
            <a:r>
              <a:rPr sz="1450" b="0" i="0">
                <a:solidFill>
                  <a:srgbClr val="1F2937"/>
                </a:solidFill>
                <a:latin typeface="Calibri"/>
              </a:rPr>
              <a:t> · 1,1 MP = 7,7 s — texte extrait identique à l'octet, tokens de prompt 3 846 → 2 570</a:t>
            </a:r>
          </a:p>
          <a:p>
            <a:pPr>
              <a:lnSpc>
                <a:spcPct val="102000"/>
              </a:lnSpc>
              <a:spcAft>
                <a:spcPts val="400"/>
              </a:spcAft>
            </a:pPr>
            <a:r>
              <a:rPr sz="1300" b="0" i="0">
                <a:solidFill>
                  <a:srgbClr val="6B7280"/>
                </a:solidFill>
                <a:latin typeface="Calibri"/>
              </a:rPr>
              <a:t>    –  </a:t>
            </a:r>
            <a:r>
              <a:rPr sz="1300" b="0" i="0">
                <a:solidFill>
                  <a:srgbClr val="374151"/>
                </a:solidFill>
                <a:latin typeface="Calibri"/>
              </a:rPr>
              <a:t>l'héritage à 250 DPI payait 2,2× la latence pour des pixels inutilisés — leçon : </a:t>
            </a:r>
            <a:r>
              <a:rPr sz="1300" b="1" i="0">
                <a:solidFill>
                  <a:srgbClr val="374151"/>
                </a:solidFill>
                <a:latin typeface="Calibri"/>
              </a:rPr>
              <a:t>mesurer chaque étage, ne rien supposer</a:t>
            </a:r>
          </a:p>
          <a:p>
            <a:pPr>
              <a:lnSpc>
                <a:spcPct val="102000"/>
              </a:lnSpc>
              <a:spcAft>
                <a:spcPts val="600"/>
              </a:spcAft>
            </a:pPr>
            <a:r>
              <a:rPr sz="1450" b="1" i="0">
                <a:solidFill>
                  <a:srgbClr val="16A34A"/>
                </a:solidFill>
                <a:latin typeface="Calibri"/>
              </a:rPr>
              <a:t>▪  </a:t>
            </a:r>
            <a:r>
              <a:rPr sz="1450" b="1" i="0">
                <a:solidFill>
                  <a:srgbClr val="1F2937"/>
                </a:solidFill>
                <a:latin typeface="Calibri"/>
              </a:rPr>
              <a:t>Corpus servi</a:t>
            </a:r>
            <a:r>
              <a:rPr sz="1450" b="0" i="0">
                <a:solidFill>
                  <a:srgbClr val="1F2937"/>
                </a:solidFill>
                <a:latin typeface="Calibri"/>
              </a:rPr>
              <a:t> : extrait par Qwen2.5-VL-7B ; Qwen3-VL-8B configuré pour les prochaines extractions</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Kim et al. 2022 (Donut) · Blecher et al. 2023 (Nougat) · olmOCR 2025 — la compréhension de documents « sans OCR » par modèles vision-langage ; ici tranchée par un banc d'essai local plutôt que par défaut d'outillage.</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 · LA PLATEFORME</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Extraction (2/2) — le pipeline VLM industrialisé</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86200"/>
          </a:xfrm>
          <a:prstGeom prst="rect">
            <a:avLst/>
          </a:prstGeom>
          <a:noFill/>
        </p:spPr>
        <p:txBody>
          <a:bodyPr wrap="square">
            <a:spAutoFit/>
          </a:bodyPr>
          <a:lstStyle/>
          <a:p>
            <a:pPr>
              <a:lnSpc>
                <a:spcPct val="102000"/>
              </a:lnSpc>
              <a:spcAft>
                <a:spcPts val="600"/>
              </a:spcAft>
            </a:pPr>
            <a:r>
              <a:rPr sz="1400" b="1" i="0">
                <a:solidFill>
                  <a:srgbClr val="16A34A"/>
                </a:solidFill>
                <a:latin typeface="Calibri"/>
              </a:rPr>
              <a:t>▪  </a:t>
            </a:r>
            <a:r>
              <a:rPr sz="1400" b="1" i="0">
                <a:solidFill>
                  <a:srgbClr val="1F2937"/>
                </a:solidFill>
                <a:latin typeface="Calibri"/>
              </a:rPr>
              <a:t>Contrat de sortie</a:t>
            </a:r>
            <a:r>
              <a:rPr sz="1400" b="0" i="0">
                <a:solidFill>
                  <a:srgbClr val="1F2937"/>
                </a:solidFill>
                <a:latin typeface="Calibri"/>
              </a:rPr>
              <a:t> épinglé par le prompt système : markdown fidèle, tables avec en-têtes, figures → légende littérale sans lien, « [blank page] » exact</a:t>
            </a:r>
          </a:p>
          <a:p>
            <a:pPr>
              <a:lnSpc>
                <a:spcPct val="102000"/>
              </a:lnSpc>
              <a:spcAft>
                <a:spcPts val="600"/>
              </a:spcAft>
            </a:pPr>
            <a:r>
              <a:rPr sz="1400" b="1" i="0">
                <a:solidFill>
                  <a:srgbClr val="16A34A"/>
                </a:solidFill>
                <a:latin typeface="Calibri"/>
              </a:rPr>
              <a:t>▪  </a:t>
            </a:r>
            <a:r>
              <a:rPr sz="1400" b="1" i="0">
                <a:solidFill>
                  <a:srgbClr val="1F2937"/>
                </a:solidFill>
                <a:latin typeface="Calibri"/>
              </a:rPr>
              <a:t>Robustesse mesurée, pas supposée</a:t>
            </a:r>
            <a:r>
              <a:rPr sz="1400" b="0" i="0">
                <a:solidFill>
                  <a:srgbClr val="1F2937"/>
                </a:solidFill>
                <a:latin typeface="Calibri"/>
              </a:rPr>
              <a:t> :</a:t>
            </a:r>
          </a:p>
          <a:p>
            <a:pPr>
              <a:lnSpc>
                <a:spcPct val="102000"/>
              </a:lnSpc>
              <a:spcAft>
                <a:spcPts val="400"/>
              </a:spcAft>
            </a:pPr>
            <a:r>
              <a:rPr sz="1250" b="0" i="0">
                <a:solidFill>
                  <a:srgbClr val="6B7280"/>
                </a:solidFill>
                <a:latin typeface="Calibri"/>
              </a:rPr>
              <a:t>    –  </a:t>
            </a:r>
            <a:r>
              <a:rPr sz="1250" b="0" i="0">
                <a:solidFill>
                  <a:srgbClr val="374151"/>
                </a:solidFill>
                <a:latin typeface="Calibri"/>
              </a:rPr>
              <a:t>2 requêtes multimodales concurrentes </a:t>
            </a:r>
            <a:r>
              <a:rPr sz="1250" b="1" i="0">
                <a:solidFill>
                  <a:srgbClr val="374151"/>
                </a:solidFill>
                <a:latin typeface="Calibri"/>
              </a:rPr>
              <a:t>tuent le processus modèle</a:t>
            </a:r>
            <a:r>
              <a:rPr sz="1250" b="0" i="0">
                <a:solidFill>
                  <a:srgbClr val="374151"/>
                </a:solidFill>
                <a:latin typeface="Calibri"/>
              </a:rPr>
              <a:t> (reproduit 2×) → MAX_CONCURRENT = 1, quarantaine 45 s, </a:t>
            </a:r>
            <a:r>
              <a:rPr sz="1250" b="1" i="0">
                <a:solidFill>
                  <a:srgbClr val="374151"/>
                </a:solidFill>
                <a:latin typeface="Calibri"/>
              </a:rPr>
              <a:t>disjoncteur</a:t>
            </a:r>
            <a:r>
              <a:rPr sz="1250" b="0" i="0">
                <a:solidFill>
                  <a:srgbClr val="374151"/>
                </a:solidFill>
                <a:latin typeface="Calibri"/>
              </a:rPr>
              <a:t> après 20 échecs consécutifs</a:t>
            </a:r>
          </a:p>
          <a:p>
            <a:pPr>
              <a:lnSpc>
                <a:spcPct val="102000"/>
              </a:lnSpc>
              <a:spcAft>
                <a:spcPts val="400"/>
              </a:spcAft>
            </a:pPr>
            <a:r>
              <a:rPr sz="1250" b="0" i="0">
                <a:solidFill>
                  <a:srgbClr val="6B7280"/>
                </a:solidFill>
                <a:latin typeface="Calibri"/>
              </a:rPr>
              <a:t>    –  </a:t>
            </a:r>
            <a:r>
              <a:rPr sz="1250" b="0" i="0">
                <a:solidFill>
                  <a:srgbClr val="374151"/>
                </a:solidFill>
                <a:latin typeface="Calibri"/>
              </a:rPr>
              <a:t>détecteur de sorties dégénérées (boucles de répétition), doublement de budget sur troncature, plafond de tentatives</a:t>
            </a:r>
          </a:p>
          <a:p>
            <a:pPr>
              <a:lnSpc>
                <a:spcPct val="102000"/>
              </a:lnSpc>
              <a:spcAft>
                <a:spcPts val="600"/>
              </a:spcAft>
            </a:pPr>
            <a:r>
              <a:rPr sz="1400" b="1" i="0">
                <a:solidFill>
                  <a:srgbClr val="16A34A"/>
                </a:solidFill>
                <a:latin typeface="Calibri"/>
              </a:rPr>
              <a:t>▪  </a:t>
            </a:r>
            <a:r>
              <a:rPr sz="1400" b="1" i="0">
                <a:solidFill>
                  <a:srgbClr val="1F2937"/>
                </a:solidFill>
                <a:latin typeface="Calibri"/>
              </a:rPr>
              <a:t>Reprise par page, jamais par document</a:t>
            </a:r>
            <a:r>
              <a:rPr sz="1400" b="0" i="0">
                <a:solidFill>
                  <a:srgbClr val="1F2937"/>
                </a:solidFill>
                <a:latin typeface="Calibri"/>
              </a:rPr>
              <a:t> : sidecars markdown par page + fusion conditionnée à la complétude — la vérification au lancement a attrapé un document « terminé » à </a:t>
            </a:r>
            <a:r>
              <a:rPr sz="1400" b="1" i="0">
                <a:solidFill>
                  <a:srgbClr val="1F2937"/>
                </a:solidFill>
                <a:latin typeface="Calibri"/>
              </a:rPr>
              <a:t>240/243 pages</a:t>
            </a:r>
          </a:p>
          <a:p>
            <a:pPr>
              <a:lnSpc>
                <a:spcPct val="102000"/>
              </a:lnSpc>
              <a:spcAft>
                <a:spcPts val="400"/>
              </a:spcAft>
            </a:pPr>
            <a:r>
              <a:rPr sz="1250" b="0" i="0">
                <a:solidFill>
                  <a:srgbClr val="6B7280"/>
                </a:solidFill>
                <a:latin typeface="Calibri"/>
              </a:rPr>
              <a:t>    –  </a:t>
            </a:r>
            <a:r>
              <a:rPr sz="1250" b="0" i="0">
                <a:solidFill>
                  <a:srgbClr val="374151"/>
                </a:solidFill>
                <a:latin typeface="Calibri"/>
              </a:rPr>
              <a:t>grand livre status.json par modèle (ok/partiel/échec, pages à rejouer) — « </a:t>
            </a:r>
            <a:r>
              <a:rPr sz="1250" b="1" i="0">
                <a:solidFill>
                  <a:srgbClr val="374151"/>
                </a:solidFill>
                <a:latin typeface="Calibri"/>
              </a:rPr>
              <a:t>le disque est la vérité, le JSON est l'histoire</a:t>
            </a:r>
            <a:r>
              <a:rPr sz="1250" b="0" i="0">
                <a:solidFill>
                  <a:srgbClr val="374151"/>
                </a:solidFill>
                <a:latin typeface="Calibri"/>
              </a:rPr>
              <a:t> »</a:t>
            </a:r>
          </a:p>
          <a:p>
            <a:pPr>
              <a:lnSpc>
                <a:spcPct val="102000"/>
              </a:lnSpc>
              <a:spcAft>
                <a:spcPts val="600"/>
              </a:spcAft>
            </a:pPr>
            <a:r>
              <a:rPr sz="1400" b="1" i="0">
                <a:solidFill>
                  <a:srgbClr val="16A34A"/>
                </a:solidFill>
                <a:latin typeface="Calibri"/>
              </a:rPr>
              <a:t>▪  </a:t>
            </a:r>
            <a:r>
              <a:rPr sz="1400" b="1" i="0">
                <a:solidFill>
                  <a:srgbClr val="1F2937"/>
                </a:solidFill>
                <a:latin typeface="Calibri"/>
              </a:rPr>
              <a:t>Couche texte du PDF réinjectée</a:t>
            </a:r>
            <a:r>
              <a:rPr sz="1400" b="0" i="0">
                <a:solidFill>
                  <a:srgbClr val="1F2937"/>
                </a:solidFill>
                <a:latin typeface="Calibri"/>
              </a:rPr>
              <a:t> comme indice de transcription (&lt;reference&gt;) quand elle existe — le VLM lit l'image, l'indice réduit les fautes de chiffres</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Barnett et al. 2024 (« Seven Failure Points ») — la majorité des défaillances RAG naissent en ingestion ; d'où : sérialisation prouvée, disjoncteur, reprise par page, vérification de complétude au lancement.</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 · LA PLATEFORME</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Ancrage visuel — des réponses qui pointent des pixels</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40480"/>
          </a:xfrm>
          <a:prstGeom prst="rect">
            <a:avLst/>
          </a:prstGeom>
          <a:noFill/>
        </p:spPr>
        <p:txBody>
          <a:bodyPr wrap="square">
            <a:spAutoFit/>
          </a:bodyPr>
          <a:lstStyle/>
          <a:p>
            <a:pPr>
              <a:lnSpc>
                <a:spcPct val="102000"/>
              </a:lnSpc>
              <a:spcAft>
                <a:spcPts val="600"/>
              </a:spcAft>
            </a:pPr>
            <a:r>
              <a:rPr sz="1450" b="1" i="0">
                <a:solidFill>
                  <a:srgbClr val="16A34A"/>
                </a:solidFill>
                <a:latin typeface="Calibri"/>
              </a:rPr>
              <a:t>▪  </a:t>
            </a:r>
            <a:r>
              <a:rPr sz="1450" b="1" i="0">
                <a:solidFill>
                  <a:srgbClr val="1F2937"/>
                </a:solidFill>
                <a:latin typeface="Calibri"/>
              </a:rPr>
              <a:t>Géométrie par page</a:t>
            </a:r>
            <a:r>
              <a:rPr sz="1450" b="0" i="0">
                <a:solidFill>
                  <a:srgbClr val="1F2937"/>
                </a:solidFill>
                <a:latin typeface="Calibri"/>
              </a:rPr>
              <a:t> (boxes.json) : lignes, tableaux et figures en coordonnées pixel de l'image cachée — extraits de la couche texte native, </a:t>
            </a:r>
            <a:r>
              <a:rPr sz="1450" b="1" i="0">
                <a:solidFill>
                  <a:srgbClr val="1F2937"/>
                </a:solidFill>
                <a:latin typeface="Calibri"/>
              </a:rPr>
              <a:t>zéro OCR</a:t>
            </a:r>
          </a:p>
          <a:p>
            <a:pPr>
              <a:lnSpc>
                <a:spcPct val="102000"/>
              </a:lnSpc>
              <a:spcAft>
                <a:spcPts val="400"/>
              </a:spcAft>
            </a:pPr>
            <a:r>
              <a:rPr sz="1300" b="0" i="0">
                <a:solidFill>
                  <a:srgbClr val="6B7280"/>
                </a:solidFill>
                <a:latin typeface="Calibri"/>
              </a:rPr>
              <a:t>    –  </a:t>
            </a:r>
            <a:r>
              <a:rPr sz="1300" b="0" i="0">
                <a:solidFill>
                  <a:srgbClr val="374151"/>
                </a:solidFill>
                <a:latin typeface="Calibri"/>
              </a:rPr>
              <a:t>backfill unique sur les 273 PDFs : </a:t>
            </a:r>
            <a:r>
              <a:rPr sz="1300" b="1" i="0">
                <a:solidFill>
                  <a:srgbClr val="374151"/>
                </a:solidFill>
                <a:latin typeface="Calibri"/>
              </a:rPr>
              <a:t>41 500 sidecars, 262 Mo, 63 minutes</a:t>
            </a:r>
            <a:r>
              <a:rPr sz="1300" b="0" i="0">
                <a:solidFill>
                  <a:srgbClr val="374151"/>
                </a:solidFill>
                <a:latin typeface="Calibri"/>
              </a:rPr>
              <a:t>, 100 % des pages suivies</a:t>
            </a:r>
          </a:p>
          <a:p>
            <a:pPr>
              <a:lnSpc>
                <a:spcPct val="102000"/>
              </a:lnSpc>
              <a:spcAft>
                <a:spcPts val="600"/>
              </a:spcAft>
            </a:pPr>
            <a:r>
              <a:rPr sz="1450" b="1" i="0">
                <a:solidFill>
                  <a:srgbClr val="16A34A"/>
                </a:solidFill>
                <a:latin typeface="Calibri"/>
              </a:rPr>
              <a:t>▪  </a:t>
            </a:r>
            <a:r>
              <a:rPr sz="1450" b="1" i="0">
                <a:solidFill>
                  <a:srgbClr val="1F2937"/>
                </a:solidFill>
                <a:latin typeface="Calibri"/>
              </a:rPr>
              <a:t>ground_chunk()</a:t>
            </a:r>
            <a:r>
              <a:rPr sz="1450" b="0" i="0">
                <a:solidFill>
                  <a:srgbClr val="1F2937"/>
                </a:solidFill>
                <a:latin typeface="Calibri"/>
              </a:rPr>
              <a:t> : alignement flou entre le markdown du VLM et la couche texte du PDF — un chunk cité devient un </a:t>
            </a:r>
            <a:r>
              <a:rPr sz="1450" b="1" i="0">
                <a:solidFill>
                  <a:srgbClr val="1F2937"/>
                </a:solidFill>
                <a:latin typeface="Calibri"/>
              </a:rPr>
              <a:t>rectangle surligné</a:t>
            </a:r>
            <a:r>
              <a:rPr sz="1450" b="0" i="0">
                <a:solidFill>
                  <a:srgbClr val="1F2937"/>
                </a:solidFill>
                <a:latin typeface="Calibri"/>
              </a:rPr>
              <a:t> sur l'image de la page (vert = lignes, bleu = tableaux)</a:t>
            </a:r>
          </a:p>
          <a:p>
            <a:pPr>
              <a:lnSpc>
                <a:spcPct val="102000"/>
              </a:lnSpc>
              <a:spcAft>
                <a:spcPts val="400"/>
              </a:spcAft>
            </a:pPr>
            <a:r>
              <a:rPr sz="1300" b="0" i="0">
                <a:solidFill>
                  <a:srgbClr val="6B7280"/>
                </a:solidFill>
                <a:latin typeface="Calibri"/>
              </a:rPr>
              <a:t>    –  </a:t>
            </a:r>
            <a:r>
              <a:rPr sz="1300" b="0" i="0">
                <a:solidFill>
                  <a:srgbClr val="374151"/>
                </a:solidFill>
                <a:latin typeface="Calibri"/>
              </a:rPr>
              <a:t>confiance mesurée 0,96–1,00 sur la prose en production ; sous 0,3 → </a:t>
            </a:r>
            <a:r>
              <a:rPr sz="1300" b="1" i="0">
                <a:solidFill>
                  <a:srgbClr val="374151"/>
                </a:solidFill>
                <a:latin typeface="Calibri"/>
              </a:rPr>
              <a:t>repli honnête</a:t>
            </a:r>
            <a:r>
              <a:rPr sz="1300" b="0" i="0">
                <a:solidFill>
                  <a:srgbClr val="374151"/>
                </a:solidFill>
                <a:latin typeface="Calibri"/>
              </a:rPr>
              <a:t> vers la citation au niveau de la page</a:t>
            </a:r>
          </a:p>
          <a:p>
            <a:pPr>
              <a:lnSpc>
                <a:spcPct val="102000"/>
              </a:lnSpc>
              <a:spcAft>
                <a:spcPts val="600"/>
              </a:spcAft>
            </a:pPr>
            <a:r>
              <a:rPr sz="1450" b="1" i="0">
                <a:solidFill>
                  <a:srgbClr val="16A34A"/>
                </a:solidFill>
                <a:latin typeface="Calibri"/>
              </a:rPr>
              <a:t>▪  </a:t>
            </a:r>
            <a:r>
              <a:rPr sz="1450" b="1" i="0">
                <a:solidFill>
                  <a:srgbClr val="1F2937"/>
                </a:solidFill>
                <a:latin typeface="Calibri"/>
              </a:rPr>
              <a:t>Dans l'interface</a:t>
            </a:r>
            <a:r>
              <a:rPr sz="1450" b="0" i="0">
                <a:solidFill>
                  <a:srgbClr val="1F2937"/>
                </a:solidFill>
                <a:latin typeface="Calibri"/>
              </a:rPr>
              <a:t> : jusqu'à 3 instantanés de pages preuves par réponse, surlignage mis en cache par empreinte de rectangle</a:t>
            </a:r>
          </a:p>
          <a:p>
            <a:pPr>
              <a:lnSpc>
                <a:spcPct val="102000"/>
              </a:lnSpc>
              <a:spcAft>
                <a:spcPts val="600"/>
              </a:spcAft>
            </a:pPr>
            <a:r>
              <a:rPr sz="1450" b="1" i="0">
                <a:solidFill>
                  <a:srgbClr val="16A34A"/>
                </a:solidFill>
                <a:latin typeface="Calibri"/>
              </a:rPr>
              <a:t>▪  </a:t>
            </a:r>
            <a:r>
              <a:rPr sz="1450" b="1" i="0">
                <a:solidFill>
                  <a:srgbClr val="1F2937"/>
                </a:solidFill>
                <a:latin typeface="Calibri"/>
              </a:rPr>
              <a:t>Deux bugs de géométrie attrapés à l'œil</a:t>
            </a:r>
            <a:r>
              <a:rPr sz="1450" b="0" i="0">
                <a:solidFill>
                  <a:srgbClr val="1F2937"/>
                </a:solidFill>
                <a:latin typeface="Calibri"/>
              </a:rPr>
              <a:t> (points de suite des sommaires, figure rejetée comme quadrillage) — la preuve visuelle est aussi un instrument de debug</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Rashkin et al. 2021 (AIS) · Bohnet et al. 2022 (Attributed QA) — la littérature définit l'attribution au niveau du document ou du passage ; la plateforme la pousse jusqu'au pixel de la page citée.</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 · LA PLATEFORME</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Chunking et indexation</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86200"/>
          </a:xfrm>
          <a:prstGeom prst="rect">
            <a:avLst/>
          </a:prstGeom>
          <a:noFill/>
        </p:spPr>
        <p:txBody>
          <a:bodyPr wrap="square">
            <a:spAutoFit/>
          </a:bodyPr>
          <a:lstStyle/>
          <a:p>
            <a:pPr>
              <a:lnSpc>
                <a:spcPct val="102000"/>
              </a:lnSpc>
              <a:spcAft>
                <a:spcPts val="600"/>
              </a:spcAft>
            </a:pPr>
            <a:r>
              <a:rPr sz="1400" b="1" i="0">
                <a:solidFill>
                  <a:srgbClr val="16A34A"/>
                </a:solidFill>
                <a:latin typeface="Calibri"/>
              </a:rPr>
              <a:t>▪  </a:t>
            </a:r>
            <a:r>
              <a:rPr sz="1400" b="1" i="0">
                <a:solidFill>
                  <a:srgbClr val="1F2937"/>
                </a:solidFill>
                <a:latin typeface="Calibri"/>
              </a:rPr>
              <a:t>Découpage conscient de la structure</a:t>
            </a:r>
            <a:r>
              <a:rPr sz="1400" b="0" i="0">
                <a:solidFill>
                  <a:srgbClr val="1F2937"/>
                </a:solidFill>
                <a:latin typeface="Calibri"/>
              </a:rPr>
              <a:t> : par page (marqueurs d'extraction), avec pile de sections (les identifiants imprimés « C.2.1 » battent la profondeur des « # » — le VLM dérive entre pages)</a:t>
            </a:r>
          </a:p>
          <a:p>
            <a:pPr>
              <a:lnSpc>
                <a:spcPct val="102000"/>
              </a:lnSpc>
              <a:spcAft>
                <a:spcPts val="400"/>
              </a:spcAft>
            </a:pPr>
            <a:r>
              <a:rPr sz="1250" b="0" i="0">
                <a:solidFill>
                  <a:srgbClr val="6B7280"/>
                </a:solidFill>
                <a:latin typeface="Calibri"/>
              </a:rPr>
              <a:t>    –  </a:t>
            </a:r>
            <a:r>
              <a:rPr sz="1250" b="1" i="0">
                <a:solidFill>
                  <a:srgbClr val="374151"/>
                </a:solidFill>
                <a:latin typeface="Calibri"/>
              </a:rPr>
              <a:t>une table ≤ 2× la taille de chunk est atomique</a:t>
            </a:r>
            <a:r>
              <a:rPr sz="1250" b="0" i="0">
                <a:solidFill>
                  <a:srgbClr val="374151"/>
                </a:solidFill>
                <a:latin typeface="Calibri"/>
              </a:rPr>
              <a:t> : coupée en deux, elle perd son en-tête et cesse d'être interrogeable ; taille 1000 / recouvrement 200</a:t>
            </a:r>
          </a:p>
          <a:p>
            <a:pPr>
              <a:lnSpc>
                <a:spcPct val="102000"/>
              </a:lnSpc>
              <a:spcAft>
                <a:spcPts val="600"/>
              </a:spcAft>
            </a:pPr>
            <a:r>
              <a:rPr sz="1400" b="1" i="0">
                <a:solidFill>
                  <a:srgbClr val="16A34A"/>
                </a:solidFill>
                <a:latin typeface="Calibri"/>
              </a:rPr>
              <a:t>▪  </a:t>
            </a:r>
            <a:r>
              <a:rPr sz="1400" b="1" i="0">
                <a:solidFill>
                  <a:srgbClr val="1F2937"/>
                </a:solidFill>
                <a:latin typeface="Calibri"/>
              </a:rPr>
              <a:t>Deux textes, une source</a:t>
            </a:r>
            <a:r>
              <a:rPr sz="1400" b="0" i="0">
                <a:solidFill>
                  <a:srgbClr val="1F2937"/>
                </a:solidFill>
                <a:latin typeface="Calibri"/>
              </a:rPr>
              <a:t> : source_text (montré au modèle et à l'ancrage) ≠ retrieval_text (embarqué) — le préfixe de section en récupération a été </a:t>
            </a:r>
            <a:r>
              <a:rPr sz="1400" b="1" i="0">
                <a:solidFill>
                  <a:srgbClr val="1F2937"/>
                </a:solidFill>
                <a:latin typeface="Calibri"/>
              </a:rPr>
              <a:t>mesuré nuisible</a:t>
            </a:r>
            <a:r>
              <a:rPr sz="1400" b="0" i="0">
                <a:solidFill>
                  <a:srgbClr val="1F2937"/>
                </a:solidFill>
                <a:latin typeface="Calibri"/>
              </a:rPr>
              <a:t> pour all-mpnet et désactivé</a:t>
            </a:r>
          </a:p>
          <a:p>
            <a:pPr>
              <a:lnSpc>
                <a:spcPct val="102000"/>
              </a:lnSpc>
              <a:spcAft>
                <a:spcPts val="600"/>
              </a:spcAft>
            </a:pPr>
            <a:r>
              <a:rPr sz="1400" b="1" i="0">
                <a:solidFill>
                  <a:srgbClr val="16A34A"/>
                </a:solidFill>
                <a:latin typeface="Calibri"/>
              </a:rPr>
              <a:t>▪  </a:t>
            </a:r>
            <a:r>
              <a:rPr sz="1400" b="1" i="0">
                <a:solidFill>
                  <a:srgbClr val="1F2937"/>
                </a:solidFill>
                <a:latin typeface="Calibri"/>
              </a:rPr>
              <a:t>Index</a:t>
            </a:r>
            <a:r>
              <a:rPr sz="1400" b="0" i="0">
                <a:solidFill>
                  <a:srgbClr val="1F2937"/>
                </a:solidFill>
                <a:latin typeface="Calibri"/>
              </a:rPr>
              <a:t> : FAISS IndexFlatIP sur vecteurs normalisés (cosinus), all-mpnet-base-v2 (768 d) ; métadonnées JSON, jamais de pickle ; </a:t>
            </a:r>
            <a:r>
              <a:rPr sz="1400" b="1" i="0">
                <a:solidFill>
                  <a:srgbClr val="1F2937"/>
                </a:solidFill>
                <a:latin typeface="Calibri"/>
              </a:rPr>
              <a:t>11 577 doublons exacts</a:t>
            </a:r>
            <a:r>
              <a:rPr sz="1400" b="0" i="0">
                <a:solidFill>
                  <a:srgbClr val="1F2937"/>
                </a:solidFill>
                <a:latin typeface="Calibri"/>
              </a:rPr>
              <a:t> dédupliqués (réimpressions d'annexes)</a:t>
            </a:r>
          </a:p>
          <a:p>
            <a:pPr>
              <a:lnSpc>
                <a:spcPct val="102000"/>
              </a:lnSpc>
              <a:spcAft>
                <a:spcPts val="400"/>
              </a:spcAft>
            </a:pPr>
            <a:r>
              <a:rPr sz="1250" b="0" i="0">
                <a:solidFill>
                  <a:srgbClr val="6B7280"/>
                </a:solidFill>
                <a:latin typeface="Calibri"/>
              </a:rPr>
              <a:t>    –  </a:t>
            </a:r>
            <a:r>
              <a:rPr sz="1250" b="0" i="0">
                <a:solidFill>
                  <a:srgbClr val="374151"/>
                </a:solidFill>
                <a:latin typeface="Calibri"/>
              </a:rPr>
              <a:t>actuel : </a:t>
            </a:r>
            <a:r>
              <a:rPr sz="1250" b="1" i="0">
                <a:solidFill>
                  <a:srgbClr val="374151"/>
                </a:solidFill>
                <a:latin typeface="Calibri"/>
              </a:rPr>
              <a:t>178 456 chunks</a:t>
            </a:r>
            <a:r>
              <a:rPr sz="1250" b="0" i="0">
                <a:solidFill>
                  <a:srgbClr val="374151"/>
                </a:solidFill>
                <a:latin typeface="Calibri"/>
              </a:rPr>
              <a:t> (dont 17 196 tableaux, 125 430 avec chemin de section) · index 548 Mo</a:t>
            </a:r>
          </a:p>
          <a:p>
            <a:pPr>
              <a:lnSpc>
                <a:spcPct val="102000"/>
              </a:lnSpc>
              <a:spcAft>
                <a:spcPts val="600"/>
              </a:spcAft>
            </a:pPr>
            <a:r>
              <a:rPr sz="1400" b="1" i="0">
                <a:solidFill>
                  <a:srgbClr val="16A34A"/>
                </a:solidFill>
                <a:latin typeface="Calibri"/>
              </a:rPr>
              <a:t>▪  </a:t>
            </a:r>
            <a:r>
              <a:rPr sz="1400" b="1" i="0">
                <a:solidFill>
                  <a:srgbClr val="1F2937"/>
                </a:solidFill>
                <a:latin typeface="Calibri"/>
              </a:rPr>
              <a:t>Embedding GPU mesuré</a:t>
            </a:r>
            <a:r>
              <a:rPr sz="1400" b="0" i="0">
                <a:solidFill>
                  <a:srgbClr val="1F2937"/>
                </a:solidFill>
                <a:latin typeface="Calibri"/>
              </a:rPr>
              <a:t> : 11 min sur RTX 4080 (206 chunks/s) là où le CPU dépassait 2 h — la roue torch CUDA mal appariée coûtait un repli CPU silencieux</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Reimers &amp; Gurevych 2019 (Sentence-BERT) ; Gao et al. 2023 — la granularité de découpage est un compromis connu ; ici chaque choix (taille, préfixe de section, atomicité des tables) est tranché par A/B et non par convention.</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 · LA PLATEFORME</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Récupération hybride — BM25 + dense, fusionnés puis raffinés</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86200"/>
          </a:xfrm>
          <a:prstGeom prst="rect">
            <a:avLst/>
          </a:prstGeom>
          <a:noFill/>
        </p:spPr>
        <p:txBody>
          <a:bodyPr wrap="square">
            <a:spAutoFit/>
          </a:bodyPr>
          <a:lstStyle/>
          <a:p>
            <a:pPr>
              <a:lnSpc>
                <a:spcPct val="102000"/>
              </a:lnSpc>
              <a:spcAft>
                <a:spcPts val="600"/>
              </a:spcAft>
            </a:pPr>
            <a:r>
              <a:rPr sz="1400" b="1" i="0">
                <a:solidFill>
                  <a:srgbClr val="16A34A"/>
                </a:solidFill>
                <a:latin typeface="Calibri"/>
              </a:rPr>
              <a:t>▪  </a:t>
            </a:r>
            <a:r>
              <a:rPr sz="1400" b="1" i="0">
                <a:solidFill>
                  <a:srgbClr val="1F2937"/>
                </a:solidFill>
                <a:latin typeface="Calibri"/>
              </a:rPr>
              <a:t>Pourquoi hybride</a:t>
            </a:r>
            <a:r>
              <a:rPr sz="1400" b="0" i="0">
                <a:solidFill>
                  <a:srgbClr val="1F2937"/>
                </a:solidFill>
                <a:latin typeface="Calibri"/>
              </a:rPr>
              <a:t> : les embeddings sont </a:t>
            </a:r>
            <a:r>
              <a:rPr sz="1400" b="1" i="0">
                <a:solidFill>
                  <a:srgbClr val="1F2937"/>
                </a:solidFill>
                <a:latin typeface="Calibri"/>
              </a:rPr>
              <a:t>aveugles aux identifiants</a:t>
            </a:r>
            <a:r>
              <a:rPr sz="1400" b="0" i="0">
                <a:solidFill>
                  <a:srgbClr val="1F2937"/>
                </a:solidFill>
                <a:latin typeface="Calibri"/>
              </a:rPr>
              <a:t> (FP273, B.42, Add.17) — rappel des requêtes à identifiant : </a:t>
            </a:r>
            <a:r>
              <a:rPr sz="1400" b="1" i="0">
                <a:solidFill>
                  <a:srgbClr val="1F2937"/>
                </a:solidFill>
                <a:latin typeface="Calibri"/>
              </a:rPr>
              <a:t>6 % → 100 %</a:t>
            </a:r>
            <a:r>
              <a:rPr sz="1400" b="0" i="0">
                <a:solidFill>
                  <a:srgbClr val="1F2937"/>
                </a:solidFill>
                <a:latin typeface="Calibri"/>
              </a:rPr>
              <a:t> avec le canal lexical</a:t>
            </a:r>
          </a:p>
          <a:p>
            <a:pPr>
              <a:lnSpc>
                <a:spcPct val="102000"/>
              </a:lnSpc>
              <a:spcAft>
                <a:spcPts val="400"/>
              </a:spcAft>
            </a:pPr>
            <a:r>
              <a:rPr sz="1250" b="0" i="0">
                <a:solidFill>
                  <a:srgbClr val="6B7280"/>
                </a:solidFill>
                <a:latin typeface="Calibri"/>
              </a:rPr>
              <a:t>    –  </a:t>
            </a:r>
            <a:r>
              <a:rPr sz="1250" b="0" i="0">
                <a:solidFill>
                  <a:srgbClr val="374151"/>
                </a:solidFill>
                <a:latin typeface="Calibri"/>
              </a:rPr>
              <a:t>BM25 via SQLite </a:t>
            </a:r>
            <a:r>
              <a:rPr sz="1250" b="1" i="0">
                <a:solidFill>
                  <a:srgbClr val="374151"/>
                </a:solidFill>
                <a:latin typeface="Calibri"/>
              </a:rPr>
              <a:t>FTS5</a:t>
            </a:r>
            <a:r>
              <a:rPr sz="1250" b="0" i="0">
                <a:solidFill>
                  <a:srgbClr val="374151"/>
                </a:solidFill>
                <a:latin typeface="Calibri"/>
              </a:rPr>
              <a:t> (disque, stdlib) ; tokenizer dédié : « b.42 »→« b42 », « FP 274 »→« fp274 », variantes fp86↔fp086</a:t>
            </a:r>
          </a:p>
          <a:p>
            <a:pPr>
              <a:lnSpc>
                <a:spcPct val="102000"/>
              </a:lnSpc>
              <a:spcAft>
                <a:spcPts val="600"/>
              </a:spcAft>
            </a:pPr>
            <a:r>
              <a:rPr sz="1400" b="1" i="0">
                <a:solidFill>
                  <a:srgbClr val="16A34A"/>
                </a:solidFill>
                <a:latin typeface="Calibri"/>
              </a:rPr>
              <a:t>▪  </a:t>
            </a:r>
            <a:r>
              <a:rPr sz="1400" b="1" i="0">
                <a:solidFill>
                  <a:srgbClr val="1F2937"/>
                </a:solidFill>
                <a:latin typeface="Calibri"/>
              </a:rPr>
              <a:t>Fusion RRF</a:t>
            </a:r>
            <a:r>
              <a:rPr sz="1400" b="0" i="0">
                <a:solidFill>
                  <a:srgbClr val="1F2937"/>
                </a:solidFill>
                <a:latin typeface="Calibri"/>
              </a:rPr>
              <a:t> (k = 60), poids lexical ×2 quand la requête porte un identifiant ; puis </a:t>
            </a:r>
            <a:r>
              <a:rPr sz="1400" b="1" i="0">
                <a:solidFill>
                  <a:srgbClr val="1F2937"/>
                </a:solidFill>
                <a:latin typeface="Calibri"/>
              </a:rPr>
              <a:t>pipeline</a:t>
            </a:r>
            <a:r>
              <a:rPr sz="1400" b="0" i="0">
                <a:solidFill>
                  <a:srgbClr val="1F2937"/>
                </a:solidFill>
                <a:latin typeface="Calibri"/>
              </a:rPr>
              <a:t> : dédup → rerank (cross-encoder ms-marco-MiniLM-L-6-v2) → quota par document → diversité de pages → top-k</a:t>
            </a:r>
          </a:p>
          <a:p>
            <a:pPr>
              <a:lnSpc>
                <a:spcPct val="102000"/>
              </a:lnSpc>
              <a:spcAft>
                <a:spcPts val="600"/>
              </a:spcAft>
            </a:pPr>
            <a:r>
              <a:rPr sz="1400" b="1" i="0">
                <a:solidFill>
                  <a:srgbClr val="16A34A"/>
                </a:solidFill>
                <a:latin typeface="Calibri"/>
              </a:rPr>
              <a:t>▪  </a:t>
            </a:r>
            <a:r>
              <a:rPr sz="1400" b="1" i="0">
                <a:solidFill>
                  <a:srgbClr val="1F2937"/>
                </a:solidFill>
                <a:latin typeface="Calibri"/>
              </a:rPr>
              <a:t>Mesuré sur fixture de 62 cas</a:t>
            </a:r>
            <a:r>
              <a:rPr sz="1400" b="0" i="0">
                <a:solidFill>
                  <a:srgbClr val="1F2937"/>
                </a:solidFill>
                <a:latin typeface="Calibri"/>
              </a:rPr>
              <a:t> (base r@5 88 %) : défauts 96 % · RERANK=1 → r@10 </a:t>
            </a:r>
            <a:r>
              <a:rPr sz="1400" b="1" i="0">
                <a:solidFill>
                  <a:srgbClr val="1F2937"/>
                </a:solidFill>
                <a:latin typeface="Calibri"/>
              </a:rPr>
              <a:t>98 %</a:t>
            </a:r>
            <a:r>
              <a:rPr sz="1400" b="0" i="0">
                <a:solidFill>
                  <a:srgbClr val="1F2937"/>
                </a:solidFill>
                <a:latin typeface="Calibri"/>
              </a:rPr>
              <a:t> · adopté en production après A/B au niveau réponse (+1,3 pp support)</a:t>
            </a:r>
          </a:p>
          <a:p>
            <a:pPr>
              <a:lnSpc>
                <a:spcPct val="102000"/>
              </a:lnSpc>
              <a:spcAft>
                <a:spcPts val="400"/>
              </a:spcAft>
            </a:pPr>
            <a:r>
              <a:rPr sz="1250" b="0" i="0">
                <a:solidFill>
                  <a:srgbClr val="6B7280"/>
                </a:solidFill>
                <a:latin typeface="Calibri"/>
              </a:rPr>
              <a:t>    –  </a:t>
            </a:r>
            <a:r>
              <a:rPr sz="1250" b="0" i="0">
                <a:solidFill>
                  <a:srgbClr val="374151"/>
                </a:solidFill>
                <a:latin typeface="Calibri"/>
              </a:rPr>
              <a:t>sonde « original » : la formulation brute de l'utilisateur vote aussi (une question française mal réécrite remontait la page preuve du rang 9 au rang 2)</a:t>
            </a:r>
          </a:p>
          <a:p>
            <a:pPr>
              <a:lnSpc>
                <a:spcPct val="102000"/>
              </a:lnSpc>
              <a:spcAft>
                <a:spcPts val="600"/>
              </a:spcAft>
            </a:pPr>
            <a:r>
              <a:rPr sz="1400" b="1" i="0">
                <a:solidFill>
                  <a:srgbClr val="16A34A"/>
                </a:solidFill>
                <a:latin typeface="Calibri"/>
              </a:rPr>
              <a:t>▪  </a:t>
            </a:r>
            <a:r>
              <a:rPr sz="1400" b="1" i="0">
                <a:solidFill>
                  <a:srgbClr val="1F2937"/>
                </a:solidFill>
                <a:latin typeface="Calibri"/>
              </a:rPr>
              <a:t>probe_pages()</a:t>
            </a:r>
            <a:r>
              <a:rPr sz="1400" b="0" i="0">
                <a:solidFill>
                  <a:srgbClr val="1F2937"/>
                </a:solidFill>
                <a:latin typeface="Calibri"/>
              </a:rPr>
              <a:t> : requête supplémentaire « cette page de ce document » — sert les pages de conflit du registre (14/14 récupérées après correction, contre 8/14 pendant cinq releases)</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Robertson &amp; Zaragoza 2009 (BM25) · Karpukhin et al. 2020 (DPR) · Cormack et al. 2009 (RRF) · Nogueira &amp; Cho 2019 (reranking neuronal) — l'état de l'art hybride, chaque brique validée par une mesure locale.</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 · LA PLATEFORME</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Compréhension de la requête — conducteur et décomposition</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40480"/>
          </a:xfrm>
          <a:prstGeom prst="rect">
            <a:avLst/>
          </a:prstGeom>
          <a:noFill/>
        </p:spPr>
        <p:txBody>
          <a:bodyPr wrap="square">
            <a:spAutoFit/>
          </a:bodyPr>
          <a:lstStyle/>
          <a:p>
            <a:pPr>
              <a:lnSpc>
                <a:spcPct val="102000"/>
              </a:lnSpc>
              <a:spcAft>
                <a:spcPts val="600"/>
              </a:spcAft>
            </a:pPr>
            <a:r>
              <a:rPr sz="1450" b="1" i="0">
                <a:solidFill>
                  <a:srgbClr val="16A34A"/>
                </a:solidFill>
                <a:latin typeface="Calibri"/>
              </a:rPr>
              <a:t>▪  </a:t>
            </a:r>
            <a:r>
              <a:rPr sz="1450" b="1" i="0">
                <a:solidFill>
                  <a:srgbClr val="1F2937"/>
                </a:solidFill>
                <a:latin typeface="Calibri"/>
              </a:rPr>
              <a:t>Conducteur</a:t>
            </a:r>
            <a:r>
              <a:rPr sz="1450" b="0" i="0">
                <a:solidFill>
                  <a:srgbClr val="1F2937"/>
                </a:solidFill>
                <a:latin typeface="Calibri"/>
              </a:rPr>
              <a:t> (1 appel JSON, 300 tokens) : décide </a:t>
            </a:r>
            <a:r>
              <a:rPr sz="1450" b="1" i="0">
                <a:solidFill>
                  <a:srgbClr val="1F2937"/>
                </a:solidFill>
                <a:latin typeface="Calibri"/>
              </a:rPr>
              <a:t>chat vs retrieve</a:t>
            </a:r>
            <a:r>
              <a:rPr sz="1450" b="0" i="0">
                <a:solidFill>
                  <a:srgbClr val="1F2937"/>
                </a:solidFill>
                <a:latin typeface="Calibri"/>
              </a:rPr>
              <a:t>, émet 1 à 6 requêtes anglaises, résout les pronoms — 4 règles ordonnées, « </a:t>
            </a:r>
            <a:r>
              <a:rPr sz="1450" b="1" i="0">
                <a:solidFill>
                  <a:srgbClr val="1F2937"/>
                </a:solidFill>
                <a:latin typeface="Calibri"/>
              </a:rPr>
              <a:t>dans le doute, récupérer</a:t>
            </a:r>
            <a:r>
              <a:rPr sz="1450" b="0" i="0">
                <a:solidFill>
                  <a:srgbClr val="1F2937"/>
                </a:solidFill>
                <a:latin typeface="Calibri"/>
              </a:rPr>
              <a:t> »</a:t>
            </a:r>
          </a:p>
          <a:p>
            <a:pPr>
              <a:lnSpc>
                <a:spcPct val="102000"/>
              </a:lnSpc>
              <a:spcAft>
                <a:spcPts val="400"/>
              </a:spcAft>
            </a:pPr>
            <a:r>
              <a:rPr sz="1300" b="0" i="0">
                <a:solidFill>
                  <a:srgbClr val="6B7280"/>
                </a:solidFill>
                <a:latin typeface="Calibri"/>
              </a:rPr>
              <a:t>    –  </a:t>
            </a:r>
            <a:r>
              <a:rPr sz="1300" b="0" i="0">
                <a:solidFill>
                  <a:srgbClr val="374151"/>
                </a:solidFill>
                <a:latin typeface="Calibri"/>
              </a:rPr>
              <a:t>voit les 6 derniers messages (tronqués) + la liste des documents cités — la troncature d'historique qui « mangeait » les citations a été un bug corrigé et testé</a:t>
            </a:r>
          </a:p>
          <a:p>
            <a:pPr>
              <a:lnSpc>
                <a:spcPct val="102000"/>
              </a:lnSpc>
              <a:spcAft>
                <a:spcPts val="600"/>
              </a:spcAft>
            </a:pPr>
            <a:r>
              <a:rPr sz="1450" b="1" i="0">
                <a:solidFill>
                  <a:srgbClr val="16A34A"/>
                </a:solidFill>
                <a:latin typeface="Calibri"/>
              </a:rPr>
              <a:t>▪  </a:t>
            </a:r>
            <a:r>
              <a:rPr sz="1450" b="1" i="0">
                <a:solidFill>
                  <a:srgbClr val="1F2937"/>
                </a:solidFill>
                <a:latin typeface="Calibri"/>
              </a:rPr>
              <a:t>Décomposition multi-document</a:t>
            </a:r>
            <a:r>
              <a:rPr sz="1450" b="0" i="0">
                <a:solidFill>
                  <a:srgbClr val="1F2937"/>
                </a:solidFill>
                <a:latin typeface="Calibri"/>
              </a:rPr>
              <a:t> : une requête par entité, étiquetée par document, quota de récupération par document, fusion round-robin plafonnée à 15 extraits</a:t>
            </a:r>
          </a:p>
          <a:p>
            <a:pPr>
              <a:lnSpc>
                <a:spcPct val="102000"/>
              </a:lnSpc>
              <a:spcAft>
                <a:spcPts val="400"/>
              </a:spcAft>
            </a:pPr>
            <a:r>
              <a:rPr sz="1300" b="0" i="0">
                <a:solidFill>
                  <a:srgbClr val="6B7280"/>
                </a:solidFill>
                <a:latin typeface="Calibri"/>
              </a:rPr>
              <a:t>    –  </a:t>
            </a:r>
            <a:r>
              <a:rPr sz="1300" b="0" i="0">
                <a:solidFill>
                  <a:srgbClr val="374151"/>
                </a:solidFill>
                <a:latin typeface="Calibri"/>
              </a:rPr>
              <a:t>résultat mesuré : les sources passent de 1 document à 4–5 sur les comparaisons ; « quel est le plus gros budget ? » cesse d'être servi par un seul document</a:t>
            </a:r>
          </a:p>
          <a:p>
            <a:pPr>
              <a:lnSpc>
                <a:spcPct val="102000"/>
              </a:lnSpc>
              <a:spcAft>
                <a:spcPts val="600"/>
              </a:spcAft>
            </a:pPr>
            <a:r>
              <a:rPr sz="1450" b="1" i="0">
                <a:solidFill>
                  <a:srgbClr val="16A34A"/>
                </a:solidFill>
                <a:latin typeface="Calibri"/>
              </a:rPr>
              <a:t>▪  </a:t>
            </a:r>
            <a:r>
              <a:rPr sz="1450" b="1" i="0">
                <a:solidFill>
                  <a:srgbClr val="1F2937"/>
                </a:solidFill>
                <a:latin typeface="Calibri"/>
              </a:rPr>
              <a:t>Garde FP-miss</a:t>
            </a:r>
            <a:r>
              <a:rPr sz="1450" b="0" i="0">
                <a:solidFill>
                  <a:srgbClr val="1F2937"/>
                </a:solidFill>
                <a:latin typeface="Calibri"/>
              </a:rPr>
              <a:t> : tout identifiant absent du registre → réponse déterministe « FP999 n'existe pas dans ce corpus (273 documents) », avant tout appel de génération</a:t>
            </a:r>
          </a:p>
          <a:p>
            <a:pPr>
              <a:lnSpc>
                <a:spcPct val="102000"/>
              </a:lnSpc>
              <a:spcAft>
                <a:spcPts val="600"/>
              </a:spcAft>
            </a:pPr>
            <a:r>
              <a:rPr sz="1450" b="1" i="0">
                <a:solidFill>
                  <a:srgbClr val="16A34A"/>
                </a:solidFill>
                <a:latin typeface="Calibri"/>
              </a:rPr>
              <a:t>▪  </a:t>
            </a:r>
            <a:r>
              <a:rPr sz="1450" b="1" i="0">
                <a:solidFill>
                  <a:srgbClr val="1F2937"/>
                </a:solidFill>
                <a:latin typeface="Calibri"/>
              </a:rPr>
              <a:t>Scope fence</a:t>
            </a:r>
            <a:r>
              <a:rPr sz="1450" b="0" i="0">
                <a:solidFill>
                  <a:srgbClr val="1F2937"/>
                </a:solidFill>
                <a:latin typeface="Calibri"/>
              </a:rPr>
              <a:t> en mode chat : recettes, actualité, code → refus poli ; le système reste un outil documentaire</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Press et al. 2022 (Self-Ask) ; réécriture conversationnelle (condensation d'historique) — décomposer la question plutôt qu'espérer qu'une requête unique serve N documents ; intersection directe avec le QA multi-hop.</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 · LA PLATEFORME</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Le registre de faits — la moitié symbolique</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794760"/>
          </a:xfrm>
          <a:prstGeom prst="rect">
            <a:avLst/>
          </a:prstGeom>
          <a:noFill/>
        </p:spPr>
        <p:txBody>
          <a:bodyPr wrap="square">
            <a:spAutoFit/>
          </a:bodyPr>
          <a:lstStyle/>
          <a:p>
            <a:pPr>
              <a:lnSpc>
                <a:spcPct val="102000"/>
              </a:lnSpc>
              <a:spcAft>
                <a:spcPts val="600"/>
              </a:spcAft>
            </a:pPr>
            <a:r>
              <a:rPr sz="1400" b="1" i="0">
                <a:solidFill>
                  <a:srgbClr val="16A34A"/>
                </a:solidFill>
                <a:latin typeface="Calibri"/>
              </a:rPr>
              <a:t>▪  </a:t>
            </a:r>
            <a:r>
              <a:rPr sz="1400" b="1" i="0">
                <a:solidFill>
                  <a:srgbClr val="1F2937"/>
                </a:solidFill>
                <a:latin typeface="Calibri"/>
              </a:rPr>
              <a:t>registry v2</a:t>
            </a:r>
            <a:r>
              <a:rPr sz="1400" b="0" i="0">
                <a:solidFill>
                  <a:srgbClr val="1F2937"/>
                </a:solidFill>
                <a:latin typeface="Calibri"/>
              </a:rPr>
              <a:t> : pour chaque document, des </a:t>
            </a:r>
            <a:r>
              <a:rPr sz="1400" b="1" i="0">
                <a:solidFill>
                  <a:srgbClr val="1F2937"/>
                </a:solidFill>
                <a:latin typeface="Calibri"/>
              </a:rPr>
              <a:t>candidats de faits avec provenance</a:t>
            </a:r>
            <a:r>
              <a:rPr sz="1400" b="0" i="0">
                <a:solidFill>
                  <a:srgbClr val="1F2937"/>
                </a:solidFill>
                <a:latin typeface="Calibri"/>
              </a:rPr>
              <a:t> — texte brut, valeur normalisée, devise, page, section, statut (canonique / en conflit) ; </a:t>
            </a:r>
            <a:r>
              <a:rPr sz="1400" b="1" i="0">
                <a:solidFill>
                  <a:srgbClr val="1F2937"/>
                </a:solidFill>
                <a:latin typeface="Calibri"/>
              </a:rPr>
              <a:t>3 785 candidats</a:t>
            </a:r>
            <a:r>
              <a:rPr sz="1400" b="0" i="0">
                <a:solidFill>
                  <a:srgbClr val="1F2937"/>
                </a:solidFill>
                <a:latin typeface="Calibri"/>
              </a:rPr>
              <a:t> sur 273 documents</a:t>
            </a:r>
          </a:p>
          <a:p>
            <a:pPr>
              <a:lnSpc>
                <a:spcPct val="102000"/>
              </a:lnSpc>
              <a:spcAft>
                <a:spcPts val="400"/>
              </a:spcAft>
            </a:pPr>
            <a:r>
              <a:rPr sz="1250" b="0" i="0">
                <a:solidFill>
                  <a:srgbClr val="6B7280"/>
                </a:solidFill>
                <a:latin typeface="Calibri"/>
              </a:rPr>
              <a:t>    –  </a:t>
            </a:r>
            <a:r>
              <a:rPr sz="1250" b="0" i="0">
                <a:solidFill>
                  <a:srgbClr val="374151"/>
                </a:solidFill>
                <a:latin typeface="Calibri"/>
              </a:rPr>
              <a:t>construction : passe </a:t>
            </a:r>
            <a:r>
              <a:rPr sz="1250" b="1" i="0">
                <a:solidFill>
                  <a:srgbClr val="374151"/>
                </a:solidFill>
                <a:latin typeface="Calibri"/>
              </a:rPr>
              <a:t>déterministe</a:t>
            </a:r>
            <a:r>
              <a:rPr sz="1250" b="0" i="0">
                <a:solidFill>
                  <a:srgbClr val="374151"/>
                </a:solidFill>
                <a:latin typeface="Calibri"/>
              </a:rPr>
              <a:t> par gabarits (18 s sur tout le corpus) → repli LLM plafonné, chaque chaîne vérifiée </a:t>
            </a:r>
            <a:r>
              <a:rPr sz="1250" b="1" i="0">
                <a:solidFill>
                  <a:srgbClr val="374151"/>
                </a:solidFill>
                <a:latin typeface="Calibri"/>
              </a:rPr>
              <a:t>sous-chaîne littérale</a:t>
            </a:r>
            <a:r>
              <a:rPr sz="1250" b="0" i="0">
                <a:solidFill>
                  <a:srgbClr val="374151"/>
                </a:solidFill>
                <a:latin typeface="Calibri"/>
              </a:rPr>
              <a:t> de sa page citée → décisions ratifiées (117 corrections, 51 absences confirmées)</a:t>
            </a:r>
          </a:p>
          <a:p>
            <a:pPr>
              <a:lnSpc>
                <a:spcPct val="102000"/>
              </a:lnSpc>
              <a:spcAft>
                <a:spcPts val="400"/>
              </a:spcAft>
            </a:pPr>
            <a:r>
              <a:rPr sz="1250" b="0" i="0">
                <a:solidFill>
                  <a:srgbClr val="6B7280"/>
                </a:solidFill>
                <a:latin typeface="Calibri"/>
              </a:rPr>
              <a:t>    –  </a:t>
            </a:r>
            <a:r>
              <a:rPr sz="1250" b="1" i="0">
                <a:solidFill>
                  <a:srgbClr val="374151"/>
                </a:solidFill>
                <a:latin typeface="Calibri"/>
              </a:rPr>
              <a:t>vérification croisée entre extracteurs</a:t>
            </a:r>
            <a:r>
              <a:rPr sz="1250" b="0" i="0">
                <a:solidFill>
                  <a:srgbClr val="374151"/>
                </a:solidFill>
                <a:latin typeface="Calibri"/>
              </a:rPr>
              <a:t> (VLM vs PyMuPDF) : « deux extracteurs en désaccord sur un chiffre, c'est le signal le moins cher qu'un des deux l'a inventé »</a:t>
            </a:r>
          </a:p>
          <a:p>
            <a:pPr>
              <a:lnSpc>
                <a:spcPct val="102000"/>
              </a:lnSpc>
              <a:spcAft>
                <a:spcPts val="600"/>
              </a:spcAft>
            </a:pPr>
            <a:r>
              <a:rPr sz="1400" b="1" i="0">
                <a:solidFill>
                  <a:srgbClr val="16A34A"/>
                </a:solidFill>
                <a:latin typeface="Calibri"/>
              </a:rPr>
              <a:t>▪  </a:t>
            </a:r>
            <a:r>
              <a:rPr sz="1400" b="1" i="0">
                <a:solidFill>
                  <a:srgbClr val="1F2937"/>
                </a:solidFill>
                <a:latin typeface="Calibri"/>
              </a:rPr>
              <a:t>210 conflits internes</a:t>
            </a:r>
            <a:r>
              <a:rPr sz="1400" b="0" i="0">
                <a:solidFill>
                  <a:srgbClr val="1F2937"/>
                </a:solidFill>
                <a:latin typeface="Calibri"/>
              </a:rPr>
              <a:t> détectés dans 120 documents → jamais tranchés en silence : la note imprime </a:t>
            </a:r>
            <a:r>
              <a:rPr sz="1400" b="1" i="0">
                <a:solidFill>
                  <a:srgbClr val="1F2937"/>
                </a:solidFill>
                <a:latin typeface="Calibri"/>
              </a:rPr>
              <a:t>les deux valeurs avec leurs pages</a:t>
            </a:r>
          </a:p>
          <a:p>
            <a:pPr>
              <a:lnSpc>
                <a:spcPct val="102000"/>
              </a:lnSpc>
              <a:spcAft>
                <a:spcPts val="600"/>
              </a:spcAft>
            </a:pPr>
            <a:r>
              <a:rPr sz="1400" b="1" i="0">
                <a:solidFill>
                  <a:srgbClr val="16A34A"/>
                </a:solidFill>
                <a:latin typeface="Calibri"/>
              </a:rPr>
              <a:t>▪  </a:t>
            </a:r>
            <a:r>
              <a:rPr sz="1400" b="1" i="0">
                <a:solidFill>
                  <a:srgbClr val="1F2937"/>
                </a:solidFill>
                <a:latin typeface="Calibri"/>
              </a:rPr>
              <a:t>Au service du tour</a:t>
            </a:r>
            <a:r>
              <a:rPr sz="1400" b="0" i="0">
                <a:solidFill>
                  <a:srgbClr val="1F2937"/>
                </a:solidFill>
                <a:latin typeface="Calibri"/>
              </a:rPr>
              <a:t> : notes déclenchées (identifiants, années, pays, entités, extrema), listes tronquées </a:t>
            </a:r>
            <a:r>
              <a:rPr sz="1400" b="1" i="0">
                <a:solidFill>
                  <a:srgbClr val="1F2937"/>
                </a:solidFill>
                <a:latin typeface="Calibri"/>
              </a:rPr>
              <a:t>honnêtement</a:t>
            </a:r>
            <a:r>
              <a:rPr sz="1400" b="0" i="0">
                <a:solidFill>
                  <a:srgbClr val="1F2937"/>
                </a:solidFill>
                <a:latin typeface="Calibri"/>
              </a:rPr>
              <a:t> (« 5 sur 44 — liste tronquée »), index inverses (126 graphies → 69 entités canoniques)</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RAG « modulaire » avec magasin structuré (Gao et al. 2023) et esprit neuro-symbolique : le déterministe d'abord, le LLM en repli vérifié — et une provenance de niveau base de données, rare dans les systèmes RAG publiés.</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 · LA PLATEFORME</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Le planificateur de comparaisons — matrices document × champ</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40480"/>
          </a:xfrm>
          <a:prstGeom prst="rect">
            <a:avLst/>
          </a:prstGeom>
          <a:noFill/>
        </p:spPr>
        <p:txBody>
          <a:bodyPr wrap="square">
            <a:spAutoFit/>
          </a:bodyPr>
          <a:lstStyle/>
          <a:p>
            <a:pPr>
              <a:lnSpc>
                <a:spcPct val="102000"/>
              </a:lnSpc>
              <a:spcAft>
                <a:spcPts val="600"/>
              </a:spcAft>
            </a:pPr>
            <a:r>
              <a:rPr sz="1450" b="1" i="0">
                <a:solidFill>
                  <a:srgbClr val="16A34A"/>
                </a:solidFill>
                <a:latin typeface="Calibri"/>
              </a:rPr>
              <a:t>▪  </a:t>
            </a:r>
            <a:r>
              <a:rPr sz="1450" b="1" i="0">
                <a:solidFill>
                  <a:srgbClr val="1F2937"/>
                </a:solidFill>
                <a:latin typeface="Calibri"/>
              </a:rPr>
              <a:t>Déclenchement</a:t>
            </a:r>
            <a:r>
              <a:rPr sz="1450" b="0" i="0">
                <a:solidFill>
                  <a:srgbClr val="1F2937"/>
                </a:solidFill>
                <a:latin typeface="Calibri"/>
              </a:rPr>
              <a:t> : ≥ 2 identifiants + intention comparative (regex FR/EN) — les questions simples restent au conducteur</a:t>
            </a:r>
          </a:p>
          <a:p>
            <a:pPr>
              <a:lnSpc>
                <a:spcPct val="102000"/>
              </a:lnSpc>
              <a:spcAft>
                <a:spcPts val="600"/>
              </a:spcAft>
            </a:pPr>
            <a:r>
              <a:rPr sz="1450" b="1" i="0">
                <a:solidFill>
                  <a:srgbClr val="16A34A"/>
                </a:solidFill>
                <a:latin typeface="Calibri"/>
              </a:rPr>
              <a:t>▪  </a:t>
            </a:r>
            <a:r>
              <a:rPr sz="1450" b="1" i="0">
                <a:solidFill>
                  <a:srgbClr val="1F2937"/>
                </a:solidFill>
                <a:latin typeface="Calibri"/>
              </a:rPr>
              <a:t>Matrice de preuves</a:t>
            </a:r>
            <a:r>
              <a:rPr sz="1450" b="0" i="0">
                <a:solidFill>
                  <a:srgbClr val="1F2937"/>
                </a:solidFill>
                <a:latin typeface="Calibri"/>
              </a:rPr>
              <a:t> : lignes = documents, colonnes = champs demandés (18 champs mappés par mots-clés FR/EN accent-insensibles)</a:t>
            </a:r>
          </a:p>
          <a:p>
            <a:pPr>
              <a:lnSpc>
                <a:spcPct val="102000"/>
              </a:lnSpc>
              <a:spcAft>
                <a:spcPts val="400"/>
              </a:spcAft>
            </a:pPr>
            <a:r>
              <a:rPr sz="1300" b="0" i="0">
                <a:solidFill>
                  <a:srgbClr val="6B7280"/>
                </a:solidFill>
                <a:latin typeface="Calibri"/>
              </a:rPr>
              <a:t>    –  </a:t>
            </a:r>
            <a:r>
              <a:rPr sz="1300" b="0" i="0">
                <a:solidFill>
                  <a:srgbClr val="374151"/>
                </a:solidFill>
                <a:latin typeface="Calibri"/>
              </a:rPr>
              <a:t>chaque cellule porte un statut : </a:t>
            </a:r>
            <a:r>
              <a:rPr sz="1300" b="1" i="0">
                <a:solidFill>
                  <a:srgbClr val="374151"/>
                </a:solidFill>
                <a:latin typeface="Calibri"/>
              </a:rPr>
              <a:t>stated / contradictory / retrieved / missing / missing-document</a:t>
            </a:r>
            <a:r>
              <a:rPr sz="1300" b="0" i="0">
                <a:solidFill>
                  <a:srgbClr val="374151"/>
                </a:solidFill>
                <a:latin typeface="Calibri"/>
              </a:rPr>
              <a:t> — « il n'y a délibérément pas de statut calculated : ce module ne calcule jamais entre cellules »</a:t>
            </a:r>
          </a:p>
          <a:p>
            <a:pPr>
              <a:lnSpc>
                <a:spcPct val="102000"/>
              </a:lnSpc>
              <a:spcAft>
                <a:spcPts val="600"/>
              </a:spcAft>
            </a:pPr>
            <a:r>
              <a:rPr sz="1450" b="1" i="0">
                <a:solidFill>
                  <a:srgbClr val="16A34A"/>
                </a:solidFill>
                <a:latin typeface="Calibri"/>
              </a:rPr>
              <a:t>▪  </a:t>
            </a:r>
            <a:r>
              <a:rPr sz="1450" b="1" i="0">
                <a:solidFill>
                  <a:srgbClr val="1F2937"/>
                </a:solidFill>
                <a:latin typeface="Calibri"/>
              </a:rPr>
              <a:t>Comparabilité</a:t>
            </a:r>
            <a:r>
              <a:rPr sz="1450" b="0" i="0">
                <a:solidFill>
                  <a:srgbClr val="1F2937"/>
                </a:solidFill>
                <a:latin typeface="Calibri"/>
              </a:rPr>
              <a:t> : par champ numérique, une section COMPARABILITY — jamais de classement entre devises différentes ; le modèle doit adresser </a:t>
            </a:r>
            <a:r>
              <a:rPr sz="1450" b="1" i="0">
                <a:solidFill>
                  <a:srgbClr val="1F2937"/>
                </a:solidFill>
                <a:latin typeface="Calibri"/>
              </a:rPr>
              <a:t>chaque ligne</a:t>
            </a:r>
            <a:r>
              <a:rPr sz="1450" b="0" i="0">
                <a:solidFill>
                  <a:srgbClr val="1F2937"/>
                </a:solidFill>
                <a:latin typeface="Calibri"/>
              </a:rPr>
              <a:t> de la matrice</a:t>
            </a:r>
          </a:p>
          <a:p>
            <a:pPr>
              <a:lnSpc>
                <a:spcPct val="102000"/>
              </a:lnSpc>
              <a:spcAft>
                <a:spcPts val="600"/>
              </a:spcAft>
            </a:pPr>
            <a:r>
              <a:rPr sz="1450" b="1" i="0">
                <a:solidFill>
                  <a:srgbClr val="16A34A"/>
                </a:solidFill>
                <a:latin typeface="Calibri"/>
              </a:rPr>
              <a:t>▪  </a:t>
            </a:r>
            <a:r>
              <a:rPr sz="1450" b="1" i="0">
                <a:solidFill>
                  <a:srgbClr val="1F2937"/>
                </a:solidFill>
                <a:latin typeface="Calibri"/>
              </a:rPr>
              <a:t>Priorité des autorités</a:t>
            </a:r>
            <a:r>
              <a:rPr sz="1450" b="0" i="0">
                <a:solidFill>
                  <a:srgbClr val="1F2937"/>
                </a:solidFill>
                <a:latin typeface="Calibri"/>
              </a:rPr>
              <a:t> : une ligne Registry pour un fait bat la cellule récupérée ; les conflits internes restent visibles dans la matrice</a:t>
            </a:r>
          </a:p>
          <a:p>
            <a:pPr>
              <a:lnSpc>
                <a:spcPct val="102000"/>
              </a:lnSpc>
              <a:spcAft>
                <a:spcPts val="600"/>
              </a:spcAft>
            </a:pPr>
            <a:r>
              <a:rPr sz="1450" b="1" i="0">
                <a:solidFill>
                  <a:srgbClr val="16A34A"/>
                </a:solidFill>
                <a:latin typeface="Calibri"/>
              </a:rPr>
              <a:t>▪  </a:t>
            </a:r>
            <a:r>
              <a:rPr sz="1450" b="1" i="0">
                <a:solidFill>
                  <a:srgbClr val="1F2937"/>
                </a:solidFill>
                <a:latin typeface="Calibri"/>
              </a:rPr>
              <a:t>Mesure</a:t>
            </a:r>
            <a:r>
              <a:rPr sz="1450" b="0" i="0">
                <a:solidFill>
                  <a:srgbClr val="1F2937"/>
                </a:solidFill>
                <a:latin typeface="Calibri"/>
              </a:rPr>
              <a:t> : les comparaisons à 2–4 documents rendent des réponses par élément, chiffre par chiffre cité — le cas « €118,08 M / $82 M / aucun chiffre déclaré » rendu correctement par document</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QA comparatif et multi-hop (littérature de la décomposition) — ici la comparaison devient un artefact auditable (la matrice) plutôt qu'un raisonnement opaque délégué au modèle.</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 · LA PLATEFORME</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L'assemblage du prompt — des blocs sous budget</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86200"/>
          </a:xfrm>
          <a:prstGeom prst="rect">
            <a:avLst/>
          </a:prstGeom>
          <a:noFill/>
        </p:spPr>
        <p:txBody>
          <a:bodyPr wrap="square">
            <a:spAutoFit/>
          </a:bodyPr>
          <a:lstStyle/>
          <a:p>
            <a:pPr>
              <a:lnSpc>
                <a:spcPct val="102000"/>
              </a:lnSpc>
              <a:spcAft>
                <a:spcPts val="600"/>
              </a:spcAft>
            </a:pPr>
            <a:r>
              <a:rPr sz="1400" b="1" i="0">
                <a:solidFill>
                  <a:srgbClr val="16A34A"/>
                </a:solidFill>
                <a:latin typeface="Calibri"/>
              </a:rPr>
              <a:t>▪  </a:t>
            </a:r>
            <a:r>
              <a:rPr sz="1400" b="1" i="0">
                <a:solidFill>
                  <a:srgbClr val="1F2937"/>
                </a:solidFill>
                <a:latin typeface="Calibri"/>
              </a:rPr>
              <a:t>Constat mesuré (3×)</a:t>
            </a:r>
            <a:r>
              <a:rPr sz="1400" b="0" i="0">
                <a:solidFill>
                  <a:srgbClr val="1F2937"/>
                </a:solidFill>
                <a:latin typeface="Calibri"/>
              </a:rPr>
              <a:t> : dans un long prompt, le modèle </a:t>
            </a:r>
            <a:r>
              <a:rPr sz="1400" b="1" i="0">
                <a:solidFill>
                  <a:srgbClr val="1F2937"/>
                </a:solidFill>
                <a:latin typeface="Calibri"/>
              </a:rPr>
              <a:t>laisse tomber des règles procédurales</a:t>
            </a:r>
            <a:r>
              <a:rPr sz="1400" b="0" i="0">
                <a:solidFill>
                  <a:srgbClr val="1F2937"/>
                </a:solidFill>
                <a:latin typeface="Calibri"/>
              </a:rPr>
              <a:t> → le prompt système est assemblé </a:t>
            </a:r>
            <a:r>
              <a:rPr sz="1400" b="1" i="0">
                <a:solidFill>
                  <a:srgbClr val="1F2937"/>
                </a:solidFill>
                <a:latin typeface="Calibri"/>
              </a:rPr>
              <a:t>par tour</a:t>
            </a:r>
            <a:r>
              <a:rPr sz="1400" b="0" i="0">
                <a:solidFill>
                  <a:srgbClr val="1F2937"/>
                </a:solidFill>
                <a:latin typeface="Calibri"/>
              </a:rPr>
              <a:t>, chaque bloc derrière son déclencheur</a:t>
            </a:r>
          </a:p>
          <a:p>
            <a:pPr>
              <a:lnSpc>
                <a:spcPct val="102000"/>
              </a:lnSpc>
              <a:spcAft>
                <a:spcPts val="400"/>
              </a:spcAft>
            </a:pPr>
            <a:r>
              <a:rPr sz="1250" b="0" i="0">
                <a:solidFill>
                  <a:srgbClr val="6B7280"/>
                </a:solidFill>
                <a:latin typeface="Calibri"/>
              </a:rPr>
              <a:t>    –  </a:t>
            </a:r>
            <a:r>
              <a:rPr sz="1250" b="0" i="0">
                <a:solidFill>
                  <a:srgbClr val="374151"/>
                </a:solidFill>
                <a:latin typeface="Calibri"/>
              </a:rPr>
              <a:t>CORE (toujours) · COMPARISON · MATRIX · YEAR (table conseils→années) · REGISTRY · CONTEXT · directive de langue (détection par code, toujours en dernier)</a:t>
            </a:r>
          </a:p>
          <a:p>
            <a:pPr>
              <a:lnSpc>
                <a:spcPct val="102000"/>
              </a:lnSpc>
              <a:spcAft>
                <a:spcPts val="600"/>
              </a:spcAft>
            </a:pPr>
            <a:r>
              <a:rPr sz="1400" b="1" i="0">
                <a:solidFill>
                  <a:srgbClr val="16A34A"/>
                </a:solidFill>
                <a:latin typeface="Calibri"/>
              </a:rPr>
              <a:t>▪  </a:t>
            </a:r>
            <a:r>
              <a:rPr sz="1400" b="1" i="0">
                <a:solidFill>
                  <a:srgbClr val="1F2937"/>
                </a:solidFill>
                <a:latin typeface="Calibri"/>
              </a:rPr>
              <a:t>Budget épinglé par test : 5 000 caractères</a:t>
            </a:r>
            <a:r>
              <a:rPr sz="1400" b="0" i="0">
                <a:solidFill>
                  <a:srgbClr val="1F2937"/>
                </a:solidFill>
                <a:latin typeface="Calibri"/>
              </a:rPr>
              <a:t> pour la plus grande variante — une règle nouvelle </a:t>
            </a:r>
            <a:r>
              <a:rPr sz="1400" b="1" i="0">
                <a:solidFill>
                  <a:srgbClr val="1F2937"/>
                </a:solidFill>
                <a:latin typeface="Calibri"/>
              </a:rPr>
              <a:t>déplace</a:t>
            </a:r>
            <a:r>
              <a:rPr sz="1400" b="0" i="0">
                <a:solidFill>
                  <a:srgbClr val="1F2937"/>
                </a:solidFill>
                <a:latin typeface="Calibri"/>
              </a:rPr>
              <a:t> une ancienne ou embarque derrière son propre déclencheur</a:t>
            </a:r>
          </a:p>
          <a:p>
            <a:pPr>
              <a:lnSpc>
                <a:spcPct val="102000"/>
              </a:lnSpc>
              <a:spcAft>
                <a:spcPts val="600"/>
              </a:spcAft>
            </a:pPr>
            <a:r>
              <a:rPr sz="1400" b="1" i="0">
                <a:solidFill>
                  <a:srgbClr val="16A34A"/>
                </a:solidFill>
                <a:latin typeface="Calibri"/>
              </a:rPr>
              <a:t>▪  </a:t>
            </a:r>
            <a:r>
              <a:rPr sz="1400" b="1" i="0">
                <a:solidFill>
                  <a:srgbClr val="1F2937"/>
                </a:solidFill>
                <a:latin typeface="Calibri"/>
              </a:rPr>
              <a:t>Règles de citation</a:t>
            </a:r>
            <a:r>
              <a:rPr sz="1400" b="0" i="0">
                <a:solidFill>
                  <a:srgbClr val="1F2937"/>
                </a:solidFill>
                <a:latin typeface="Calibri"/>
              </a:rPr>
              <a:t> : citer </a:t>
            </a:r>
            <a:r>
              <a:rPr sz="1400" b="1" i="0">
                <a:solidFill>
                  <a:srgbClr val="1F2937"/>
                </a:solidFill>
                <a:latin typeface="Calibri"/>
              </a:rPr>
              <a:t>à la phrase</a:t>
            </a:r>
            <a:r>
              <a:rPr sz="1400" b="0" i="0">
                <a:solidFill>
                  <a:srgbClr val="1F2937"/>
                </a:solidFill>
                <a:latin typeface="Calibri"/>
              </a:rPr>
              <a:t> (chaque puce, chaque ligne de tableau) ; « cite-or-hedge » ; les extraits sont un échantillon d'un corpus de 273 documents — jamais de superlatif corpus-entier</a:t>
            </a:r>
          </a:p>
          <a:p>
            <a:pPr>
              <a:lnSpc>
                <a:spcPct val="102000"/>
              </a:lnSpc>
              <a:spcAft>
                <a:spcPts val="400"/>
              </a:spcAft>
            </a:pPr>
            <a:r>
              <a:rPr sz="1250" b="0" i="0">
                <a:solidFill>
                  <a:srgbClr val="6B7280"/>
                </a:solidFill>
                <a:latin typeface="Calibri"/>
              </a:rPr>
              <a:t>    –  </a:t>
            </a:r>
            <a:r>
              <a:rPr sz="1250" b="0" i="0">
                <a:solidFill>
                  <a:srgbClr val="374151"/>
                </a:solidFill>
                <a:latin typeface="Calibri"/>
              </a:rPr>
              <a:t>hiérarchie explicite : </a:t>
            </a:r>
            <a:r>
              <a:rPr sz="1250" b="1" i="0">
                <a:solidFill>
                  <a:srgbClr val="374151"/>
                </a:solidFill>
                <a:latin typeface="Calibri"/>
              </a:rPr>
              <a:t>une citation sans page vaut mieux qu'une page devinée</a:t>
            </a:r>
            <a:r>
              <a:rPr sz="1250" b="0" i="0">
                <a:solidFill>
                  <a:srgbClr val="374151"/>
                </a:solidFill>
                <a:latin typeface="Calibri"/>
              </a:rPr>
              <a:t> (« une page inventée se lit comme de la précision »)</a:t>
            </a:r>
          </a:p>
          <a:p>
            <a:pPr>
              <a:lnSpc>
                <a:spcPct val="102000"/>
              </a:lnSpc>
              <a:spcAft>
                <a:spcPts val="600"/>
              </a:spcAft>
            </a:pPr>
            <a:r>
              <a:rPr sz="1400" b="1" i="0">
                <a:solidFill>
                  <a:srgbClr val="16A34A"/>
                </a:solidFill>
                <a:latin typeface="Calibri"/>
              </a:rPr>
              <a:t>▪  </a:t>
            </a:r>
            <a:r>
              <a:rPr sz="1400" b="1" i="0">
                <a:solidFill>
                  <a:srgbClr val="1F2937"/>
                </a:solidFill>
                <a:latin typeface="Calibri"/>
              </a:rPr>
              <a:t>CONTEXT_BLOCK</a:t>
            </a:r>
            <a:r>
              <a:rPr sz="1400" b="0" i="0">
                <a:solidFill>
                  <a:srgbClr val="1F2937"/>
                </a:solidFill>
                <a:latin typeface="Calibri"/>
              </a:rPr>
              <a:t> (dernier-né) : répondre au fait demandé </a:t>
            </a:r>
            <a:r>
              <a:rPr sz="1400" b="1" i="0">
                <a:solidFill>
                  <a:srgbClr val="1F2937"/>
                </a:solidFill>
                <a:latin typeface="Calibri"/>
              </a:rPr>
              <a:t>d'abord</a:t>
            </a:r>
            <a:r>
              <a:rPr sz="1400" b="0" i="0">
                <a:solidFill>
                  <a:srgbClr val="1F2937"/>
                </a:solidFill>
                <a:latin typeface="Calibri"/>
              </a:rPr>
              <a:t>, puis 2–3 phrases citées de contexte — jamais un montant non demandé ; embarqué uniquement quand registre sans comparaison/matrice</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ALCE (Gao et al. 2023) : générer avec citations ; dégradation du suivi d'instructions avec la longueur du prompt — le budget testé de 5 000 caractères transforme ce risque en tripwire de CI.</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 · LA PLATEFORME</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La génération d'une réponse — le tour complet</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40480"/>
          </a:xfrm>
          <a:prstGeom prst="rect">
            <a:avLst/>
          </a:prstGeom>
          <a:noFill/>
        </p:spPr>
        <p:txBody>
          <a:bodyPr wrap="square">
            <a:spAutoFit/>
          </a:bodyPr>
          <a:lstStyle/>
          <a:p>
            <a:pPr>
              <a:lnSpc>
                <a:spcPct val="102000"/>
              </a:lnSpc>
              <a:spcAft>
                <a:spcPts val="600"/>
              </a:spcAft>
            </a:pPr>
            <a:r>
              <a:rPr sz="1400" b="1" i="0">
                <a:solidFill>
                  <a:srgbClr val="16A34A"/>
                </a:solidFill>
                <a:latin typeface="Calibri"/>
              </a:rPr>
              <a:t>▪  </a:t>
            </a:r>
            <a:r>
              <a:rPr sz="1400" b="1" i="0">
                <a:solidFill>
                  <a:srgbClr val="1F2937"/>
                </a:solidFill>
                <a:latin typeface="Calibri"/>
              </a:rPr>
              <a:t>Au plus 3 appels gpt-5.2 par tour</a:t>
            </a:r>
            <a:r>
              <a:rPr sz="1400" b="0" i="0">
                <a:solidFill>
                  <a:srgbClr val="1F2937"/>
                </a:solidFill>
                <a:latin typeface="Calibri"/>
              </a:rPr>
              <a:t> : conducteur (JSON, 300 tokens) → réponse (streamée, non plafonnée) → juge du vérificateur (si activé)</a:t>
            </a:r>
          </a:p>
          <a:p>
            <a:pPr>
              <a:lnSpc>
                <a:spcPct val="102000"/>
              </a:lnSpc>
              <a:spcAft>
                <a:spcPts val="600"/>
              </a:spcAft>
            </a:pPr>
            <a:r>
              <a:rPr sz="1400" b="1" i="0">
                <a:solidFill>
                  <a:srgbClr val="16A34A"/>
                </a:solidFill>
                <a:latin typeface="Calibri"/>
              </a:rPr>
              <a:t>▪  </a:t>
            </a:r>
            <a:r>
              <a:rPr sz="1400" b="1" i="0">
                <a:solidFill>
                  <a:srgbClr val="1F2937"/>
                </a:solidFill>
                <a:latin typeface="Calibri"/>
              </a:rPr>
              <a:t>Isolation des preuves</a:t>
            </a:r>
            <a:r>
              <a:rPr sz="1400" b="0" i="0">
                <a:solidFill>
                  <a:srgbClr val="1F2937"/>
                </a:solidFill>
                <a:latin typeface="Calibri"/>
              </a:rPr>
              <a:t> : le modèle de réponse voit système + </a:t>
            </a:r>
            <a:r>
              <a:rPr sz="1400" b="1" i="0">
                <a:solidFill>
                  <a:srgbClr val="1F2937"/>
                </a:solidFill>
                <a:latin typeface="Calibri"/>
              </a:rPr>
              <a:t>un seul message utilisateur</a:t>
            </a:r>
            <a:r>
              <a:rPr sz="1400" b="0" i="0">
                <a:solidFill>
                  <a:srgbClr val="1F2937"/>
                </a:solidFill>
                <a:latin typeface="Calibri"/>
              </a:rPr>
              <a:t> — jamais l'historique</a:t>
            </a:r>
          </a:p>
          <a:p>
            <a:pPr>
              <a:lnSpc>
                <a:spcPct val="102000"/>
              </a:lnSpc>
              <a:spcAft>
                <a:spcPts val="400"/>
              </a:spcAft>
            </a:pPr>
            <a:r>
              <a:rPr sz="1250" b="0" i="0">
                <a:solidFill>
                  <a:srgbClr val="6B7280"/>
                </a:solidFill>
                <a:latin typeface="Calibri"/>
              </a:rPr>
              <a:t>    –  </a:t>
            </a:r>
            <a:r>
              <a:rPr sz="1250" b="0" i="0">
                <a:solidFill>
                  <a:srgbClr val="374151"/>
                </a:solidFill>
                <a:latin typeface="Calibri"/>
              </a:rPr>
              <a:t>leçon mesurée : le modèle relisait ses </a:t>
            </a:r>
            <a:r>
              <a:rPr sz="1250" b="1" i="0">
                <a:solidFill>
                  <a:srgbClr val="374151"/>
                </a:solidFill>
                <a:latin typeface="Calibri"/>
              </a:rPr>
              <a:t>anciennes réponses comme des preuves</a:t>
            </a:r>
            <a:r>
              <a:rPr sz="1250" b="0" i="0">
                <a:solidFill>
                  <a:srgbClr val="374151"/>
                </a:solidFill>
                <a:latin typeface="Calibri"/>
              </a:rPr>
              <a:t> (régression FP220 après FP254/FP248) — l'historique ne nourrit que le conducteur</a:t>
            </a:r>
          </a:p>
          <a:p>
            <a:pPr>
              <a:lnSpc>
                <a:spcPct val="102000"/>
              </a:lnSpc>
              <a:spcAft>
                <a:spcPts val="600"/>
              </a:spcAft>
            </a:pPr>
            <a:r>
              <a:rPr sz="1400" b="1" i="0">
                <a:solidFill>
                  <a:srgbClr val="16A34A"/>
                </a:solidFill>
                <a:latin typeface="Calibri"/>
              </a:rPr>
              <a:t>▪  </a:t>
            </a:r>
            <a:r>
              <a:rPr sz="1400" b="1" i="0">
                <a:solidFill>
                  <a:srgbClr val="1F2937"/>
                </a:solidFill>
                <a:latin typeface="Calibri"/>
              </a:rPr>
              <a:t>Ordre du contexte</a:t>
            </a:r>
            <a:r>
              <a:rPr sz="1400" b="0" i="0">
                <a:solidFill>
                  <a:srgbClr val="1F2937"/>
                </a:solidFill>
                <a:latin typeface="Calibri"/>
              </a:rPr>
              <a:t> : matrice → note registre → note signal-faible → notes année/conseil/couverture → extraits étiquetés [document] (score) ; les pages de conflit sont récupérées </a:t>
            </a:r>
            <a:r>
              <a:rPr sz="1400" b="1" i="0">
                <a:solidFill>
                  <a:srgbClr val="1F2937"/>
                </a:solidFill>
                <a:latin typeface="Calibri"/>
              </a:rPr>
              <a:t>par page</a:t>
            </a:r>
            <a:r>
              <a:rPr sz="1400" b="0" i="0">
                <a:solidFill>
                  <a:srgbClr val="1F2937"/>
                </a:solidFill>
                <a:latin typeface="Calibri"/>
              </a:rPr>
              <a:t> et étiquetées comme telles</a:t>
            </a:r>
          </a:p>
          <a:p>
            <a:pPr>
              <a:lnSpc>
                <a:spcPct val="102000"/>
              </a:lnSpc>
              <a:spcAft>
                <a:spcPts val="600"/>
              </a:spcAft>
            </a:pPr>
            <a:r>
              <a:rPr sz="1400" b="1" i="0">
                <a:solidFill>
                  <a:srgbClr val="16A34A"/>
                </a:solidFill>
                <a:latin typeface="Calibri"/>
              </a:rPr>
              <a:t>▪  </a:t>
            </a:r>
            <a:r>
              <a:rPr sz="1400" b="1" i="0">
                <a:solidFill>
                  <a:srgbClr val="1F2937"/>
                </a:solidFill>
                <a:latin typeface="Calibri"/>
              </a:rPr>
              <a:t>Après la réponse</a:t>
            </a:r>
            <a:r>
              <a:rPr sz="1400" b="0" i="0">
                <a:solidFill>
                  <a:srgbClr val="1F2937"/>
                </a:solidFill>
                <a:latin typeface="Calibri"/>
              </a:rPr>
              <a:t> : vérification, puis ligne de sources (pages citées d'abord), détection des </a:t>
            </a:r>
            <a:r>
              <a:rPr sz="1400" b="1" i="0">
                <a:solidFill>
                  <a:srgbClr val="1F2937"/>
                </a:solidFill>
                <a:latin typeface="Calibri"/>
              </a:rPr>
              <a:t>citations inventées</a:t>
            </a:r>
            <a:r>
              <a:rPr sz="1400" b="0" i="0">
                <a:solidFill>
                  <a:srgbClr val="1F2937"/>
                </a:solidFill>
                <a:latin typeface="Calibri"/>
              </a:rPr>
              <a:t> (parsing document-précédent-le-plus-proche), 3 instantanés de pages ancrés</a:t>
            </a:r>
          </a:p>
          <a:p>
            <a:pPr>
              <a:lnSpc>
                <a:spcPct val="102000"/>
              </a:lnSpc>
              <a:spcAft>
                <a:spcPts val="600"/>
              </a:spcAft>
            </a:pPr>
            <a:r>
              <a:rPr sz="1400" b="1" i="0">
                <a:solidFill>
                  <a:srgbClr val="16A34A"/>
                </a:solidFill>
                <a:latin typeface="Calibri"/>
              </a:rPr>
              <a:t>▪  </a:t>
            </a:r>
            <a:r>
              <a:rPr sz="1400" b="1" i="0">
                <a:solidFill>
                  <a:srgbClr val="1F2937"/>
                </a:solidFill>
                <a:latin typeface="Calibri"/>
              </a:rPr>
              <a:t>Langue</a:t>
            </a:r>
            <a:r>
              <a:rPr sz="1400" b="0" i="0">
                <a:solidFill>
                  <a:srgbClr val="1F2937"/>
                </a:solidFill>
                <a:latin typeface="Calibri"/>
              </a:rPr>
              <a:t> : détection par code — une question anglaise dans un fil français est répondue en anglais (défaut observé, corrigé, testé)</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Shuster et al. 2021 — la récupération réduit l'hallucination mais n'y suffit pas : l'isolation des preuves combat la contamination par l'historique, un mode d'échec documenté des systèmes conversationnels.</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51560"/>
            <a:ext cx="2377440" cy="1463040"/>
          </a:xfrm>
          <a:prstGeom prst="rect">
            <a:avLst/>
          </a:prstGeom>
          <a:noFill/>
        </p:spPr>
        <p:txBody>
          <a:bodyPr wrap="square">
            <a:spAutoFit/>
          </a:bodyPr>
          <a:lstStyle/>
          <a:p>
            <a:r>
              <a:rPr sz="8800" b="1" i="0">
                <a:solidFill>
                  <a:srgbClr val="16A34A"/>
                </a:solidFill>
                <a:latin typeface="Calibri"/>
              </a:rPr>
              <a:t>III</a:t>
            </a:r>
          </a:p>
        </p:txBody>
      </p:sp>
      <p:sp>
        <p:nvSpPr>
          <p:cNvPr id="4" name="TextBox 3"/>
          <p:cNvSpPr txBox="1"/>
          <p:nvPr/>
        </p:nvSpPr>
        <p:spPr>
          <a:xfrm>
            <a:off x="548640" y="2606040"/>
            <a:ext cx="10515600" cy="914400"/>
          </a:xfrm>
          <a:prstGeom prst="rect">
            <a:avLst/>
          </a:prstGeom>
          <a:noFill/>
        </p:spPr>
        <p:txBody>
          <a:bodyPr wrap="square">
            <a:spAutoFit/>
          </a:bodyPr>
          <a:lstStyle/>
          <a:p>
            <a:r>
              <a:rPr sz="3400" b="1" i="0">
                <a:solidFill>
                  <a:srgbClr val="FFFFFF"/>
                </a:solidFill>
                <a:latin typeface="Calibri"/>
              </a:rPr>
              <a:t>La qualité comme programme — vérifier, mesurer, auditer</a:t>
            </a:r>
          </a:p>
        </p:txBody>
      </p:sp>
      <p:sp>
        <p:nvSpPr>
          <p:cNvPr id="5" name="Rectangle 4"/>
          <p:cNvSpPr/>
          <p:nvPr/>
        </p:nvSpPr>
        <p:spPr>
          <a:xfrm>
            <a:off x="548640" y="3429000"/>
            <a:ext cx="2011680" cy="381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794760"/>
            <a:ext cx="10515600" cy="2194560"/>
          </a:xfrm>
          <a:prstGeom prst="rect">
            <a:avLst/>
          </a:prstGeom>
          <a:noFill/>
        </p:spPr>
        <p:txBody>
          <a:bodyPr wrap="square">
            <a:spAutoFit/>
          </a:bodyPr>
          <a:lstStyle/>
          <a:p>
            <a:pPr>
              <a:spcAft>
                <a:spcPts val="800"/>
              </a:spcAft>
            </a:pPr>
            <a:r>
              <a:rPr sz="1500" b="1" i="0">
                <a:solidFill>
                  <a:srgbClr val="16A34A"/>
                </a:solidFill>
                <a:latin typeface="Calibri"/>
              </a:rPr>
              <a:t>—  </a:t>
            </a:r>
            <a:r>
              <a:rPr sz="1500" b="0" i="0">
                <a:solidFill>
                  <a:srgbClr val="D1FAE5"/>
                </a:solidFill>
                <a:latin typeface="Calibri"/>
              </a:rPr>
              <a:t>Un vérificateur factuel par claims, en production à chaque tour</a:t>
            </a:r>
          </a:p>
          <a:p>
            <a:pPr>
              <a:spcAft>
                <a:spcPts val="800"/>
              </a:spcAft>
            </a:pPr>
            <a:r>
              <a:rPr sz="1500" b="1" i="0">
                <a:solidFill>
                  <a:srgbClr val="16A34A"/>
                </a:solidFill>
                <a:latin typeface="Calibri"/>
              </a:rPr>
              <a:t>—  </a:t>
            </a:r>
            <a:r>
              <a:rPr sz="1500" b="0" i="0">
                <a:solidFill>
                  <a:srgbClr val="D1FAE5"/>
                </a:solidFill>
                <a:latin typeface="Calibri"/>
              </a:rPr>
              <a:t>L'instrument lui-même mesuré : adjudication humaine en aveugle</a:t>
            </a:r>
          </a:p>
          <a:p>
            <a:pPr>
              <a:spcAft>
                <a:spcPts val="800"/>
              </a:spcAft>
            </a:pPr>
            <a:r>
              <a:rPr sz="1500" b="1" i="0">
                <a:solidFill>
                  <a:srgbClr val="16A34A"/>
                </a:solidFill>
                <a:latin typeface="Calibri"/>
              </a:rPr>
              <a:t>—  </a:t>
            </a:r>
            <a:r>
              <a:rPr sz="1500" b="0" i="0">
                <a:solidFill>
                  <a:srgbClr val="D1FAE5"/>
                </a:solidFill>
                <a:latin typeface="Calibri"/>
              </a:rPr>
              <a:t>Une fonctionnalité tuée par la mesure : l'auto-réparation</a:t>
            </a:r>
          </a:p>
          <a:p>
            <a:pPr>
              <a:spcAft>
                <a:spcPts val="800"/>
              </a:spcAft>
            </a:pPr>
            <a:r>
              <a:rPr sz="1500" b="1" i="0">
                <a:solidFill>
                  <a:srgbClr val="16A34A"/>
                </a:solidFill>
                <a:latin typeface="Calibri"/>
              </a:rPr>
              <a:t>—  </a:t>
            </a:r>
            <a:r>
              <a:rPr sz="1500" b="0" i="0">
                <a:solidFill>
                  <a:srgbClr val="D1FAE5"/>
                </a:solidFill>
                <a:latin typeface="Calibri"/>
              </a:rPr>
              <a:t>18 releases sous protocole : paires, bruit, portes entières</a:t>
            </a:r>
          </a:p>
        </p:txBody>
      </p:sp>
      <p:sp>
        <p:nvSpPr>
          <p:cNvPr id="7" name="TextBox 6"/>
          <p:cNvSpPr txBox="1"/>
          <p:nvPr/>
        </p:nvSpPr>
        <p:spPr>
          <a:xfrm>
            <a:off x="548640" y="6510528"/>
            <a:ext cx="7315200" cy="274320"/>
          </a:xfrm>
          <a:prstGeom prst="rect">
            <a:avLst/>
          </a:prstGeom>
          <a:noFill/>
        </p:spPr>
        <p:txBody>
          <a:bodyPr wrap="square">
            <a:spAutoFit/>
          </a:bodyPr>
          <a:lstStyle/>
          <a:p>
            <a:r>
              <a:rPr sz="900" b="0" i="0">
                <a:solidFill>
                  <a:srgbClr val="A7C4AF"/>
                </a:solidFill>
                <a:latin typeface="Calibri"/>
              </a:rPr>
              <a:t>SSA CHATBOT — plateforme RAG · propositions de financement GCF</a:t>
            </a:r>
          </a:p>
        </p:txBody>
      </p:sp>
      <p:sp>
        <p:nvSpPr>
          <p:cNvPr id="8" name="TextBox 7"/>
          <p:cNvSpPr txBox="1"/>
          <p:nvPr/>
        </p:nvSpPr>
        <p:spPr>
          <a:xfrm>
            <a:off x="11292840" y="6510528"/>
            <a:ext cx="640080" cy="274320"/>
          </a:xfrm>
          <a:prstGeom prst="rect">
            <a:avLst/>
          </a:prstGeom>
          <a:noFill/>
        </p:spPr>
        <p:txBody>
          <a:bodyPr wrap="square">
            <a:spAutoFit/>
          </a:bodyPr>
          <a:lstStyle/>
          <a:p>
            <a:pPr algn="r"/>
            <a:r>
              <a:rPr sz="900" b="0" i="0">
                <a:solidFill>
                  <a:srgbClr val="A7C4AF"/>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III · LA QUALITÉ</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Le vérificateur claim-support</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86200"/>
          </a:xfrm>
          <a:prstGeom prst="rect">
            <a:avLst/>
          </a:prstGeom>
          <a:noFill/>
        </p:spPr>
        <p:txBody>
          <a:bodyPr wrap="square">
            <a:spAutoFit/>
          </a:bodyPr>
          <a:lstStyle/>
          <a:p>
            <a:pPr>
              <a:lnSpc>
                <a:spcPct val="102000"/>
              </a:lnSpc>
              <a:spcAft>
                <a:spcPts val="600"/>
              </a:spcAft>
            </a:pPr>
            <a:r>
              <a:rPr sz="1400" b="1" i="0">
                <a:solidFill>
                  <a:srgbClr val="16A34A"/>
                </a:solidFill>
                <a:latin typeface="Calibri"/>
              </a:rPr>
              <a:t>▪  </a:t>
            </a:r>
            <a:r>
              <a:rPr sz="1400" b="1" i="0">
                <a:solidFill>
                  <a:srgbClr val="1F2937"/>
                </a:solidFill>
                <a:latin typeface="Calibri"/>
              </a:rPr>
              <a:t>Chaque réponse est décomposée en claims atomiques</a:t>
            </a:r>
            <a:r>
              <a:rPr sz="1400" b="0" i="0">
                <a:solidFill>
                  <a:srgbClr val="1F2937"/>
                </a:solidFill>
                <a:latin typeface="Calibri"/>
              </a:rPr>
              <a:t> (montant, nombre, entité, année, existence), chacun rattaché à ses citations — puis classée : </a:t>
            </a:r>
            <a:r>
              <a:rPr sz="1400" b="1" i="0">
                <a:solidFill>
                  <a:srgbClr val="1F2937"/>
                </a:solidFill>
                <a:latin typeface="Calibri"/>
              </a:rPr>
              <a:t>supported / contradicted / unsupported</a:t>
            </a:r>
          </a:p>
          <a:p>
            <a:pPr>
              <a:lnSpc>
                <a:spcPct val="102000"/>
              </a:lnSpc>
              <a:spcAft>
                <a:spcPts val="600"/>
              </a:spcAft>
            </a:pPr>
            <a:r>
              <a:rPr sz="1400" b="1" i="0">
                <a:solidFill>
                  <a:srgbClr val="16A34A"/>
                </a:solidFill>
                <a:latin typeface="Calibri"/>
              </a:rPr>
              <a:t>▪  </a:t>
            </a:r>
            <a:r>
              <a:rPr sz="1400" b="1" i="0">
                <a:solidFill>
                  <a:srgbClr val="1F2937"/>
                </a:solidFill>
                <a:latin typeface="Calibri"/>
              </a:rPr>
              <a:t>Déterministe d'abord</a:t>
            </a:r>
            <a:r>
              <a:rPr sz="1400" b="0" i="0">
                <a:solidFill>
                  <a:srgbClr val="1F2937"/>
                </a:solidFill>
                <a:latin typeface="Calibri"/>
              </a:rPr>
              <a:t> : matcheurs exacts (montants avec garde devise+échelle, alias d'entités, années, arithmétique dérivée bornée) ; le </a:t>
            </a:r>
            <a:r>
              <a:rPr sz="1400" b="1" i="0">
                <a:solidFill>
                  <a:srgbClr val="1F2937"/>
                </a:solidFill>
                <a:latin typeface="Calibri"/>
              </a:rPr>
              <a:t>juge LLM</a:t>
            </a:r>
            <a:r>
              <a:rPr sz="1400" b="0" i="0">
                <a:solidFill>
                  <a:srgbClr val="1F2937"/>
                </a:solidFill>
                <a:latin typeface="Calibri"/>
              </a:rPr>
              <a:t> ne reçoit que le résidu « unsupported et plausible »</a:t>
            </a:r>
          </a:p>
          <a:p>
            <a:pPr>
              <a:lnSpc>
                <a:spcPct val="102000"/>
              </a:lnSpc>
              <a:spcAft>
                <a:spcPts val="400"/>
              </a:spcAft>
            </a:pPr>
            <a:r>
              <a:rPr sz="1250" b="0" i="0">
                <a:solidFill>
                  <a:srgbClr val="6B7280"/>
                </a:solidFill>
                <a:latin typeface="Calibri"/>
              </a:rPr>
              <a:t>    –  </a:t>
            </a:r>
            <a:r>
              <a:rPr sz="1250" b="0" i="0">
                <a:solidFill>
                  <a:srgbClr val="374151"/>
                </a:solidFill>
                <a:latin typeface="Calibri"/>
              </a:rPr>
              <a:t>au plus </a:t>
            </a:r>
            <a:r>
              <a:rPr sz="1250" b="1" i="0">
                <a:solidFill>
                  <a:srgbClr val="374151"/>
                </a:solidFill>
                <a:latin typeface="Calibri"/>
              </a:rPr>
              <a:t>1 appel juge par réponse</a:t>
            </a:r>
            <a:r>
              <a:rPr sz="1250" b="0" i="0">
                <a:solidFill>
                  <a:srgbClr val="374151"/>
                </a:solidFill>
                <a:latin typeface="Calibri"/>
              </a:rPr>
              <a:t> (12 claims max), </a:t>
            </a:r>
            <a:r>
              <a:rPr sz="1250" b="1" i="0">
                <a:solidFill>
                  <a:srgbClr val="374151"/>
                </a:solidFill>
                <a:latin typeface="Calibri"/>
              </a:rPr>
              <a:t>promote-only structurellement</a:t>
            </a:r>
            <a:r>
              <a:rPr sz="1250" b="0" i="0">
                <a:solidFill>
                  <a:srgbClr val="374151"/>
                </a:solidFill>
                <a:latin typeface="Calibri"/>
              </a:rPr>
              <a:t> : le juge peut requalifier en supported, jamais dégrader ni réécrire</a:t>
            </a:r>
          </a:p>
          <a:p>
            <a:pPr>
              <a:lnSpc>
                <a:spcPct val="102000"/>
              </a:lnSpc>
              <a:spcAft>
                <a:spcPts val="600"/>
              </a:spcAft>
            </a:pPr>
            <a:r>
              <a:rPr sz="1400" b="1" i="0">
                <a:solidFill>
                  <a:srgbClr val="16A34A"/>
                </a:solidFill>
                <a:latin typeface="Calibri"/>
              </a:rPr>
              <a:t>▪  </a:t>
            </a:r>
            <a:r>
              <a:rPr sz="1400" b="1" i="0">
                <a:solidFill>
                  <a:srgbClr val="1F2937"/>
                </a:solidFill>
                <a:latin typeface="Calibri"/>
              </a:rPr>
              <a:t>4 métriques distinctes, toujours en n/d</a:t>
            </a:r>
            <a:r>
              <a:rPr sz="1400" b="0" i="0">
                <a:solidFill>
                  <a:srgbClr val="1F2937"/>
                </a:solidFill>
                <a:latin typeface="Calibri"/>
              </a:rPr>
              <a:t> : taux de support · groundedness (contre toutes les preuves du tour) · complétude des citations · présence des citations</a:t>
            </a:r>
          </a:p>
          <a:p>
            <a:pPr>
              <a:lnSpc>
                <a:spcPct val="102000"/>
              </a:lnSpc>
              <a:spcAft>
                <a:spcPts val="600"/>
              </a:spcAft>
            </a:pPr>
            <a:r>
              <a:rPr sz="1400" b="1" i="0">
                <a:solidFill>
                  <a:srgbClr val="16A34A"/>
                </a:solidFill>
                <a:latin typeface="Calibri"/>
              </a:rPr>
              <a:t>▪  </a:t>
            </a:r>
            <a:r>
              <a:rPr sz="1400" b="1" i="0">
                <a:solidFill>
                  <a:srgbClr val="1F2937"/>
                </a:solidFill>
                <a:latin typeface="Calibri"/>
              </a:rPr>
              <a:t>Règles de conception</a:t>
            </a:r>
            <a:r>
              <a:rPr sz="1400" b="0" i="0">
                <a:solidFill>
                  <a:srgbClr val="1F2937"/>
                </a:solidFill>
                <a:latin typeface="Calibri"/>
              </a:rPr>
              <a:t> : le texte de la réponse n'est </a:t>
            </a:r>
            <a:r>
              <a:rPr sz="1400" b="1" i="0">
                <a:solidFill>
                  <a:srgbClr val="1F2937"/>
                </a:solidFill>
                <a:latin typeface="Calibri"/>
              </a:rPr>
              <a:t>jamais modifié</a:t>
            </a:r>
            <a:r>
              <a:rPr sz="1400" b="0" i="0">
                <a:solidFill>
                  <a:srgbClr val="1F2937"/>
                </a:solidFill>
                <a:latin typeface="Calibri"/>
              </a:rPr>
              <a:t> ; ne jamais planter sur une sortie modèle ; en production à chaque tour (VERIFY=1), pas seulement en éval</a:t>
            </a:r>
          </a:p>
          <a:p>
            <a:pPr>
              <a:lnSpc>
                <a:spcPct val="102000"/>
              </a:lnSpc>
              <a:spcAft>
                <a:spcPts val="600"/>
              </a:spcAft>
            </a:pPr>
            <a:r>
              <a:rPr sz="1400" b="1" i="0">
                <a:solidFill>
                  <a:srgbClr val="16A34A"/>
                </a:solidFill>
                <a:latin typeface="Calibri"/>
              </a:rPr>
              <a:t>▪  </a:t>
            </a:r>
            <a:r>
              <a:rPr sz="1400" b="1" i="0">
                <a:solidFill>
                  <a:srgbClr val="1F2937"/>
                </a:solidFill>
                <a:latin typeface="Calibri"/>
              </a:rPr>
              <a:t>Le juge est audité</a:t>
            </a:r>
            <a:r>
              <a:rPr sz="1400" b="0" i="0">
                <a:solidFill>
                  <a:srgbClr val="1F2937"/>
                </a:solidFill>
                <a:latin typeface="Calibri"/>
              </a:rPr>
              <a:t> : sur un release, 0 fabrication sur 28 promotions ; taux d'acceptation 68 % ; l'éteindre mal-étiquetterait 21 réponses sur 66</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Min et al. 2023 (FActScore : décomposition en claims) · Es et al. 2023 (RAGAS : faithfulness) · Saad-Falcon 2024 (ARES) — la plateforme transpose l'évaluation par claims </a:t>
            </a:r>
            <a:r>
              <a:rPr sz="1050" b="1" i="0">
                <a:solidFill>
                  <a:srgbClr val="0C4A6E"/>
                </a:solidFill>
                <a:latin typeface="Calibri"/>
              </a:rPr>
              <a:t>en production</a:t>
            </a:r>
            <a:r>
              <a:rPr sz="1050" b="0" i="0">
                <a:solidFill>
                  <a:srgbClr val="0C4A6E"/>
                </a:solidFill>
                <a:latin typeface="Calibri"/>
              </a:rPr>
              <a:t>, avec un juge borné et audité.</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III · LA QUALITÉ</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Mesurer l'instrument — l'adjudication en aveugle</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86200"/>
          </a:xfrm>
          <a:prstGeom prst="rect">
            <a:avLst/>
          </a:prstGeom>
          <a:noFill/>
        </p:spPr>
        <p:txBody>
          <a:bodyPr wrap="square">
            <a:spAutoFit/>
          </a:bodyPr>
          <a:lstStyle/>
          <a:p>
            <a:pPr>
              <a:lnSpc>
                <a:spcPct val="102000"/>
              </a:lnSpc>
              <a:spcAft>
                <a:spcPts val="600"/>
              </a:spcAft>
            </a:pPr>
            <a:r>
              <a:rPr sz="1350" b="1" i="0">
                <a:solidFill>
                  <a:srgbClr val="16A34A"/>
                </a:solidFill>
                <a:latin typeface="Calibri"/>
              </a:rPr>
              <a:t>▪  </a:t>
            </a:r>
            <a:r>
              <a:rPr sz="1350" b="1" i="0">
                <a:solidFill>
                  <a:srgbClr val="1F2937"/>
                </a:solidFill>
                <a:latin typeface="Calibri"/>
              </a:rPr>
              <a:t>Point de départ</a:t>
            </a:r>
            <a:r>
              <a:rPr sz="1350" b="0" i="0">
                <a:solidFill>
                  <a:srgbClr val="1F2937"/>
                </a:solidFill>
                <a:latin typeface="Calibri"/>
              </a:rPr>
              <a:t> : release-1 affichait 57,0 % de claims supportés — mais qui se trompait, le système ou l'instrument ?</a:t>
            </a:r>
          </a:p>
          <a:p>
            <a:pPr>
              <a:lnSpc>
                <a:spcPct val="102000"/>
              </a:lnSpc>
              <a:spcAft>
                <a:spcPts val="600"/>
              </a:spcAft>
            </a:pPr>
            <a:r>
              <a:rPr sz="1350" b="1" i="0">
                <a:solidFill>
                  <a:srgbClr val="16A34A"/>
                </a:solidFill>
                <a:latin typeface="Calibri"/>
              </a:rPr>
              <a:t>▪  </a:t>
            </a:r>
            <a:r>
              <a:rPr sz="1350" b="1" i="0">
                <a:solidFill>
                  <a:srgbClr val="1F2937"/>
                </a:solidFill>
                <a:latin typeface="Calibri"/>
              </a:rPr>
              <a:t>Adjudication en aveugle</a:t>
            </a:r>
            <a:r>
              <a:rPr sz="1350" b="0" i="0">
                <a:solidFill>
                  <a:srgbClr val="1F2937"/>
                </a:solidFill>
                <a:latin typeface="Calibri"/>
              </a:rPr>
              <a:t> des 71 échecs : verdicts masqués, taxonomie de causes écrite </a:t>
            </a:r>
            <a:r>
              <a:rPr sz="1350" b="1" i="0">
                <a:solidFill>
                  <a:srgbClr val="1F2937"/>
                </a:solidFill>
                <a:latin typeface="Calibri"/>
              </a:rPr>
              <a:t>avant</a:t>
            </a:r>
            <a:r>
              <a:rPr sz="1350" b="0" i="0">
                <a:solidFill>
                  <a:srgbClr val="1F2937"/>
                </a:solidFill>
                <a:latin typeface="Calibri"/>
              </a:rPr>
              <a:t> l'étiquetage, 3 annotateurs indépendants + un 4ᵉ pour l'accord inter-annotateurs (</a:t>
            </a:r>
            <a:r>
              <a:rPr sz="1350" b="1" i="0">
                <a:solidFill>
                  <a:srgbClr val="1F2937"/>
                </a:solidFill>
                <a:latin typeface="Calibri"/>
              </a:rPr>
              <a:t>17/20 = 85 %</a:t>
            </a:r>
            <a:r>
              <a:rPr sz="1350" b="0" i="0">
                <a:solidFill>
                  <a:srgbClr val="1F2937"/>
                </a:solidFill>
                <a:latin typeface="Calibri"/>
              </a:rPr>
              <a:t>)</a:t>
            </a:r>
          </a:p>
          <a:p>
            <a:pPr>
              <a:lnSpc>
                <a:spcPct val="102000"/>
              </a:lnSpc>
              <a:spcAft>
                <a:spcPts val="400"/>
              </a:spcAft>
            </a:pPr>
            <a:r>
              <a:rPr sz="1200" b="0" i="0">
                <a:solidFill>
                  <a:srgbClr val="6B7280"/>
                </a:solidFill>
                <a:latin typeface="Calibri"/>
              </a:rPr>
              <a:t>    –  </a:t>
            </a:r>
            <a:r>
              <a:rPr sz="1200" b="0" i="0">
                <a:solidFill>
                  <a:srgbClr val="374151"/>
                </a:solidFill>
                <a:latin typeface="Calibri"/>
              </a:rPr>
              <a:t>verdict : le vérificateur était </a:t>
            </a:r>
            <a:r>
              <a:rPr sz="1200" b="1" i="0">
                <a:solidFill>
                  <a:srgbClr val="374151"/>
                </a:solidFill>
                <a:latin typeface="Calibri"/>
              </a:rPr>
              <a:t>faux sur 59/71 (83 %)</a:t>
            </a:r>
            <a:r>
              <a:rPr sz="1200" b="0" i="0">
                <a:solidFill>
                  <a:srgbClr val="374151"/>
                </a:solidFill>
                <a:latin typeface="Calibri"/>
              </a:rPr>
              <a:t> — le 57 % était surtout un artefact de mesure ; 12 vrais défauts seulement</a:t>
            </a:r>
          </a:p>
          <a:p>
            <a:pPr>
              <a:lnSpc>
                <a:spcPct val="102000"/>
              </a:lnSpc>
              <a:spcAft>
                <a:spcPts val="600"/>
              </a:spcAft>
            </a:pPr>
            <a:r>
              <a:rPr sz="1350" b="1" i="0">
                <a:solidFill>
                  <a:srgbClr val="16A34A"/>
                </a:solidFill>
                <a:latin typeface="Calibri"/>
              </a:rPr>
              <a:t>▪  </a:t>
            </a:r>
            <a:r>
              <a:rPr sz="1350" b="1" i="0">
                <a:solidFill>
                  <a:srgbClr val="1F2937"/>
                </a:solidFill>
                <a:latin typeface="Calibri"/>
              </a:rPr>
              <a:t>Calibration disciplinée</a:t>
            </a:r>
            <a:r>
              <a:rPr sz="1350" b="0" i="0">
                <a:solidFill>
                  <a:srgbClr val="1F2937"/>
                </a:solidFill>
                <a:latin typeface="Calibri"/>
              </a:rPr>
              <a:t> : chaque assouplissement ancré à une ligne adjudiquée (trailer git vérifié) ; 6 assouplissements </a:t>
            </a:r>
            <a:r>
              <a:rPr sz="1350" b="1" i="0">
                <a:solidFill>
                  <a:srgbClr val="1F2937"/>
                </a:solidFill>
                <a:latin typeface="Calibri"/>
              </a:rPr>
              <a:t>supprimés</a:t>
            </a:r>
            <a:r>
              <a:rPr sz="1350" b="0" i="0">
                <a:solidFill>
                  <a:srgbClr val="1F2937"/>
                </a:solidFill>
                <a:latin typeface="Calibri"/>
              </a:rPr>
              <a:t> plutôt que rafistolés ; ratification par commit </a:t>
            </a:r>
            <a:r>
              <a:rPr sz="1350" b="1" i="0">
                <a:solidFill>
                  <a:srgbClr val="1F2937"/>
                </a:solidFill>
                <a:latin typeface="Calibri"/>
              </a:rPr>
              <a:t>signé GPG</a:t>
            </a:r>
            <a:r>
              <a:rPr sz="1350" b="0" i="0">
                <a:solidFill>
                  <a:srgbClr val="1F2937"/>
                </a:solidFill>
                <a:latin typeface="Calibri"/>
              </a:rPr>
              <a:t> du propriétaire</a:t>
            </a:r>
          </a:p>
          <a:p>
            <a:pPr>
              <a:lnSpc>
                <a:spcPct val="102000"/>
              </a:lnSpc>
              <a:spcAft>
                <a:spcPts val="600"/>
              </a:spcAft>
            </a:pPr>
            <a:r>
              <a:rPr sz="1350" b="1" i="0">
                <a:solidFill>
                  <a:srgbClr val="16A34A"/>
                </a:solidFill>
                <a:latin typeface="Calibri"/>
              </a:rPr>
              <a:t>▪  </a:t>
            </a:r>
            <a:r>
              <a:rPr sz="1350" b="1" i="0">
                <a:solidFill>
                  <a:srgbClr val="1F2937"/>
                </a:solidFill>
                <a:latin typeface="Calibri"/>
              </a:rPr>
              <a:t>5 bras de scoring du vérificateur</a:t>
            </a:r>
            <a:r>
              <a:rPr sz="1350" b="0" i="0">
                <a:solidFill>
                  <a:srgbClr val="1F2937"/>
                </a:solidFill>
                <a:latin typeface="Calibri"/>
              </a:rPr>
              <a:t> (aucun ne consulte un verdict) : gold humain, held-correct, fabrications semées, réparations, contradictions semées → </a:t>
            </a:r>
            <a:r>
              <a:rPr sz="1350" b="1" i="0">
                <a:solidFill>
                  <a:srgbClr val="1F2937"/>
                </a:solidFill>
                <a:latin typeface="Calibri"/>
              </a:rPr>
              <a:t>P 86,2 % · R 74,4 % · F1 79,9 %</a:t>
            </a:r>
            <a:r>
              <a:rPr sz="1350" b="0" i="0">
                <a:solidFill>
                  <a:srgbClr val="1F2937"/>
                </a:solidFill>
                <a:latin typeface="Calibri"/>
              </a:rPr>
              <a:t> sur 315 lignes</a:t>
            </a:r>
          </a:p>
          <a:p>
            <a:pPr>
              <a:lnSpc>
                <a:spcPct val="102000"/>
              </a:lnSpc>
              <a:spcAft>
                <a:spcPts val="400"/>
              </a:spcAft>
            </a:pPr>
            <a:r>
              <a:rPr sz="1200" b="0" i="0">
                <a:solidFill>
                  <a:srgbClr val="6B7280"/>
                </a:solidFill>
                <a:latin typeface="Calibri"/>
              </a:rPr>
              <a:t>    –  </a:t>
            </a:r>
            <a:r>
              <a:rPr sz="1200" b="0" i="0">
                <a:solidFill>
                  <a:srgbClr val="374151"/>
                </a:solidFill>
                <a:latin typeface="Calibri"/>
              </a:rPr>
              <a:t>le 5ᵉ bras existe parce qu'une revue avait supprimé toute détection de contradiction </a:t>
            </a:r>
            <a:r>
              <a:rPr sz="1200" b="1" i="0">
                <a:solidFill>
                  <a:srgbClr val="374151"/>
                </a:solidFill>
                <a:latin typeface="Calibri"/>
              </a:rPr>
              <a:t>sans qu'aucun chiffre ne bouge</a:t>
            </a:r>
            <a:r>
              <a:rPr sz="1200" b="0" i="0">
                <a:solidFill>
                  <a:srgbClr val="374151"/>
                </a:solidFill>
                <a:latin typeface="Calibri"/>
              </a:rPr>
              <a:t> — l'angle mort est désormais instrumenté</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Zheng et al. 2023 (LLM-as-judge) et sa méta-évaluation : accord inter-annotateurs, gold en aveugle, anti-ancrage — « la seule chose qu'un système ne peut pas faire, c'est se noter lui-même. »</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III · LA QUALITÉ</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La fonctionnalité tuée — l'auto-réparation des réponses</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86200"/>
          </a:xfrm>
          <a:prstGeom prst="rect">
            <a:avLst/>
          </a:prstGeom>
          <a:noFill/>
        </p:spPr>
        <p:txBody>
          <a:bodyPr wrap="square">
            <a:spAutoFit/>
          </a:bodyPr>
          <a:lstStyle/>
          <a:p>
            <a:pPr>
              <a:lnSpc>
                <a:spcPct val="102000"/>
              </a:lnSpc>
              <a:spcAft>
                <a:spcPts val="600"/>
              </a:spcAft>
            </a:pPr>
            <a:r>
              <a:rPr sz="1400" b="1" i="0">
                <a:solidFill>
                  <a:srgbClr val="16A34A"/>
                </a:solidFill>
                <a:latin typeface="Calibri"/>
              </a:rPr>
              <a:t>▪  </a:t>
            </a:r>
            <a:r>
              <a:rPr sz="1400" b="1" i="0">
                <a:solidFill>
                  <a:srgbClr val="1F2937"/>
                </a:solidFill>
                <a:latin typeface="Calibri"/>
              </a:rPr>
              <a:t>L'idée</a:t>
            </a:r>
            <a:r>
              <a:rPr sz="1400" b="0" i="0">
                <a:solidFill>
                  <a:srgbClr val="1F2937"/>
                </a:solidFill>
                <a:latin typeface="Calibri"/>
              </a:rPr>
              <a:t> : réécrire automatiquement les réponses dont des claims échouent — et </a:t>
            </a:r>
            <a:r>
              <a:rPr sz="1400" b="1" i="0">
                <a:solidFill>
                  <a:srgbClr val="1F2937"/>
                </a:solidFill>
                <a:latin typeface="Calibri"/>
              </a:rPr>
              <a:t>toutes les métriques gatées montaient</a:t>
            </a:r>
            <a:r>
              <a:rPr sz="1400" b="0" i="0">
                <a:solidFill>
                  <a:srgbClr val="1F2937"/>
                </a:solidFill>
                <a:latin typeface="Calibri"/>
              </a:rPr>
              <a:t> (support, groundedness, complétude)</a:t>
            </a:r>
          </a:p>
          <a:p>
            <a:pPr>
              <a:lnSpc>
                <a:spcPct val="102000"/>
              </a:lnSpc>
              <a:spcAft>
                <a:spcPts val="600"/>
              </a:spcAft>
            </a:pPr>
            <a:r>
              <a:rPr sz="1400" b="1" i="0">
                <a:solidFill>
                  <a:srgbClr val="16A34A"/>
                </a:solidFill>
                <a:latin typeface="Calibri"/>
              </a:rPr>
              <a:t>▪  </a:t>
            </a:r>
            <a:r>
              <a:rPr sz="1400" b="1" i="0">
                <a:solidFill>
                  <a:srgbClr val="1F2937"/>
                </a:solidFill>
                <a:latin typeface="Calibri"/>
              </a:rPr>
              <a:t>L'A/B honnête</a:t>
            </a:r>
            <a:r>
              <a:rPr sz="1400" b="0" i="0">
                <a:solidFill>
                  <a:srgbClr val="1F2937"/>
                </a:solidFill>
                <a:latin typeface="Calibri"/>
              </a:rPr>
              <a:t> (réponses enregistrées, rejouées) l'a réfutée :</a:t>
            </a:r>
          </a:p>
          <a:p>
            <a:pPr>
              <a:lnSpc>
                <a:spcPct val="102000"/>
              </a:lnSpc>
              <a:spcAft>
                <a:spcPts val="400"/>
              </a:spcAft>
            </a:pPr>
            <a:r>
              <a:rPr sz="1250" b="0" i="0">
                <a:solidFill>
                  <a:srgbClr val="6B7280"/>
                </a:solidFill>
                <a:latin typeface="Calibri"/>
              </a:rPr>
              <a:t>    –  </a:t>
            </a:r>
            <a:r>
              <a:rPr sz="1250" b="1" i="0">
                <a:solidFill>
                  <a:srgbClr val="374151"/>
                </a:solidFill>
                <a:latin typeface="Calibri"/>
              </a:rPr>
              <a:t>3 des 5 réécritures adoptées supprimaient du contenu vérifié, cité et ancré</a:t>
            </a:r>
            <a:r>
              <a:rPr sz="1250" b="0" i="0">
                <a:solidFill>
                  <a:srgbClr val="374151"/>
                </a:solidFill>
                <a:latin typeface="Calibri"/>
              </a:rPr>
              <a:t> (dont le chiffre documentant un désaccord de registre) ; une abstention de 351 caractères devenait le mot « None. »</a:t>
            </a:r>
          </a:p>
          <a:p>
            <a:pPr>
              <a:lnSpc>
                <a:spcPct val="102000"/>
              </a:lnSpc>
              <a:spcAft>
                <a:spcPts val="400"/>
              </a:spcAft>
            </a:pPr>
            <a:r>
              <a:rPr sz="1250" b="0" i="0">
                <a:solidFill>
                  <a:srgbClr val="6B7280"/>
                </a:solidFill>
                <a:latin typeface="Calibri"/>
              </a:rPr>
              <a:t>    –  </a:t>
            </a:r>
            <a:r>
              <a:rPr sz="1250" b="0" i="0">
                <a:solidFill>
                  <a:srgbClr val="374151"/>
                </a:solidFill>
                <a:latin typeface="Calibri"/>
              </a:rPr>
              <a:t>adoption </a:t>
            </a:r>
            <a:r>
              <a:rPr sz="1250" b="1" i="0">
                <a:solidFill>
                  <a:srgbClr val="374151"/>
                </a:solidFill>
                <a:latin typeface="Calibri"/>
              </a:rPr>
              <a:t>non déterministe</a:t>
            </a:r>
            <a:r>
              <a:rPr sz="1250" b="0" i="0">
                <a:solidFill>
                  <a:srgbClr val="374151"/>
                </a:solidFill>
                <a:latin typeface="Calibri"/>
              </a:rPr>
              <a:t> : 18–27 % des cas basculaient entre deux rejeux identiques (l'API ignore l'épinglage à l'octet près) ; la seule réécriture parfaitement reproductible était la nuisible</a:t>
            </a:r>
          </a:p>
          <a:p>
            <a:pPr>
              <a:lnSpc>
                <a:spcPct val="102000"/>
              </a:lnSpc>
              <a:spcAft>
                <a:spcPts val="400"/>
              </a:spcAft>
            </a:pPr>
            <a:r>
              <a:rPr sz="1250" b="0" i="0">
                <a:solidFill>
                  <a:srgbClr val="6B7280"/>
                </a:solidFill>
                <a:latin typeface="Calibri"/>
              </a:rPr>
              <a:t>    –  </a:t>
            </a:r>
            <a:r>
              <a:rPr sz="1250" b="0" i="0">
                <a:solidFill>
                  <a:srgbClr val="374151"/>
                </a:solidFill>
                <a:latin typeface="Calibri"/>
              </a:rPr>
              <a:t>mécanisme pervers : « adopter si propre » fait de la </a:t>
            </a:r>
            <a:r>
              <a:rPr sz="1250" b="1" i="0">
                <a:solidFill>
                  <a:srgbClr val="374151"/>
                </a:solidFill>
                <a:latin typeface="Calibri"/>
              </a:rPr>
              <a:t>suppression d'un claim</a:t>
            </a:r>
            <a:r>
              <a:rPr sz="1250" b="0" i="0">
                <a:solidFill>
                  <a:srgbClr val="374151"/>
                </a:solidFill>
                <a:latin typeface="Calibri"/>
              </a:rPr>
              <a:t> le moyen le moins cher d'être propre — chaque garde ajoutée sélectionnait la réécriture qui la contourne</a:t>
            </a:r>
          </a:p>
          <a:p>
            <a:pPr>
              <a:lnSpc>
                <a:spcPct val="102000"/>
              </a:lnSpc>
              <a:spcAft>
                <a:spcPts val="600"/>
              </a:spcAft>
            </a:pPr>
            <a:r>
              <a:rPr sz="1400" b="1" i="0">
                <a:solidFill>
                  <a:srgbClr val="16A34A"/>
                </a:solidFill>
                <a:latin typeface="Calibri"/>
              </a:rPr>
              <a:t>▪  </a:t>
            </a:r>
            <a:r>
              <a:rPr sz="1400" b="1" i="0">
                <a:solidFill>
                  <a:srgbClr val="1F2937"/>
                </a:solidFill>
                <a:latin typeface="Calibri"/>
              </a:rPr>
              <a:t>Décision</a:t>
            </a:r>
            <a:r>
              <a:rPr sz="1400" b="0" i="0">
                <a:solidFill>
                  <a:srgbClr val="1F2937"/>
                </a:solidFill>
                <a:latin typeface="Calibri"/>
              </a:rPr>
              <a:t> : chemin d'adoption </a:t>
            </a:r>
            <a:r>
              <a:rPr sz="1400" b="1" i="0">
                <a:solidFill>
                  <a:srgbClr val="1F2937"/>
                </a:solidFill>
                <a:latin typeface="Calibri"/>
              </a:rPr>
              <a:t>supprimé du code</a:t>
            </a:r>
            <a:r>
              <a:rPr sz="1400" b="0" i="0">
                <a:solidFill>
                  <a:srgbClr val="1F2937"/>
                </a:solidFill>
                <a:latin typeface="Calibri"/>
              </a:rPr>
              <a:t> (pas un flag : « un flag qui tient un chemin fermé reste un chemin ») ; preuve par rejeu : 396 réponses-runs à l'octet identique avant/après</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Huang et al. 2024 (« LLMs Cannot Self-Correct Reasoning Yet ») et loi de Goodhart — une fonctionnalité qui améliore toutes les métriques en détruisant de la valeur est un échec de conception des portes, pas une réussite.</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III · LA QUALITÉ</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Le protocole de release — la métrologie</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86200"/>
          </a:xfrm>
          <a:prstGeom prst="rect">
            <a:avLst/>
          </a:prstGeom>
          <a:noFill/>
        </p:spPr>
        <p:txBody>
          <a:bodyPr wrap="square">
            <a:spAutoFit/>
          </a:bodyPr>
          <a:lstStyle/>
          <a:p>
            <a:pPr>
              <a:lnSpc>
                <a:spcPct val="102000"/>
              </a:lnSpc>
              <a:spcAft>
                <a:spcPts val="600"/>
              </a:spcAft>
            </a:pPr>
            <a:r>
              <a:rPr sz="1350" b="1" i="0">
                <a:solidFill>
                  <a:srgbClr val="16A34A"/>
                </a:solidFill>
                <a:latin typeface="Calibri"/>
              </a:rPr>
              <a:t>▪  </a:t>
            </a:r>
            <a:r>
              <a:rPr sz="1350" b="1" i="0">
                <a:solidFill>
                  <a:srgbClr val="1F2937"/>
                </a:solidFill>
                <a:latin typeface="Calibri"/>
              </a:rPr>
              <a:t>Parité production par défaut</a:t>
            </a:r>
            <a:r>
              <a:rPr sz="1350" b="0" i="0">
                <a:solidFill>
                  <a:srgbClr val="1F2937"/>
                </a:solidFill>
                <a:latin typeface="Calibri"/>
              </a:rPr>
              <a:t> : le harnais rejoue exactement le pipeline de l'app (conducteur, planificateur, gardes, vérificateur) ; rien n'est lu de l'environnement ambiant sauf la clé API</a:t>
            </a:r>
          </a:p>
          <a:p>
            <a:pPr>
              <a:lnSpc>
                <a:spcPct val="102000"/>
              </a:lnSpc>
              <a:spcAft>
                <a:spcPts val="600"/>
              </a:spcAft>
            </a:pPr>
            <a:r>
              <a:rPr sz="1350" b="1" i="0">
                <a:solidFill>
                  <a:srgbClr val="16A34A"/>
                </a:solidFill>
                <a:latin typeface="Calibri"/>
              </a:rPr>
              <a:t>▪  </a:t>
            </a:r>
            <a:r>
              <a:rPr sz="1350" b="1" i="0">
                <a:solidFill>
                  <a:srgbClr val="1F2937"/>
                </a:solidFill>
                <a:latin typeface="Calibri"/>
              </a:rPr>
              <a:t>Épinglage et provenance</a:t>
            </a:r>
            <a:r>
              <a:rPr sz="1350" b="0" i="0">
                <a:solidFill>
                  <a:srgbClr val="1F2937"/>
                </a:solidFill>
                <a:latin typeface="Calibri"/>
              </a:rPr>
              <a:t> : température 0 + seed sur chaque appel ; chaque enregistrement porte modèle+snapshot, hachages d'index/registre, SHA git, bloc de parité ; </a:t>
            </a:r>
            <a:r>
              <a:rPr sz="1350" b="1" i="0">
                <a:solidFill>
                  <a:srgbClr val="1F2937"/>
                </a:solidFill>
                <a:latin typeface="Calibri"/>
              </a:rPr>
              <a:t>81 artefacts sous CHECKSUMS.sha256</a:t>
            </a:r>
          </a:p>
          <a:p>
            <a:pPr>
              <a:lnSpc>
                <a:spcPct val="102000"/>
              </a:lnSpc>
              <a:spcAft>
                <a:spcPts val="600"/>
              </a:spcAft>
            </a:pPr>
            <a:r>
              <a:rPr sz="1350" b="1" i="0">
                <a:solidFill>
                  <a:srgbClr val="16A34A"/>
                </a:solidFill>
                <a:latin typeface="Calibri"/>
              </a:rPr>
              <a:t>▪  </a:t>
            </a:r>
            <a:r>
              <a:rPr sz="1350" b="1" i="0">
                <a:solidFill>
                  <a:srgbClr val="1F2937"/>
                </a:solidFill>
                <a:latin typeface="Calibri"/>
              </a:rPr>
              <a:t>La variance mesurée avant les améliorations</a:t>
            </a:r>
            <a:r>
              <a:rPr sz="1350" b="0" i="0">
                <a:solidFill>
                  <a:srgbClr val="1F2937"/>
                </a:solidFill>
                <a:latin typeface="Calibri"/>
              </a:rPr>
              <a:t> : paire même-configuration → bande de bruit </a:t>
            </a:r>
            <a:r>
              <a:rPr sz="1350" b="1" i="0">
                <a:solidFill>
                  <a:srgbClr val="1F2937"/>
                </a:solidFill>
                <a:latin typeface="Calibri"/>
              </a:rPr>
              <a:t>± 2–3 pp</a:t>
            </a:r>
            <a:r>
              <a:rPr sz="1350" b="0" i="0">
                <a:solidFill>
                  <a:srgbClr val="1F2937"/>
                </a:solidFill>
                <a:latin typeface="Calibri"/>
              </a:rPr>
              <a:t> ; « tout delta inférieur est du bruit » — y compris un gain déjà annoncé, requalifié</a:t>
            </a:r>
          </a:p>
          <a:p>
            <a:pPr>
              <a:lnSpc>
                <a:spcPct val="102000"/>
              </a:lnSpc>
              <a:spcAft>
                <a:spcPts val="400"/>
              </a:spcAft>
            </a:pPr>
            <a:r>
              <a:rPr sz="1200" b="0" i="0">
                <a:solidFill>
                  <a:srgbClr val="6B7280"/>
                </a:solidFill>
                <a:latin typeface="Calibri"/>
              </a:rPr>
              <a:t>    –  </a:t>
            </a:r>
            <a:r>
              <a:rPr sz="1200" b="0" i="0">
                <a:solidFill>
                  <a:srgbClr val="374151"/>
                </a:solidFill>
                <a:latin typeface="Calibri"/>
              </a:rPr>
              <a:t>chaque phase se clôt par une </a:t>
            </a:r>
            <a:r>
              <a:rPr sz="1200" b="1" i="0">
                <a:solidFill>
                  <a:srgbClr val="374151"/>
                </a:solidFill>
                <a:latin typeface="Calibri"/>
              </a:rPr>
              <a:t>paire de releases même-config</a:t>
            </a:r>
            <a:r>
              <a:rPr sz="1200" b="0" i="0">
                <a:solidFill>
                  <a:srgbClr val="374151"/>
                </a:solidFill>
                <a:latin typeface="Calibri"/>
              </a:rPr>
              <a:t> ; VERT exige les </a:t>
            </a:r>
            <a:r>
              <a:rPr sz="1200" b="1" i="0">
                <a:solidFill>
                  <a:srgbClr val="374151"/>
                </a:solidFill>
                <a:latin typeface="Calibri"/>
              </a:rPr>
              <a:t>deux bras</a:t>
            </a:r>
            <a:r>
              <a:rPr sz="1200" b="0" i="0">
                <a:solidFill>
                  <a:srgbClr val="374151"/>
                </a:solidFill>
                <a:latin typeface="Calibri"/>
              </a:rPr>
              <a:t> au-dessus de la porte</a:t>
            </a:r>
          </a:p>
          <a:p>
            <a:pPr>
              <a:lnSpc>
                <a:spcPct val="102000"/>
              </a:lnSpc>
              <a:spcAft>
                <a:spcPts val="600"/>
              </a:spcAft>
            </a:pPr>
            <a:r>
              <a:rPr sz="1350" b="1" i="0">
                <a:solidFill>
                  <a:srgbClr val="16A34A"/>
                </a:solidFill>
                <a:latin typeface="Calibri"/>
              </a:rPr>
              <a:t>▪  </a:t>
            </a:r>
            <a:r>
              <a:rPr sz="1350" b="1" i="0">
                <a:solidFill>
                  <a:srgbClr val="1F2937"/>
                </a:solidFill>
                <a:latin typeface="Calibri"/>
              </a:rPr>
              <a:t>Portes en nombres entiers</a:t>
            </a:r>
            <a:r>
              <a:rPr sz="1350" b="0" i="0">
                <a:solidFill>
                  <a:srgbClr val="1F2937"/>
                </a:solidFill>
                <a:latin typeface="Calibri"/>
              </a:rPr>
              <a:t> : ⌈0,95 × d⌉ imprimé (« 384/404 — passé à zéro marge, consigné ») ; jamais un taux sans son n/d — « supprimer 63 phrases ou en corriger 63 donnent le même pourcentage »</a:t>
            </a:r>
          </a:p>
          <a:p>
            <a:pPr>
              <a:lnSpc>
                <a:spcPct val="102000"/>
              </a:lnSpc>
              <a:spcAft>
                <a:spcPts val="600"/>
              </a:spcAft>
            </a:pPr>
            <a:r>
              <a:rPr sz="1350" b="1" i="0">
                <a:solidFill>
                  <a:srgbClr val="16A34A"/>
                </a:solidFill>
                <a:latin typeface="Calibri"/>
              </a:rPr>
              <a:t>▪  </a:t>
            </a:r>
            <a:r>
              <a:rPr sz="1350" b="1" i="0">
                <a:solidFill>
                  <a:srgbClr val="1F2937"/>
                </a:solidFill>
                <a:latin typeface="Calibri"/>
              </a:rPr>
              <a:t>Un flag ambiant est une variable de mesure</a:t>
            </a:r>
            <a:r>
              <a:rPr sz="1350" b="0" i="0">
                <a:solidFill>
                  <a:srgbClr val="1F2937"/>
                </a:solidFill>
                <a:latin typeface="Calibri"/>
              </a:rPr>
              <a:t> : RERANK découvert flippé post-release → ajouté à l'empreinte de déploiement, au ledger et à chaque enregistrement, puis A/B propre</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Reproductibilité des évaluations sur API : non-déterminisme mesuré (2 complétions distinctes sur 8, épinglage compris, aucun system_fingerprint) — d'où paires, bandes de bruit et verdicts « indéterminé » qui sortent non-zéro.</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III · LA QUALITÉ</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Dix-huit releases — la courbe d'apprentissage</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548640" y="1271016"/>
          <a:ext cx="7772400" cy="4160520"/>
        </p:xfrm>
        <a:graphic>
          <a:graphicData uri="http://schemas.openxmlformats.org/drawingml/2006/chart">
            <c:chart xmlns:c="http://schemas.openxmlformats.org/drawingml/2006/chart" r:id="rId2"/>
          </a:graphicData>
        </a:graphic>
      </p:graphicFrame>
      <p:sp>
        <p:nvSpPr>
          <p:cNvPr id="7" name="Rounded Rectangle 6"/>
          <p:cNvSpPr/>
          <p:nvPr/>
        </p:nvSpPr>
        <p:spPr>
          <a:xfrm>
            <a:off x="8549640" y="1271016"/>
            <a:ext cx="3063240" cy="749808"/>
          </a:xfrm>
          <a:prstGeom prst="roundRect">
            <a:avLst>
              <a:gd name="adj" fmla="val 10000"/>
            </a:avLst>
          </a:prstGeom>
          <a:solidFill>
            <a:srgbClr val="F0FDF4"/>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18288"/>
          <a:lstStyle/>
          <a:p>
            <a:pPr algn="ctr">
              <a:lnSpc>
                <a:spcPct val="95000"/>
              </a:lnSpc>
            </a:pPr>
            <a:r>
              <a:rPr sz="1050" b="1" i="0">
                <a:solidFill>
                  <a:srgbClr val="14532D"/>
                </a:solidFill>
                <a:latin typeface="Calibri"/>
              </a:rPr>
              <a:t>R1 → R18 — </a:t>
            </a:r>
            <a:r>
              <a:rPr sz="950" b="0" i="0">
                <a:solidFill>
                  <a:srgbClr val="1F2937"/>
                </a:solidFill>
                <a:latin typeface="Calibri"/>
              </a:rPr>
              <a:t>57,0 % → 97,1 % de claims supportés — pendant que le gold passe de 66 à 157 cas (le périmètre durcit)</a:t>
            </a:r>
          </a:p>
        </p:txBody>
      </p:sp>
      <p:sp>
        <p:nvSpPr>
          <p:cNvPr id="8" name="Rounded Rectangle 7"/>
          <p:cNvSpPr/>
          <p:nvPr/>
        </p:nvSpPr>
        <p:spPr>
          <a:xfrm>
            <a:off x="8549640" y="2093976"/>
            <a:ext cx="3063240" cy="749808"/>
          </a:xfrm>
          <a:prstGeom prst="roundRect">
            <a:avLst>
              <a:gd name="adj" fmla="val 10000"/>
            </a:avLst>
          </a:prstGeom>
          <a:solidFill>
            <a:srgbClr val="F0FDF4"/>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18288"/>
          <a:lstStyle/>
          <a:p>
            <a:pPr algn="ctr">
              <a:lnSpc>
                <a:spcPct val="95000"/>
              </a:lnSpc>
            </a:pPr>
            <a:r>
              <a:rPr sz="1050" b="1" i="0">
                <a:solidFill>
                  <a:srgbClr val="14532D"/>
                </a:solidFill>
                <a:latin typeface="Calibri"/>
              </a:rPr>
              <a:t>R13 — </a:t>
            </a:r>
            <a:r>
              <a:rPr sz="950" b="0" i="0">
                <a:solidFill>
                  <a:srgbClr val="1F2937"/>
                </a:solidFill>
                <a:latin typeface="Calibri"/>
              </a:rPr>
              <a:t>paire exactement sur la porte : 94,9 / 95,0 % — consigné, zéro marge</a:t>
            </a:r>
          </a:p>
        </p:txBody>
      </p:sp>
      <p:sp>
        <p:nvSpPr>
          <p:cNvPr id="9" name="Rounded Rectangle 8"/>
          <p:cNvSpPr/>
          <p:nvPr/>
        </p:nvSpPr>
        <p:spPr>
          <a:xfrm>
            <a:off x="8549640" y="2916936"/>
            <a:ext cx="3063240" cy="749808"/>
          </a:xfrm>
          <a:prstGeom prst="roundRect">
            <a:avLst>
              <a:gd name="adj" fmla="val 10000"/>
            </a:avLst>
          </a:prstGeom>
          <a:solidFill>
            <a:srgbClr val="FEE2E2"/>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18288"/>
          <a:lstStyle/>
          <a:p>
            <a:pPr algn="ctr">
              <a:lnSpc>
                <a:spcPct val="95000"/>
              </a:lnSpc>
            </a:pPr>
            <a:r>
              <a:rPr sz="1050" b="1" i="0">
                <a:solidFill>
                  <a:srgbClr val="991B1B"/>
                </a:solidFill>
                <a:latin typeface="Calibri"/>
              </a:rPr>
              <a:t>R14 — </a:t>
            </a:r>
            <a:r>
              <a:rPr sz="950" b="0" i="0">
                <a:solidFill>
                  <a:srgbClr val="1F2937"/>
                </a:solidFill>
                <a:latin typeface="Calibri"/>
              </a:rPr>
              <a:t>porte ROUGE assumée : causes nommées (divergence transitoire du magasin, comptes d'en-têtes)</a:t>
            </a:r>
          </a:p>
        </p:txBody>
      </p:sp>
      <p:sp>
        <p:nvSpPr>
          <p:cNvPr id="10" name="Rounded Rectangle 9"/>
          <p:cNvSpPr/>
          <p:nvPr/>
        </p:nvSpPr>
        <p:spPr>
          <a:xfrm>
            <a:off x="8549640" y="3739896"/>
            <a:ext cx="3063240" cy="749808"/>
          </a:xfrm>
          <a:prstGeom prst="roundRect">
            <a:avLst>
              <a:gd name="adj" fmla="val 10000"/>
            </a:avLst>
          </a:prstGeom>
          <a:solidFill>
            <a:srgbClr val="DCFCE7"/>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18288"/>
          <a:lstStyle/>
          <a:p>
            <a:pPr algn="ctr">
              <a:lnSpc>
                <a:spcPct val="95000"/>
              </a:lnSpc>
            </a:pPr>
            <a:r>
              <a:rPr sz="1050" b="1" i="0">
                <a:solidFill>
                  <a:srgbClr val="14532D"/>
                </a:solidFill>
                <a:latin typeface="Calibri"/>
              </a:rPr>
              <a:t>R15 — </a:t>
            </a:r>
            <a:r>
              <a:rPr sz="950" b="0" i="0">
                <a:solidFill>
                  <a:srgbClr val="1F2937"/>
                </a:solidFill>
                <a:latin typeface="Calibri"/>
              </a:rPr>
              <a:t>paire VERTE après la cure du corpus : 95 pages ré-extraites, 87 guéries</a:t>
            </a:r>
          </a:p>
        </p:txBody>
      </p:sp>
      <p:sp>
        <p:nvSpPr>
          <p:cNvPr id="11" name="Rounded Rectangle 10"/>
          <p:cNvSpPr/>
          <p:nvPr/>
        </p:nvSpPr>
        <p:spPr>
          <a:xfrm>
            <a:off x="8549640" y="4562856"/>
            <a:ext cx="3063240" cy="749808"/>
          </a:xfrm>
          <a:prstGeom prst="roundRect">
            <a:avLst>
              <a:gd name="adj" fmla="val 10000"/>
            </a:avLst>
          </a:prstGeom>
          <a:solidFill>
            <a:srgbClr val="F0FDF4"/>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18288"/>
          <a:lstStyle/>
          <a:p>
            <a:pPr algn="ctr">
              <a:lnSpc>
                <a:spcPct val="95000"/>
              </a:lnSpc>
            </a:pPr>
            <a:r>
              <a:rPr sz="1050" b="1" i="0">
                <a:solidFill>
                  <a:srgbClr val="14532D"/>
                </a:solidFill>
                <a:latin typeface="Calibri"/>
              </a:rPr>
              <a:t>R18 — </a:t>
            </a:r>
            <a:r>
              <a:rPr sz="950" b="0" i="0">
                <a:solidFill>
                  <a:srgbClr val="1F2937"/>
                </a:solidFill>
                <a:latin typeface="Calibri"/>
              </a:rPr>
              <a:t>meilleur bras enregistré (575/592) ; contre-bras en attente de crédits API</a:t>
            </a:r>
          </a:p>
        </p:txBody>
      </p:sp>
      <p:sp>
        <p:nvSpPr>
          <p:cNvPr id="12" name="TextBox 11"/>
          <p:cNvSpPr txBox="1"/>
          <p:nvPr/>
        </p:nvSpPr>
        <p:spPr>
          <a:xfrm>
            <a:off x="548640" y="5449824"/>
            <a:ext cx="7772400" cy="457200"/>
          </a:xfrm>
          <a:prstGeom prst="rect">
            <a:avLst/>
          </a:prstGeom>
          <a:noFill/>
        </p:spPr>
        <p:txBody>
          <a:bodyPr wrap="square">
            <a:spAutoFit/>
          </a:bodyPr>
          <a:lstStyle/>
          <a:p>
            <a:r>
              <a:rPr sz="950" b="0" i="1">
                <a:solidFill>
                  <a:srgbClr val="6B7280"/>
                </a:solidFill>
                <a:latin typeface="Calibri"/>
              </a:rPr>
              <a:t>Chaque point : un enregistrement JSONL épinglé (température 0, seed) et checksummé ; pourcentages non comparables à périmètre constant.</a:t>
            </a:r>
          </a:p>
        </p:txBody>
      </p:sp>
      <p:sp>
        <p:nvSpPr>
          <p:cNvPr id="13" name="TextBox 12"/>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14" name="TextBox 13"/>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III · LA QUALITÉ</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L'audit de couverture et les quinze probes</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40480"/>
          </a:xfrm>
          <a:prstGeom prst="rect">
            <a:avLst/>
          </a:prstGeom>
          <a:noFill/>
        </p:spPr>
        <p:txBody>
          <a:bodyPr wrap="square">
            <a:spAutoFit/>
          </a:bodyPr>
          <a:lstStyle/>
          <a:p>
            <a:pPr>
              <a:lnSpc>
                <a:spcPct val="102000"/>
              </a:lnSpc>
              <a:spcAft>
                <a:spcPts val="600"/>
              </a:spcAft>
            </a:pPr>
            <a:r>
              <a:rPr sz="1400" b="1" i="0">
                <a:solidFill>
                  <a:srgbClr val="16A34A"/>
                </a:solidFill>
                <a:latin typeface="Calibri"/>
              </a:rPr>
              <a:t>▪  </a:t>
            </a:r>
            <a:r>
              <a:rPr sz="1400" b="1" i="0">
                <a:solidFill>
                  <a:srgbClr val="1F2937"/>
                </a:solidFill>
                <a:latin typeface="Calibri"/>
              </a:rPr>
              <a:t>L'audit prend le rapport pour objet</a:t>
            </a:r>
            <a:r>
              <a:rPr sz="1400" b="0" i="0">
                <a:solidFill>
                  <a:srgbClr val="1F2937"/>
                </a:solidFill>
                <a:latin typeface="Calibri"/>
              </a:rPr>
              <a:t> : le verdict « L1/L2 couverts » était un argument de capacité, </a:t>
            </a:r>
            <a:r>
              <a:rPr sz="1400" b="1" i="0">
                <a:solidFill>
                  <a:srgbClr val="1F2937"/>
                </a:solidFill>
                <a:latin typeface="Calibri"/>
              </a:rPr>
              <a:t>pas une mesure</a:t>
            </a:r>
            <a:r>
              <a:rPr sz="1400" b="0" i="0">
                <a:solidFill>
                  <a:srgbClr val="1F2937"/>
                </a:solidFill>
                <a:latin typeface="Calibri"/>
              </a:rPr>
              <a:t> — 89 cas ne touchaient que 27 documents sur 273 (9,9 %) et 5 champs sur 19</a:t>
            </a:r>
          </a:p>
          <a:p>
            <a:pPr>
              <a:lnSpc>
                <a:spcPct val="102000"/>
              </a:lnSpc>
              <a:spcAft>
                <a:spcPts val="400"/>
              </a:spcAft>
            </a:pPr>
            <a:r>
              <a:rPr sz="1250" b="0" i="0">
                <a:solidFill>
                  <a:srgbClr val="6B7280"/>
                </a:solidFill>
                <a:latin typeface="Calibri"/>
              </a:rPr>
              <a:t>    –  </a:t>
            </a:r>
            <a:r>
              <a:rPr sz="1250" b="1" i="0">
                <a:solidFill>
                  <a:srgbClr val="374151"/>
                </a:solidFill>
                <a:latin typeface="Calibri"/>
              </a:rPr>
              <a:t>22 formes de questions non couvertes</a:t>
            </a:r>
            <a:r>
              <a:rPr sz="1250" b="0" i="0">
                <a:solidFill>
                  <a:srgbClr val="374151"/>
                </a:solidFill>
                <a:latin typeface="Calibri"/>
              </a:rPr>
              <a:t> énumérées, dont 3 « fausses autorités » (une note étiquetée fiable injectée dans un tour qu'elle contredit)</a:t>
            </a:r>
          </a:p>
          <a:p>
            <a:pPr>
              <a:lnSpc>
                <a:spcPct val="102000"/>
              </a:lnSpc>
              <a:spcAft>
                <a:spcPts val="600"/>
              </a:spcAft>
            </a:pPr>
            <a:r>
              <a:rPr sz="1400" b="1" i="0">
                <a:solidFill>
                  <a:srgbClr val="16A34A"/>
                </a:solidFill>
                <a:latin typeface="Calibri"/>
              </a:rPr>
              <a:t>▪  </a:t>
            </a:r>
            <a:r>
              <a:rPr sz="1400" b="1" i="0">
                <a:solidFill>
                  <a:srgbClr val="1F2937"/>
                </a:solidFill>
                <a:latin typeface="Calibri"/>
              </a:rPr>
              <a:t>15 probes adversariales à travers le vrai pipeline (≈ 0,11 $)</a:t>
            </a:r>
            <a:r>
              <a:rPr sz="1400" b="0" i="0">
                <a:solidFill>
                  <a:srgbClr val="1F2937"/>
                </a:solidFill>
                <a:latin typeface="Calibri"/>
              </a:rPr>
              <a:t> : 8 honnêtes/correctes, 3 fausses, 2 énormément fausses, 1 note mensongère exposée</a:t>
            </a:r>
          </a:p>
          <a:p>
            <a:pPr>
              <a:lnSpc>
                <a:spcPct val="102000"/>
              </a:lnSpc>
              <a:spcAft>
                <a:spcPts val="400"/>
              </a:spcAft>
            </a:pPr>
            <a:r>
              <a:rPr sz="1250" b="0" i="0">
                <a:solidFill>
                  <a:srgbClr val="6B7280"/>
                </a:solidFill>
                <a:latin typeface="Calibri"/>
              </a:rPr>
              <a:t>    –  </a:t>
            </a:r>
            <a:r>
              <a:rPr sz="1250" b="0" i="0">
                <a:solidFill>
                  <a:srgbClr val="374151"/>
                </a:solidFill>
                <a:latin typeface="Calibri"/>
              </a:rPr>
              <a:t>F13 : « combien de pays couvre FP151 ? » → « cinq », cité, </a:t>
            </a:r>
            <a:r>
              <a:rPr sz="1250" b="1" i="0">
                <a:solidFill>
                  <a:srgbClr val="374151"/>
                </a:solidFill>
                <a:latin typeface="Calibri"/>
              </a:rPr>
              <a:t>certifié par le vérificateur</a:t>
            </a:r>
            <a:r>
              <a:rPr sz="1250" b="0" i="0">
                <a:solidFill>
                  <a:srgbClr val="374151"/>
                </a:solidFill>
                <a:latin typeface="Calibri"/>
              </a:rPr>
              <a:t> — vérité : 44 (la note tronquait sans le dire)</a:t>
            </a:r>
          </a:p>
          <a:p>
            <a:pPr>
              <a:lnSpc>
                <a:spcPct val="102000"/>
              </a:lnSpc>
              <a:spcAft>
                <a:spcPts val="400"/>
              </a:spcAft>
            </a:pPr>
            <a:r>
              <a:rPr sz="1250" b="0" i="0">
                <a:solidFill>
                  <a:srgbClr val="6B7280"/>
                </a:solidFill>
                <a:latin typeface="Calibri"/>
              </a:rPr>
              <a:t>    –  </a:t>
            </a:r>
            <a:r>
              <a:rPr sz="1250" b="0" i="0">
                <a:solidFill>
                  <a:srgbClr val="374151"/>
                </a:solidFill>
                <a:latin typeface="Calibri"/>
              </a:rPr>
              <a:t>F11 : sommes d'années fausses de </a:t>
            </a:r>
            <a:r>
              <a:rPr sz="1250" b="1" i="0">
                <a:solidFill>
                  <a:srgbClr val="374151"/>
                </a:solidFill>
                <a:latin typeface="Calibri"/>
              </a:rPr>
              <a:t>21× / 35×</a:t>
            </a:r>
            <a:r>
              <a:rPr sz="1250" b="0" i="0">
                <a:solidFill>
                  <a:srgbClr val="374151"/>
                </a:solidFill>
                <a:latin typeface="Calibri"/>
              </a:rPr>
              <a:t> (chaînes monétaires brutes non normalisées, aucune règle de refus de sommation)</a:t>
            </a:r>
          </a:p>
          <a:p>
            <a:pPr>
              <a:lnSpc>
                <a:spcPct val="102000"/>
              </a:lnSpc>
              <a:spcAft>
                <a:spcPts val="600"/>
              </a:spcAft>
            </a:pPr>
            <a:r>
              <a:rPr sz="1400" b="1" i="0">
                <a:solidFill>
                  <a:srgbClr val="16A34A"/>
                </a:solidFill>
                <a:latin typeface="Calibri"/>
              </a:rPr>
              <a:t>▪  </a:t>
            </a:r>
            <a:r>
              <a:rPr sz="1400" b="1" i="0">
                <a:solidFill>
                  <a:srgbClr val="1F2937"/>
                </a:solidFill>
                <a:latin typeface="Calibri"/>
              </a:rPr>
              <a:t>Les deux défauts racines étaient invisibles au gold par construction</a:t>
            </a:r>
            <a:r>
              <a:rPr sz="1400" b="0" i="0">
                <a:solidFill>
                  <a:srgbClr val="1F2937"/>
                </a:solidFill>
                <a:latin typeface="Calibri"/>
              </a:rPr>
              <a:t> → correctifs : troncature honnête (« 5 sur 44 — liste tronquée »), montants propres v2 + règle de non-sommation, index inverses</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 Un gold teste ce que servent ses mécanismes ; les probes testent ce que demandent les usagers. » — red-teaming d'évaluation, et retour sur la grille L1–L4 de Zhao et al. avec des dénominateurs cette fois.</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III · LA QUALITÉ</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La campagne de couverture — sept phases, un corpus cohérent</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243584"/>
          <a:ext cx="11091670" cy="2926080"/>
        </p:xfrm>
        <a:graphic>
          <a:graphicData uri="http://schemas.openxmlformats.org/drawingml/2006/table">
            <a:tbl>
              <a:tblPr>
                <a:tableStyleId>{5C22544A-7EE6-4342-B048-85BDC9FD1C3A}</a:tableStyleId>
              </a:tblPr>
              <a:tblGrid>
                <a:gridCol w="1611610"/>
                <a:gridCol w="3223220"/>
                <a:gridCol w="6256840"/>
              </a:tblGrid>
              <a:tr h="365760">
                <a:tc>
                  <a:txBody>
                    <a:bodyPr wrap="square"/>
                    <a:lstStyle/>
                    <a:p>
                      <a:pPr>
                        <a:lnSpc>
                          <a:spcPct val="98000"/>
                        </a:lnSpc>
                      </a:pPr>
                      <a:r>
                        <a:rPr sz="1000" b="1" i="0">
                          <a:solidFill>
                            <a:srgbClr val="FFFFFF"/>
                          </a:solidFill>
                          <a:latin typeface="Calibri"/>
                        </a:rPr>
                        <a:t>Phase</a:t>
                      </a:r>
                    </a:p>
                  </a:txBody>
                  <a:tcPr marL="54864" marR="54864" marT="27432" marB="27432" anchor="ctr">
                    <a:solidFill>
                      <a:srgbClr val="166534"/>
                    </a:solidFill>
                  </a:tcPr>
                </a:tc>
                <a:tc>
                  <a:txBody>
                    <a:bodyPr wrap="square"/>
                    <a:lstStyle/>
                    <a:p>
                      <a:pPr algn="l">
                        <a:lnSpc>
                          <a:spcPct val="98000"/>
                        </a:lnSpc>
                      </a:pPr>
                      <a:r>
                        <a:rPr sz="1000" b="1" i="0">
                          <a:solidFill>
                            <a:srgbClr val="FFFFFF"/>
                          </a:solidFill>
                          <a:latin typeface="Calibri"/>
                        </a:rPr>
                        <a:t>Objet</a:t>
                      </a:r>
                    </a:p>
                  </a:txBody>
                  <a:tcPr marL="54864" marR="54864" marT="27432" marB="27432" anchor="ctr">
                    <a:solidFill>
                      <a:srgbClr val="166534"/>
                    </a:solidFill>
                  </a:tcPr>
                </a:tc>
                <a:tc>
                  <a:txBody>
                    <a:bodyPr wrap="square"/>
                    <a:lstStyle/>
                    <a:p>
                      <a:pPr algn="l">
                        <a:lnSpc>
                          <a:spcPct val="98000"/>
                        </a:lnSpc>
                      </a:pPr>
                      <a:r>
                        <a:rPr sz="1000" b="1" i="0">
                          <a:solidFill>
                            <a:srgbClr val="FFFFFF"/>
                          </a:solidFill>
                          <a:latin typeface="Calibri"/>
                        </a:rPr>
                        <a:t>Résultat mesuré</a:t>
                      </a:r>
                    </a:p>
                  </a:txBody>
                  <a:tcPr marL="54864" marR="54864" marT="27432" marB="27432" anchor="ctr">
                    <a:solidFill>
                      <a:srgbClr val="166534"/>
                    </a:solidFill>
                  </a:tcPr>
                </a:tc>
              </a:tr>
              <a:tr h="365760">
                <a:tc>
                  <a:txBody>
                    <a:bodyPr wrap="square"/>
                    <a:lstStyle/>
                    <a:p>
                      <a:pPr>
                        <a:lnSpc>
                          <a:spcPct val="98000"/>
                        </a:lnSpc>
                      </a:pPr>
                      <a:r>
                        <a:rPr sz="1000" b="0" i="0">
                          <a:solidFill>
                            <a:srgbClr val="1F2937"/>
                          </a:solidFill>
                          <a:latin typeface="Calibri"/>
                        </a:rPr>
                        <a:t>1 · Mécanismes L1</a:t>
                      </a:r>
                    </a:p>
                  </a:txBody>
                  <a:tcPr marL="54864" marR="54864" marT="27432" marB="27432" anchor="ctr">
                    <a:solidFill>
                      <a:srgbClr val="FFFFFF"/>
                    </a:solidFill>
                  </a:tcPr>
                </a:tc>
                <a:tc>
                  <a:txBody>
                    <a:bodyPr wrap="square"/>
                    <a:lstStyle/>
                    <a:p>
                      <a:pPr algn="l">
                        <a:lnSpc>
                          <a:spcPct val="98000"/>
                        </a:lnSpc>
                      </a:pPr>
                      <a:r>
                        <a:rPr sz="1000" b="0" i="0">
                          <a:solidFill>
                            <a:srgbClr val="1F2937"/>
                          </a:solidFill>
                          <a:latin typeface="Calibri"/>
                        </a:rPr>
                        <a:t>chaque fait stocké interrogeable à l'arité 1</a:t>
                      </a:r>
                    </a:p>
                  </a:txBody>
                  <a:tcPr marL="54864" marR="54864" marT="27432" marB="27432" anchor="ctr">
                    <a:solidFill>
                      <a:srgbClr val="FFFFFF"/>
                    </a:solidFill>
                  </a:tcPr>
                </a:tc>
                <a:tc>
                  <a:txBody>
                    <a:bodyPr wrap="square"/>
                    <a:lstStyle/>
                    <a:p>
                      <a:pPr algn="l">
                        <a:lnSpc>
                          <a:spcPct val="98000"/>
                        </a:lnSpc>
                      </a:pPr>
                      <a:r>
                        <a:rPr sz="1000" b="0" i="0">
                          <a:solidFill>
                            <a:srgbClr val="1F2937"/>
                          </a:solidFill>
                          <a:latin typeface="Calibri"/>
                        </a:rPr>
                        <a:t>1 195 paires (document, champ) servables ; 3 champs ajoutés ; drapeaux d'honnêteté d'extraction</a:t>
                      </a:r>
                    </a:p>
                  </a:txBody>
                  <a:tcPr marL="54864" marR="54864" marT="27432" marB="27432" anchor="ctr">
                    <a:solidFill>
                      <a:srgbClr val="FFFFFF"/>
                    </a:solidFill>
                  </a:tcPr>
                </a:tc>
              </a:tr>
              <a:tr h="365760">
                <a:tc>
                  <a:txBody>
                    <a:bodyPr wrap="square"/>
                    <a:lstStyle/>
                    <a:p>
                      <a:pPr>
                        <a:lnSpc>
                          <a:spcPct val="98000"/>
                        </a:lnSpc>
                      </a:pPr>
                      <a:r>
                        <a:rPr sz="1000" b="0" i="0">
                          <a:solidFill>
                            <a:srgbClr val="1F2937"/>
                          </a:solidFill>
                          <a:latin typeface="Calibri"/>
                        </a:rPr>
                        <a:t>2 · Mécanismes L2</a:t>
                      </a:r>
                    </a:p>
                  </a:txBody>
                  <a:tcPr marL="54864" marR="54864" marT="27432" marB="27432" anchor="ctr">
                    <a:solidFill>
                      <a:srgbClr val="F5F5F4"/>
                    </a:solidFill>
                  </a:tcPr>
                </a:tc>
                <a:tc>
                  <a:txBody>
                    <a:bodyPr wrap="square"/>
                    <a:lstStyle/>
                    <a:p>
                      <a:pPr algn="l">
                        <a:lnSpc>
                          <a:spcPct val="98000"/>
                        </a:lnSpc>
                      </a:pPr>
                      <a:r>
                        <a:rPr sz="1000" b="0" i="0">
                          <a:solidFill>
                            <a:srgbClr val="1F2937"/>
                          </a:solidFill>
                          <a:latin typeface="Calibri"/>
                        </a:rPr>
                        <a:t>conflits, comparaisons larges, probe de pages</a:t>
                      </a:r>
                    </a:p>
                  </a:txBody>
                  <a:tcPr marL="54864" marR="54864" marT="27432" marB="27432" anchor="ctr">
                    <a:solidFill>
                      <a:srgbClr val="F5F5F4"/>
                    </a:solidFill>
                  </a:tcPr>
                </a:tc>
                <a:tc>
                  <a:txBody>
                    <a:bodyPr wrap="square"/>
                    <a:lstStyle/>
                    <a:p>
                      <a:pPr algn="l">
                        <a:lnSpc>
                          <a:spcPct val="98000"/>
                        </a:lnSpc>
                      </a:pPr>
                      <a:r>
                        <a:rPr sz="1000" b="0" i="0">
                          <a:solidFill>
                            <a:srgbClr val="1F2937"/>
                          </a:solidFill>
                          <a:latin typeface="Calibri"/>
                        </a:rPr>
                        <a:t>pages de conflit : 8/14 → 14/14 via probe_pages (18/18 en fixture)</a:t>
                      </a:r>
                    </a:p>
                  </a:txBody>
                  <a:tcPr marL="54864" marR="54864" marT="27432" marB="27432" anchor="ctr">
                    <a:solidFill>
                      <a:srgbClr val="F5F5F4"/>
                    </a:solidFill>
                  </a:tcPr>
                </a:tc>
              </a:tr>
              <a:tr h="365760">
                <a:tc>
                  <a:txBody>
                    <a:bodyPr wrap="square"/>
                    <a:lstStyle/>
                    <a:p>
                      <a:pPr>
                        <a:lnSpc>
                          <a:spcPct val="98000"/>
                        </a:lnSpc>
                      </a:pPr>
                      <a:r>
                        <a:rPr sz="1000" b="0" i="0">
                          <a:solidFill>
                            <a:srgbClr val="1F2937"/>
                          </a:solidFill>
                          <a:latin typeface="Calibri"/>
                        </a:rPr>
                        <a:t>2½ · Index sectionné</a:t>
                      </a:r>
                    </a:p>
                  </a:txBody>
                  <a:tcPr marL="54864" marR="54864" marT="27432" marB="27432" anchor="ctr">
                    <a:solidFill>
                      <a:srgbClr val="FFFFFF"/>
                    </a:solidFill>
                  </a:tcPr>
                </a:tc>
                <a:tc>
                  <a:txBody>
                    <a:bodyPr wrap="square"/>
                    <a:lstStyle/>
                    <a:p>
                      <a:pPr algn="l">
                        <a:lnSpc>
                          <a:spcPct val="98000"/>
                        </a:lnSpc>
                      </a:pPr>
                      <a:r>
                        <a:rPr sz="1000" b="0" i="0">
                          <a:solidFill>
                            <a:srgbClr val="1F2937"/>
                          </a:solidFill>
                          <a:latin typeface="Calibri"/>
                        </a:rPr>
                        <a:t>A/B de l'index v2 par sections</a:t>
                      </a:r>
                    </a:p>
                  </a:txBody>
                  <a:tcPr marL="54864" marR="54864" marT="27432" marB="27432" anchor="ctr">
                    <a:solidFill>
                      <a:srgbClr val="FFFFFF"/>
                    </a:solidFill>
                  </a:tcPr>
                </a:tc>
                <a:tc>
                  <a:txBody>
                    <a:bodyPr wrap="square"/>
                    <a:lstStyle/>
                    <a:p>
                      <a:pPr algn="l">
                        <a:lnSpc>
                          <a:spcPct val="98000"/>
                        </a:lnSpc>
                      </a:pPr>
                      <a:r>
                        <a:rPr sz="1000" b="0" i="0">
                          <a:solidFill>
                            <a:srgbClr val="1F2937"/>
                          </a:solidFill>
                          <a:latin typeface="Calibri"/>
                        </a:rPr>
                        <a:t>REJETÉ en classement (1 mieux / 6 pires) ; capacité d'adressage gardée par une autre voie</a:t>
                      </a:r>
                    </a:p>
                  </a:txBody>
                  <a:tcPr marL="54864" marR="54864" marT="27432" marB="27432" anchor="ctr">
                    <a:solidFill>
                      <a:srgbClr val="FFFFFF"/>
                    </a:solidFill>
                  </a:tcPr>
                </a:tc>
              </a:tr>
              <a:tr h="365760">
                <a:tc>
                  <a:txBody>
                    <a:bodyPr wrap="square"/>
                    <a:lstStyle/>
                    <a:p>
                      <a:pPr>
                        <a:lnSpc>
                          <a:spcPct val="98000"/>
                        </a:lnSpc>
                      </a:pPr>
                      <a:r>
                        <a:rPr sz="1000" b="0" i="0">
                          <a:solidFill>
                            <a:srgbClr val="1F2937"/>
                          </a:solidFill>
                          <a:latin typeface="Calibri"/>
                        </a:rPr>
                        <a:t>3 · Données</a:t>
                      </a:r>
                    </a:p>
                  </a:txBody>
                  <a:tcPr marL="54864" marR="54864" marT="27432" marB="27432" anchor="ctr">
                    <a:solidFill>
                      <a:srgbClr val="F5F5F4"/>
                    </a:solidFill>
                  </a:tcPr>
                </a:tc>
                <a:tc>
                  <a:txBody>
                    <a:bodyPr wrap="square"/>
                    <a:lstStyle/>
                    <a:p>
                      <a:pPr algn="l">
                        <a:lnSpc>
                          <a:spcPct val="98000"/>
                        </a:lnSpc>
                      </a:pPr>
                      <a:r>
                        <a:rPr sz="1000" b="0" i="0">
                          <a:solidFill>
                            <a:srgbClr val="1F2937"/>
                          </a:solidFill>
                          <a:latin typeface="Calibri"/>
                        </a:rPr>
                        <a:t>couvrir les 273 documents (gabarits, absences)</a:t>
                      </a:r>
                    </a:p>
                  </a:txBody>
                  <a:tcPr marL="54864" marR="54864" marT="27432" marB="27432" anchor="ctr">
                    <a:solidFill>
                      <a:srgbClr val="F5F5F4"/>
                    </a:solidFill>
                  </a:tcPr>
                </a:tc>
                <a:tc>
                  <a:txBody>
                    <a:bodyPr wrap="square"/>
                    <a:lstStyle/>
                    <a:p>
                      <a:pPr algn="l">
                        <a:lnSpc>
                          <a:spcPct val="98000"/>
                        </a:lnSpc>
                      </a:pPr>
                      <a:r>
                        <a:rPr sz="1000" b="0" i="0">
                          <a:solidFill>
                            <a:srgbClr val="1F2937"/>
                          </a:solidFill>
                          <a:latin typeface="Calibri"/>
                        </a:rPr>
                        <a:t>129 chiffres suspects adjudiqués → 117 corrections ; cure : 95 pages ré-extraites, 87 guéries</a:t>
                      </a:r>
                    </a:p>
                  </a:txBody>
                  <a:tcPr marL="54864" marR="54864" marT="27432" marB="27432" anchor="ctr">
                    <a:solidFill>
                      <a:srgbClr val="F5F5F4"/>
                    </a:solidFill>
                  </a:tcPr>
                </a:tc>
              </a:tr>
              <a:tr h="365760">
                <a:tc>
                  <a:txBody>
                    <a:bodyPr wrap="square"/>
                    <a:lstStyle/>
                    <a:p>
                      <a:pPr>
                        <a:lnSpc>
                          <a:spcPct val="98000"/>
                        </a:lnSpc>
                      </a:pPr>
                      <a:r>
                        <a:rPr sz="1000" b="0" i="0">
                          <a:solidFill>
                            <a:srgbClr val="1F2937"/>
                          </a:solidFill>
                          <a:latin typeface="Calibri"/>
                        </a:rPr>
                        <a:t>4 · Gold</a:t>
                      </a:r>
                    </a:p>
                  </a:txBody>
                  <a:tcPr marL="54864" marR="54864" marT="27432" marB="27432" anchor="ctr">
                    <a:solidFill>
                      <a:srgbClr val="FFFFFF"/>
                    </a:solidFill>
                  </a:tcPr>
                </a:tc>
                <a:tc>
                  <a:txBody>
                    <a:bodyPr wrap="square"/>
                    <a:lstStyle/>
                    <a:p>
                      <a:pPr algn="l">
                        <a:lnSpc>
                          <a:spcPct val="98000"/>
                        </a:lnSpc>
                      </a:pPr>
                      <a:r>
                        <a:rPr sz="1000" b="0" i="0">
                          <a:solidFill>
                            <a:srgbClr val="1F2937"/>
                          </a:solidFill>
                          <a:latin typeface="Calibri"/>
                        </a:rPr>
                        <a:t>échantillonner le corpus revendiqué</a:t>
                      </a:r>
                    </a:p>
                  </a:txBody>
                  <a:tcPr marL="54864" marR="54864" marT="27432" marB="27432" anchor="ctr">
                    <a:solidFill>
                      <a:srgbClr val="FFFFFF"/>
                    </a:solidFill>
                  </a:tcPr>
                </a:tc>
                <a:tc>
                  <a:txBody>
                    <a:bodyPr wrap="square"/>
                    <a:lstStyle/>
                    <a:p>
                      <a:pPr algn="l">
                        <a:lnSpc>
                          <a:spcPct val="98000"/>
                        </a:lnSpc>
                      </a:pPr>
                      <a:r>
                        <a:rPr sz="1000" b="0" i="0">
                          <a:solidFill>
                            <a:srgbClr val="1F2937"/>
                          </a:solidFill>
                          <a:latin typeface="Calibri"/>
                        </a:rPr>
                        <a:t>66 → 157 cas ; 70/273 documents (25,6 %) ; 12 classes de comportement</a:t>
                      </a:r>
                    </a:p>
                  </a:txBody>
                  <a:tcPr marL="54864" marR="54864" marT="27432" marB="27432" anchor="ctr">
                    <a:solidFill>
                      <a:srgbClr val="FFFFFF"/>
                    </a:solidFill>
                  </a:tcPr>
                </a:tc>
              </a:tr>
              <a:tr h="365760">
                <a:tc>
                  <a:txBody>
                    <a:bodyPr wrap="square"/>
                    <a:lstStyle/>
                    <a:p>
                      <a:pPr>
                        <a:lnSpc>
                          <a:spcPct val="98000"/>
                        </a:lnSpc>
                      </a:pPr>
                      <a:r>
                        <a:rPr sz="1000" b="0" i="0">
                          <a:solidFill>
                            <a:srgbClr val="1F2937"/>
                          </a:solidFill>
                          <a:latin typeface="Calibri"/>
                        </a:rPr>
                        <a:t>5 · L3 honnête</a:t>
                      </a:r>
                    </a:p>
                  </a:txBody>
                  <a:tcPr marL="54864" marR="54864" marT="27432" marB="27432" anchor="ctr">
                    <a:solidFill>
                      <a:srgbClr val="F5F5F4"/>
                    </a:solidFill>
                  </a:tcPr>
                </a:tc>
                <a:tc>
                  <a:txBody>
                    <a:bodyPr wrap="square"/>
                    <a:lstStyle/>
                    <a:p>
                      <a:pPr algn="l">
                        <a:lnSpc>
                          <a:spcPct val="98000"/>
                        </a:lnSpc>
                      </a:pPr>
                      <a:r>
                        <a:rPr sz="1000" b="0" i="0">
                          <a:solidFill>
                            <a:srgbClr val="1F2937"/>
                          </a:solidFill>
                          <a:latin typeface="Calibri"/>
                        </a:rPr>
                        <a:t>procédures &amp; politiques GCF</a:t>
                      </a:r>
                    </a:p>
                  </a:txBody>
                  <a:tcPr marL="54864" marR="54864" marT="27432" marB="27432" anchor="ctr">
                    <a:solidFill>
                      <a:srgbClr val="F5F5F4"/>
                    </a:solidFill>
                  </a:tcPr>
                </a:tc>
                <a:tc>
                  <a:txBody>
                    <a:bodyPr wrap="square"/>
                    <a:lstStyle/>
                    <a:p>
                      <a:pPr algn="l">
                        <a:lnSpc>
                          <a:spcPct val="98000"/>
                        </a:lnSpc>
                      </a:pPr>
                      <a:r>
                        <a:rPr sz="1000" b="0" i="0">
                          <a:solidFill>
                            <a:srgbClr val="1F2937"/>
                          </a:solidFill>
                          <a:latin typeface="Calibri"/>
                        </a:rPr>
                        <a:t>classe « procédure » 59/59 ; ingestion des politiques en attente (décision propriétaire)</a:t>
                      </a:r>
                    </a:p>
                  </a:txBody>
                  <a:tcPr marL="54864" marR="54864" marT="27432" marB="27432" anchor="ctr">
                    <a:solidFill>
                      <a:srgbClr val="F5F5F4"/>
                    </a:solidFill>
                  </a:tcPr>
                </a:tc>
              </a:tr>
              <a:tr h="365760">
                <a:tc>
                  <a:txBody>
                    <a:bodyPr wrap="square"/>
                    <a:lstStyle/>
                    <a:p>
                      <a:pPr>
                        <a:lnSpc>
                          <a:spcPct val="98000"/>
                        </a:lnSpc>
                      </a:pPr>
                      <a:r>
                        <a:rPr sz="1000" b="0" i="0">
                          <a:solidFill>
                            <a:srgbClr val="1F2937"/>
                          </a:solidFill>
                          <a:latin typeface="Calibri"/>
                        </a:rPr>
                        <a:t>6 · Instruments</a:t>
                      </a:r>
                    </a:p>
                  </a:txBody>
                  <a:tcPr marL="54864" marR="54864" marT="27432" marB="27432" anchor="ctr">
                    <a:solidFill>
                      <a:srgbClr val="FFFFFF"/>
                    </a:solidFill>
                  </a:tcPr>
                </a:tc>
                <a:tc>
                  <a:txBody>
                    <a:bodyPr wrap="square"/>
                    <a:lstStyle/>
                    <a:p>
                      <a:pPr algn="l">
                        <a:lnSpc>
                          <a:spcPct val="98000"/>
                        </a:lnSpc>
                      </a:pPr>
                      <a:r>
                        <a:rPr sz="1000" b="0" i="0">
                          <a:solidFill>
                            <a:srgbClr val="1F2937"/>
                          </a:solidFill>
                          <a:latin typeface="Calibri"/>
                        </a:rPr>
                        <a:t>chaque score &lt; 1,00 = vrai défaut</a:t>
                      </a:r>
                    </a:p>
                  </a:txBody>
                  <a:tcPr marL="54864" marR="54864" marT="27432" marB="27432" anchor="ctr">
                    <a:solidFill>
                      <a:srgbClr val="FFFFFF"/>
                    </a:solidFill>
                  </a:tcPr>
                </a:tc>
                <a:tc>
                  <a:txBody>
                    <a:bodyPr wrap="square"/>
                    <a:lstStyle/>
                    <a:p>
                      <a:pPr algn="l">
                        <a:lnSpc>
                          <a:spcPct val="98000"/>
                        </a:lnSpc>
                      </a:pPr>
                      <a:r>
                        <a:rPr sz="1000" b="0" i="0">
                          <a:solidFill>
                            <a:srgbClr val="1F2937"/>
                          </a:solidFill>
                          <a:latin typeface="Calibri"/>
                        </a:rPr>
                        <a:t>ouvert : formes d'abstention, regex de conflit à deux mots</a:t>
                      </a:r>
                    </a:p>
                  </a:txBody>
                  <a:tcPr marL="54864" marR="54864" marT="27432" marB="27432" anchor="ctr">
                    <a:solidFill>
                      <a:srgbClr val="FFFFFF"/>
                    </a:solidFill>
                  </a:tcPr>
                </a:tc>
              </a:tr>
            </a:tbl>
          </a:graphicData>
        </a:graphic>
      </p:graphicFrame>
      <p:sp>
        <p:nvSpPr>
          <p:cNvPr id="7" name="TextBox 6"/>
          <p:cNvSpPr txBox="1"/>
          <p:nvPr/>
        </p:nvSpPr>
        <p:spPr>
          <a:xfrm>
            <a:off x="548640" y="5349240"/>
            <a:ext cx="11091672" cy="868680"/>
          </a:xfrm>
          <a:prstGeom prst="rect">
            <a:avLst/>
          </a:prstGeom>
          <a:noFill/>
        </p:spPr>
        <p:txBody>
          <a:bodyPr wrap="square">
            <a:spAutoFit/>
          </a:bodyPr>
          <a:lstStyle/>
          <a:p>
            <a:r>
              <a:rPr sz="1150" b="0" i="0">
                <a:solidFill>
                  <a:srgbClr val="1F2937"/>
                </a:solidFill>
                <a:latin typeface="Calibri"/>
              </a:rPr>
              <a:t>Issue : release-14 ROUGE (les deux bras, causes nommées) → cure du corpus → release-15 paire VERTE — « la couche texte des PDFs, le corpus servi, le magasin, le gold et la base du scoreur décrivent désormais un seul corpus. » Puis passe « longueur de réponse » (R16–R18) : réponse d'abord, contexte cité ensuite — médiane des réponses identifiants 221 → 555 caractères, R18 à 97,1 %.</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53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51560"/>
            <a:ext cx="2377440" cy="1463040"/>
          </a:xfrm>
          <a:prstGeom prst="rect">
            <a:avLst/>
          </a:prstGeom>
          <a:noFill/>
        </p:spPr>
        <p:txBody>
          <a:bodyPr wrap="square">
            <a:spAutoFit/>
          </a:bodyPr>
          <a:lstStyle/>
          <a:p>
            <a:r>
              <a:rPr sz="8800" b="1" i="0">
                <a:solidFill>
                  <a:srgbClr val="16A34A"/>
                </a:solidFill>
                <a:latin typeface="Calibri"/>
              </a:rPr>
              <a:t>IV</a:t>
            </a:r>
          </a:p>
        </p:txBody>
      </p:sp>
      <p:sp>
        <p:nvSpPr>
          <p:cNvPr id="4" name="TextBox 3"/>
          <p:cNvSpPr txBox="1"/>
          <p:nvPr/>
        </p:nvSpPr>
        <p:spPr>
          <a:xfrm>
            <a:off x="548640" y="2606040"/>
            <a:ext cx="10515600" cy="914400"/>
          </a:xfrm>
          <a:prstGeom prst="rect">
            <a:avLst/>
          </a:prstGeom>
          <a:noFill/>
        </p:spPr>
        <p:txBody>
          <a:bodyPr wrap="square">
            <a:spAutoFit/>
          </a:bodyPr>
          <a:lstStyle/>
          <a:p>
            <a:r>
              <a:rPr sz="3400" b="1" i="0">
                <a:solidFill>
                  <a:srgbClr val="FFFFFF"/>
                </a:solidFill>
                <a:latin typeface="Calibri"/>
              </a:rPr>
              <a:t>Exploitation, bilan et perspectives</a:t>
            </a:r>
          </a:p>
        </p:txBody>
      </p:sp>
      <p:sp>
        <p:nvSpPr>
          <p:cNvPr id="5" name="Rectangle 4"/>
          <p:cNvSpPr/>
          <p:nvPr/>
        </p:nvSpPr>
        <p:spPr>
          <a:xfrm>
            <a:off x="548640" y="3429000"/>
            <a:ext cx="2011680" cy="381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794760"/>
            <a:ext cx="10515600" cy="2194560"/>
          </a:xfrm>
          <a:prstGeom prst="rect">
            <a:avLst/>
          </a:prstGeom>
          <a:noFill/>
        </p:spPr>
        <p:txBody>
          <a:bodyPr wrap="square">
            <a:spAutoFit/>
          </a:bodyPr>
          <a:lstStyle/>
          <a:p>
            <a:pPr>
              <a:spcAft>
                <a:spcPts val="800"/>
              </a:spcAft>
            </a:pPr>
            <a:r>
              <a:rPr sz="1500" b="1" i="0">
                <a:solidFill>
                  <a:srgbClr val="16A34A"/>
                </a:solidFill>
                <a:latin typeface="Calibri"/>
              </a:rPr>
              <a:t>—  </a:t>
            </a:r>
            <a:r>
              <a:rPr sz="1500" b="0" i="0">
                <a:solidFill>
                  <a:srgbClr val="D1FAE5"/>
                </a:solidFill>
                <a:latin typeface="Calibri"/>
              </a:rPr>
              <a:t>Interface, authentification, déploiement et rollback outillés</a:t>
            </a:r>
          </a:p>
          <a:p>
            <a:pPr>
              <a:spcAft>
                <a:spcPts val="800"/>
              </a:spcAft>
            </a:pPr>
            <a:r>
              <a:rPr sz="1500" b="1" i="0">
                <a:solidFill>
                  <a:srgbClr val="16A34A"/>
                </a:solidFill>
                <a:latin typeface="Calibri"/>
              </a:rPr>
              <a:t>—  </a:t>
            </a:r>
            <a:r>
              <a:rPr sz="1500" b="0" i="0">
                <a:solidFill>
                  <a:srgbClr val="D1FAE5"/>
                </a:solidFill>
                <a:latin typeface="Calibri"/>
              </a:rPr>
              <a:t>La discipline d'ingénierie : re-architecture, tests, incidents assumés</a:t>
            </a:r>
          </a:p>
          <a:p>
            <a:pPr>
              <a:spcAft>
                <a:spcPts val="800"/>
              </a:spcAft>
            </a:pPr>
            <a:r>
              <a:rPr sz="1500" b="1" i="0">
                <a:solidFill>
                  <a:srgbClr val="16A34A"/>
                </a:solidFill>
                <a:latin typeface="Calibri"/>
              </a:rPr>
              <a:t>—  </a:t>
            </a:r>
            <a:r>
              <a:rPr sz="1500" b="0" i="0">
                <a:solidFill>
                  <a:srgbClr val="D1FAE5"/>
                </a:solidFill>
                <a:latin typeface="Calibri"/>
              </a:rPr>
              <a:t>Synthèse des intersections avec la littérature — et les choix négatifs éclairés</a:t>
            </a:r>
          </a:p>
          <a:p>
            <a:pPr>
              <a:spcAft>
                <a:spcPts val="800"/>
              </a:spcAft>
            </a:pPr>
            <a:r>
              <a:rPr sz="1500" b="1" i="0">
                <a:solidFill>
                  <a:srgbClr val="16A34A"/>
                </a:solidFill>
                <a:latin typeface="Calibri"/>
              </a:rPr>
              <a:t>—  </a:t>
            </a:r>
            <a:r>
              <a:rPr sz="1500" b="0" i="0">
                <a:solidFill>
                  <a:srgbClr val="D1FAE5"/>
                </a:solidFill>
                <a:latin typeface="Calibri"/>
              </a:rPr>
              <a:t>Limites connues et travaux futurs</a:t>
            </a:r>
          </a:p>
        </p:txBody>
      </p:sp>
      <p:sp>
        <p:nvSpPr>
          <p:cNvPr id="7" name="TextBox 6"/>
          <p:cNvSpPr txBox="1"/>
          <p:nvPr/>
        </p:nvSpPr>
        <p:spPr>
          <a:xfrm>
            <a:off x="548640" y="6510528"/>
            <a:ext cx="7315200" cy="274320"/>
          </a:xfrm>
          <a:prstGeom prst="rect">
            <a:avLst/>
          </a:prstGeom>
          <a:noFill/>
        </p:spPr>
        <p:txBody>
          <a:bodyPr wrap="square">
            <a:spAutoFit/>
          </a:bodyPr>
          <a:lstStyle/>
          <a:p>
            <a:r>
              <a:rPr sz="900" b="0" i="0">
                <a:solidFill>
                  <a:srgbClr val="A7C4AF"/>
                </a:solidFill>
                <a:latin typeface="Calibri"/>
              </a:rPr>
              <a:t>SSA CHATBOT — plateforme RAG · propositions de financement GCF</a:t>
            </a:r>
          </a:p>
        </p:txBody>
      </p:sp>
      <p:sp>
        <p:nvSpPr>
          <p:cNvPr id="8" name="TextBox 7"/>
          <p:cNvSpPr txBox="1"/>
          <p:nvPr/>
        </p:nvSpPr>
        <p:spPr>
          <a:xfrm>
            <a:off x="11292840" y="6510528"/>
            <a:ext cx="640080" cy="274320"/>
          </a:xfrm>
          <a:prstGeom prst="rect">
            <a:avLst/>
          </a:prstGeom>
          <a:noFill/>
        </p:spPr>
        <p:txBody>
          <a:bodyPr wrap="square">
            <a:spAutoFit/>
          </a:bodyPr>
          <a:lstStyle/>
          <a:p>
            <a:pPr algn="r"/>
            <a:r>
              <a:rPr sz="900" b="0" i="0">
                <a:solidFill>
                  <a:srgbClr val="A7C4AF"/>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IV · EXPLOITATION</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Interface et déploiement</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86200"/>
          </a:xfrm>
          <a:prstGeom prst="rect">
            <a:avLst/>
          </a:prstGeom>
          <a:noFill/>
        </p:spPr>
        <p:txBody>
          <a:bodyPr wrap="square">
            <a:spAutoFit/>
          </a:bodyPr>
          <a:lstStyle/>
          <a:p>
            <a:pPr>
              <a:lnSpc>
                <a:spcPct val="102000"/>
              </a:lnSpc>
              <a:spcAft>
                <a:spcPts val="600"/>
              </a:spcAft>
            </a:pPr>
            <a:r>
              <a:rPr sz="1350" b="1" i="0">
                <a:solidFill>
                  <a:srgbClr val="16A34A"/>
                </a:solidFill>
                <a:latin typeface="Calibri"/>
              </a:rPr>
              <a:t>▪  </a:t>
            </a:r>
            <a:r>
              <a:rPr sz="1350" b="1" i="0">
                <a:solidFill>
                  <a:srgbClr val="1F2937"/>
                </a:solidFill>
                <a:latin typeface="Calibri"/>
              </a:rPr>
              <a:t>Interface Chainlit</a:t>
            </a:r>
            <a:r>
              <a:rPr sz="1350" b="0" i="0">
                <a:solidFill>
                  <a:srgbClr val="1F2937"/>
                </a:solidFill>
                <a:latin typeface="Calibri"/>
              </a:rPr>
              <a:t> (« SSA CHATBOT ») : fils de conversation persistants (SQLite), auto-inscription avec mots de passe </a:t>
            </a:r>
            <a:r>
              <a:rPr sz="1350" b="1" i="0">
                <a:solidFill>
                  <a:srgbClr val="1F2937"/>
                </a:solidFill>
                <a:latin typeface="Calibri"/>
              </a:rPr>
              <a:t>scrypt</a:t>
            </a:r>
            <a:r>
              <a:rPr sz="1350" b="0" i="0">
                <a:solidFill>
                  <a:srgbClr val="1F2937"/>
                </a:solidFill>
                <a:latin typeface="Calibri"/>
              </a:rPr>
              <a:t>, page /register dédiée (CSP stricte), 19 traductions</a:t>
            </a:r>
          </a:p>
          <a:p>
            <a:pPr>
              <a:lnSpc>
                <a:spcPct val="102000"/>
              </a:lnSpc>
              <a:spcAft>
                <a:spcPts val="400"/>
              </a:spcAft>
            </a:pPr>
            <a:r>
              <a:rPr sz="1200" b="0" i="0">
                <a:solidFill>
                  <a:srgbClr val="6B7280"/>
                </a:solidFill>
                <a:latin typeface="Calibri"/>
              </a:rPr>
              <a:t>    –  </a:t>
            </a:r>
            <a:r>
              <a:rPr sz="1200" b="0" i="0">
                <a:solidFill>
                  <a:srgbClr val="374151"/>
                </a:solidFill>
                <a:latin typeface="Calibri"/>
              </a:rPr>
              <a:t>chaque réponse : citations cliquables, ligne de sources (pages citées d'abord), jusqu'à 3 pages preuves surlignées</a:t>
            </a:r>
          </a:p>
          <a:p>
            <a:pPr>
              <a:lnSpc>
                <a:spcPct val="102000"/>
              </a:lnSpc>
              <a:spcAft>
                <a:spcPts val="600"/>
              </a:spcAft>
            </a:pPr>
            <a:r>
              <a:rPr sz="1350" b="1" i="0">
                <a:solidFill>
                  <a:srgbClr val="16A34A"/>
                </a:solidFill>
                <a:latin typeface="Calibri"/>
              </a:rPr>
              <a:t>▪  </a:t>
            </a:r>
            <a:r>
              <a:rPr sz="1350" b="1" i="0">
                <a:solidFill>
                  <a:srgbClr val="1F2937"/>
                </a:solidFill>
                <a:latin typeface="Calibri"/>
              </a:rPr>
              <a:t>Conteneurisation</a:t>
            </a:r>
            <a:r>
              <a:rPr sz="1350" b="0" i="0">
                <a:solidFill>
                  <a:srgbClr val="1F2937"/>
                </a:solidFill>
                <a:latin typeface="Calibri"/>
              </a:rPr>
              <a:t> : Dockerfile deux étages (torch CPU-only : ~2 Go économisés), utilisateur non-root, tini, healthcheck ; reverse-proxy Caddy par labels — production </a:t>
            </a:r>
            <a:r>
              <a:rPr sz="1350" b="1" i="0">
                <a:solidFill>
                  <a:srgbClr val="1F2937"/>
                </a:solidFill>
                <a:latin typeface="Calibri"/>
              </a:rPr>
              <a:t>https://fp-gcf.ssa.tg</a:t>
            </a:r>
          </a:p>
          <a:p>
            <a:pPr>
              <a:lnSpc>
                <a:spcPct val="102000"/>
              </a:lnSpc>
              <a:spcAft>
                <a:spcPts val="600"/>
              </a:spcAft>
            </a:pPr>
            <a:r>
              <a:rPr sz="1350" b="1" i="0">
                <a:solidFill>
                  <a:srgbClr val="16A34A"/>
                </a:solidFill>
                <a:latin typeface="Calibri"/>
              </a:rPr>
              <a:t>▪  </a:t>
            </a:r>
            <a:r>
              <a:rPr sz="1350" b="1" i="0">
                <a:solidFill>
                  <a:srgbClr val="1F2937"/>
                </a:solidFill>
                <a:latin typeface="Calibri"/>
              </a:rPr>
              <a:t>Images taguées par SHA git</a:t>
            </a:r>
            <a:r>
              <a:rPr sz="1350" b="0" i="0">
                <a:solidFill>
                  <a:srgbClr val="1F2937"/>
                </a:solidFill>
                <a:latin typeface="Calibri"/>
              </a:rPr>
              <a:t> : la release précédente reste sur disque — </a:t>
            </a:r>
            <a:r>
              <a:rPr sz="1350" b="1" i="0">
                <a:solidFill>
                  <a:srgbClr val="1F2937"/>
                </a:solidFill>
                <a:latin typeface="Calibri"/>
              </a:rPr>
              <a:t>rollback sans rebuild</a:t>
            </a:r>
            <a:r>
              <a:rPr sz="1350" b="0" i="0">
                <a:solidFill>
                  <a:srgbClr val="1F2937"/>
                </a:solidFill>
                <a:latin typeface="Calibri"/>
              </a:rPr>
              <a:t>, répété avant d'être nécessaire</a:t>
            </a:r>
          </a:p>
          <a:p>
            <a:pPr>
              <a:lnSpc>
                <a:spcPct val="102000"/>
              </a:lnSpc>
              <a:spcAft>
                <a:spcPts val="600"/>
              </a:spcAft>
            </a:pPr>
            <a:r>
              <a:rPr sz="1350" b="1" i="0">
                <a:solidFill>
                  <a:srgbClr val="16A34A"/>
                </a:solidFill>
                <a:latin typeface="Calibri"/>
              </a:rPr>
              <a:t>▪  </a:t>
            </a:r>
            <a:r>
              <a:rPr sz="1350" b="1" i="0">
                <a:solidFill>
                  <a:srgbClr val="1F2937"/>
                </a:solidFill>
                <a:latin typeface="Calibri"/>
              </a:rPr>
              <a:t>Ledger de déploiement append-only</a:t>
            </a:r>
            <a:r>
              <a:rPr sz="1350" b="0" i="0">
                <a:solidFill>
                  <a:srgbClr val="1F2937"/>
                </a:solidFill>
                <a:latin typeface="Calibri"/>
              </a:rPr>
              <a:t> (DEPLOYED.md) : quel commit tourne, avec quels commutateurs — « une ligne est un fait sur le passé : jamais éditée, un mauvais déploiement se corrige en ajoutant la ligne de rollback »</a:t>
            </a:r>
          </a:p>
          <a:p>
            <a:pPr>
              <a:lnSpc>
                <a:spcPct val="102000"/>
              </a:lnSpc>
              <a:spcAft>
                <a:spcPts val="600"/>
              </a:spcAft>
            </a:pPr>
            <a:r>
              <a:rPr sz="1350" b="1" i="0">
                <a:solidFill>
                  <a:srgbClr val="16A34A"/>
                </a:solidFill>
                <a:latin typeface="Calibri"/>
              </a:rPr>
              <a:t>▪  </a:t>
            </a:r>
            <a:r>
              <a:rPr sz="1350" b="1" i="0">
                <a:solidFill>
                  <a:srgbClr val="1F2937"/>
                </a:solidFill>
                <a:latin typeface="Calibri"/>
              </a:rPr>
              <a:t>Interlocks</a:t>
            </a:r>
            <a:r>
              <a:rPr sz="1350" b="0" i="0">
                <a:solidFill>
                  <a:srgbClr val="1F2937"/>
                </a:solidFill>
                <a:latin typeface="Calibri"/>
              </a:rPr>
              <a:t> : make push refuse un arbre sale, .env n'est </a:t>
            </a:r>
            <a:r>
              <a:rPr sz="1350" b="1" i="0">
                <a:solidFill>
                  <a:srgbClr val="1F2937"/>
                </a:solidFill>
                <a:latin typeface="Calibri"/>
              </a:rPr>
              <a:t>jamais</a:t>
            </a:r>
            <a:r>
              <a:rPr sz="1350" b="0" i="0">
                <a:solidFill>
                  <a:srgbClr val="1F2937"/>
                </a:solidFill>
                <a:latin typeface="Calibri"/>
              </a:rPr>
              <a:t> exclu (c'est le canal des commutateurs), l'index de production est protégé par avertissement + --force</a:t>
            </a:r>
          </a:p>
        </p:txBody>
      </p:sp>
      <p:sp>
        <p:nvSpPr>
          <p:cNvPr id="7" name="TextBox 6"/>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8" name="TextBox 7"/>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IV · EXPLOITATION</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Ingénierie et discipline de code</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40480"/>
          </a:xfrm>
          <a:prstGeom prst="rect">
            <a:avLst/>
          </a:prstGeom>
          <a:noFill/>
        </p:spPr>
        <p:txBody>
          <a:bodyPr wrap="square">
            <a:spAutoFit/>
          </a:bodyPr>
          <a:lstStyle/>
          <a:p>
            <a:pPr>
              <a:lnSpc>
                <a:spcPct val="102000"/>
              </a:lnSpc>
              <a:spcAft>
                <a:spcPts val="600"/>
              </a:spcAft>
            </a:pPr>
            <a:r>
              <a:rPr sz="1400" b="1" i="0">
                <a:solidFill>
                  <a:srgbClr val="16A34A"/>
                </a:solidFill>
                <a:latin typeface="Calibri"/>
              </a:rPr>
              <a:t>▪  </a:t>
            </a:r>
            <a:r>
              <a:rPr sz="1400" b="1" i="0">
                <a:solidFill>
                  <a:srgbClr val="1F2937"/>
                </a:solidFill>
                <a:latin typeface="Calibri"/>
              </a:rPr>
              <a:t>Re-architecture assumée</a:t>
            </a:r>
            <a:r>
              <a:rPr sz="1400" b="0" i="0">
                <a:solidFill>
                  <a:srgbClr val="1F2937"/>
                </a:solidFill>
                <a:latin typeface="Calibri"/>
              </a:rPr>
              <a:t> : de 46 fichiers en vrac, </a:t>
            </a:r>
            <a:r>
              <a:rPr sz="1400" b="1" i="0">
                <a:solidFill>
                  <a:srgbClr val="1F2937"/>
                </a:solidFill>
                <a:latin typeface="Calibri"/>
              </a:rPr>
              <a:t>6 forks de la même app</a:t>
            </a:r>
            <a:r>
              <a:rPr sz="1400" b="0" i="0">
                <a:solidFill>
                  <a:srgbClr val="1F2937"/>
                </a:solidFill>
                <a:latin typeface="Calibri"/>
              </a:rPr>
              <a:t> et 5 clés API codées en dur → un paquet unique src/gcf_qna, CLIs minces, Makefile, archive/ gardée comme pièce à conviction</a:t>
            </a:r>
          </a:p>
          <a:p>
            <a:pPr>
              <a:lnSpc>
                <a:spcPct val="102000"/>
              </a:lnSpc>
              <a:spcAft>
                <a:spcPts val="400"/>
              </a:spcAft>
            </a:pPr>
            <a:r>
              <a:rPr sz="1250" b="0" i="0">
                <a:solidFill>
                  <a:srgbClr val="6B7280"/>
                </a:solidFill>
                <a:latin typeface="Calibri"/>
              </a:rPr>
              <a:t>    –  </a:t>
            </a:r>
            <a:r>
              <a:rPr sz="1250" b="0" i="0">
                <a:solidFill>
                  <a:srgbClr val="374151"/>
                </a:solidFill>
                <a:latin typeface="Calibri"/>
              </a:rPr>
              <a:t>« </a:t>
            </a:r>
            <a:r>
              <a:rPr sz="1250" b="1" i="0">
                <a:solidFill>
                  <a:srgbClr val="374151"/>
                </a:solidFill>
                <a:latin typeface="Calibri"/>
              </a:rPr>
              <a:t>Varier par la configuration, jamais par la copie</a:t>
            </a:r>
            <a:r>
              <a:rPr sz="1250" b="0" i="0">
                <a:solidFill>
                  <a:srgbClr val="374151"/>
                </a:solidFill>
                <a:latin typeface="Calibri"/>
              </a:rPr>
              <a:t> » — tout ce qui se changerait en copiant un fichier devient une valeur de config, un flag ou une variable d'environnement</a:t>
            </a:r>
          </a:p>
          <a:p>
            <a:pPr>
              <a:lnSpc>
                <a:spcPct val="102000"/>
              </a:lnSpc>
              <a:spcAft>
                <a:spcPts val="600"/>
              </a:spcAft>
            </a:pPr>
            <a:r>
              <a:rPr sz="1400" b="1" i="0">
                <a:solidFill>
                  <a:srgbClr val="16A34A"/>
                </a:solidFill>
                <a:latin typeface="Calibri"/>
              </a:rPr>
              <a:t>▪  </a:t>
            </a:r>
            <a:r>
              <a:rPr sz="1400" b="1" i="0">
                <a:solidFill>
                  <a:srgbClr val="1F2937"/>
                </a:solidFill>
                <a:latin typeface="Calibri"/>
              </a:rPr>
              <a:t>≈ 1 770 tests verts</a:t>
            </a:r>
            <a:r>
              <a:rPr sz="1400" b="0" i="0">
                <a:solidFill>
                  <a:srgbClr val="1F2937"/>
                </a:solidFill>
                <a:latin typeface="Calibri"/>
              </a:rPr>
              <a:t> (34 fichiers) — presque chaque fichier de test nomme le </a:t>
            </a:r>
            <a:r>
              <a:rPr sz="1400" b="1" i="0">
                <a:solidFill>
                  <a:srgbClr val="1F2937"/>
                </a:solidFill>
                <a:latin typeface="Calibri"/>
              </a:rPr>
              <a:t>défaut observé en production</a:t>
            </a:r>
            <a:r>
              <a:rPr sz="1400" b="0" i="0">
                <a:solidFill>
                  <a:srgbClr val="1F2937"/>
                </a:solidFill>
                <a:latin typeface="Calibri"/>
              </a:rPr>
              <a:t> qu'il épingle ; aucun test ne touche le réseau</a:t>
            </a:r>
          </a:p>
          <a:p>
            <a:pPr>
              <a:lnSpc>
                <a:spcPct val="102000"/>
              </a:lnSpc>
              <a:spcAft>
                <a:spcPts val="600"/>
              </a:spcAft>
            </a:pPr>
            <a:r>
              <a:rPr sz="1400" b="1" i="0">
                <a:solidFill>
                  <a:srgbClr val="16A34A"/>
                </a:solidFill>
                <a:latin typeface="Calibri"/>
              </a:rPr>
              <a:t>▪  </a:t>
            </a:r>
            <a:r>
              <a:rPr sz="1400" b="1" i="0">
                <a:solidFill>
                  <a:srgbClr val="1F2937"/>
                </a:solidFill>
                <a:latin typeface="Calibri"/>
              </a:rPr>
              <a:t>Chaque enrichissement dégrade, ne bloque jamais</a:t>
            </a:r>
            <a:r>
              <a:rPr sz="1400" b="0" i="0">
                <a:solidFill>
                  <a:srgbClr val="1F2937"/>
                </a:solidFill>
                <a:latin typeface="Calibri"/>
              </a:rPr>
              <a:t> : registre, BM25, reranker, ancrage, vérification — tous attrapent et continuent</a:t>
            </a:r>
          </a:p>
          <a:p>
            <a:pPr>
              <a:lnSpc>
                <a:spcPct val="102000"/>
              </a:lnSpc>
              <a:spcAft>
                <a:spcPts val="600"/>
              </a:spcAft>
            </a:pPr>
            <a:r>
              <a:rPr sz="1400" b="1" i="0">
                <a:solidFill>
                  <a:srgbClr val="16A34A"/>
                </a:solidFill>
                <a:latin typeface="Calibri"/>
              </a:rPr>
              <a:t>▪  </a:t>
            </a:r>
            <a:r>
              <a:rPr sz="1400" b="1" i="0">
                <a:solidFill>
                  <a:srgbClr val="1F2937"/>
                </a:solidFill>
                <a:latin typeface="Calibri"/>
              </a:rPr>
              <a:t>Incidents documentés plutôt que cachés</a:t>
            </a:r>
            <a:r>
              <a:rPr sz="1400" b="0" i="0">
                <a:solidFill>
                  <a:srgbClr val="1F2937"/>
                </a:solidFill>
                <a:latin typeface="Calibri"/>
              </a:rPr>
              <a:t> : 5 clés divulguées (historique public) — scrubbées, révocation en attente ; un .git supprimé par erreur — historique récupéré et préservé</a:t>
            </a:r>
          </a:p>
          <a:p>
            <a:pPr>
              <a:lnSpc>
                <a:spcPct val="102000"/>
              </a:lnSpc>
              <a:spcAft>
                <a:spcPts val="600"/>
              </a:spcAft>
            </a:pPr>
            <a:r>
              <a:rPr sz="1400" b="1" i="0">
                <a:solidFill>
                  <a:srgbClr val="16A34A"/>
                </a:solidFill>
                <a:latin typeface="Calibri"/>
              </a:rPr>
              <a:t>▪  </a:t>
            </a:r>
            <a:r>
              <a:rPr sz="1400" b="1" i="0">
                <a:solidFill>
                  <a:srgbClr val="1F2937"/>
                </a:solidFill>
                <a:latin typeface="Calibri"/>
              </a:rPr>
              <a:t>≈ 150 commits</a:t>
            </a:r>
            <a:r>
              <a:rPr sz="1400" b="0" i="0">
                <a:solidFill>
                  <a:srgbClr val="1F2937"/>
                </a:solidFill>
                <a:latin typeface="Calibri"/>
              </a:rPr>
              <a:t> sur la période, chaque défaut converti en test, chaque leçon écrite dans le rapport de build</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Barnett et al. 2024 — les systèmes RAG échouent en dehors des benchmarks, dans l'ingénierie ; ici la robustesse est un objet de mesure au même titre que le rappel.</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IV · BILAN</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Synthèse — intersections littérature ↔ plateforme</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225296"/>
          <a:ext cx="11091671" cy="4389120"/>
        </p:xfrm>
        <a:graphic>
          <a:graphicData uri="http://schemas.openxmlformats.org/drawingml/2006/table">
            <a:tbl>
              <a:tblPr>
                <a:tableStyleId>{5C22544A-7EE6-4342-B048-85BDC9FD1C3A}</a:tableStyleId>
              </a:tblPr>
              <a:tblGrid>
                <a:gridCol w="2383334"/>
                <a:gridCol w="2108334"/>
                <a:gridCol w="6600003"/>
              </a:tblGrid>
              <a:tr h="292608">
                <a:tc>
                  <a:txBody>
                    <a:bodyPr wrap="square"/>
                    <a:lstStyle/>
                    <a:p>
                      <a:pPr>
                        <a:lnSpc>
                          <a:spcPct val="98000"/>
                        </a:lnSpc>
                      </a:pPr>
                      <a:r>
                        <a:rPr sz="900" b="1" i="0">
                          <a:solidFill>
                            <a:srgbClr val="FFFFFF"/>
                          </a:solidFill>
                          <a:latin typeface="Calibri"/>
                        </a:rPr>
                        <a:t>Élément de la littérature</a:t>
                      </a:r>
                    </a:p>
                  </a:txBody>
                  <a:tcPr marL="54864" marR="54864" marT="27432" marB="27432" anchor="ctr">
                    <a:solidFill>
                      <a:srgbClr val="166534"/>
                    </a:solidFill>
                  </a:tcPr>
                </a:tc>
                <a:tc>
                  <a:txBody>
                    <a:bodyPr wrap="square"/>
                    <a:lstStyle/>
                    <a:p>
                      <a:pPr algn="l">
                        <a:lnSpc>
                          <a:spcPct val="98000"/>
                        </a:lnSpc>
                      </a:pPr>
                      <a:r>
                        <a:rPr sz="900" b="1" i="0">
                          <a:solidFill>
                            <a:srgbClr val="FFFFFF"/>
                          </a:solidFill>
                          <a:latin typeface="Calibri"/>
                        </a:rPr>
                        <a:t>Références</a:t>
                      </a:r>
                    </a:p>
                  </a:txBody>
                  <a:tcPr marL="54864" marR="54864" marT="27432" marB="27432" anchor="ctr">
                    <a:solidFill>
                      <a:srgbClr val="166534"/>
                    </a:solidFill>
                  </a:tcPr>
                </a:tc>
                <a:tc>
                  <a:txBody>
                    <a:bodyPr wrap="square"/>
                    <a:lstStyle/>
                    <a:p>
                      <a:pPr algn="l">
                        <a:lnSpc>
                          <a:spcPct val="98000"/>
                        </a:lnSpc>
                      </a:pPr>
                      <a:r>
                        <a:rPr sz="900" b="1" i="0">
                          <a:solidFill>
                            <a:srgbClr val="FFFFFF"/>
                          </a:solidFill>
                          <a:latin typeface="Calibri"/>
                        </a:rPr>
                        <a:t>Réalisation dans la plateforme</a:t>
                      </a:r>
                    </a:p>
                  </a:txBody>
                  <a:tcPr marL="54864" marR="54864" marT="27432" marB="27432" anchor="ctr">
                    <a:solidFill>
                      <a:srgbClr val="166534"/>
                    </a:solidFill>
                  </a:tcPr>
                </a:tc>
              </a:tr>
              <a:tr h="292608">
                <a:tc>
                  <a:txBody>
                    <a:bodyPr wrap="square"/>
                    <a:lstStyle/>
                    <a:p>
                      <a:pPr>
                        <a:lnSpc>
                          <a:spcPct val="98000"/>
                        </a:lnSpc>
                      </a:pPr>
                      <a:r>
                        <a:rPr sz="900" b="0" i="0">
                          <a:solidFill>
                            <a:srgbClr val="1F2937"/>
                          </a:solidFill>
                          <a:latin typeface="Calibri"/>
                        </a:rPr>
                        <a:t>RAG : récupérer puis générer</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Lewis 2020 · Guu 2020</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Contexte injecté par tour : FAISS + BM25 → gpt-5.2 ; connaissances dans le corpus, pas dans les poids</a:t>
                      </a:r>
                    </a:p>
                  </a:txBody>
                  <a:tcPr marL="54864" marR="54864" marT="27432" marB="27432" anchor="ctr">
                    <a:solidFill>
                      <a:srgbClr val="FFFFFF"/>
                    </a:solidFill>
                  </a:tcPr>
                </a:tc>
              </a:tr>
              <a:tr h="292608">
                <a:tc>
                  <a:txBody>
                    <a:bodyPr wrap="square"/>
                    <a:lstStyle/>
                    <a:p>
                      <a:pPr>
                        <a:lnSpc>
                          <a:spcPct val="98000"/>
                        </a:lnSpc>
                      </a:pPr>
                      <a:r>
                        <a:rPr sz="900" b="0" i="0">
                          <a:solidFill>
                            <a:srgbClr val="1F2937"/>
                          </a:solidFill>
                          <a:latin typeface="Calibri"/>
                        </a:rPr>
                        <a:t>Naive → Advanced → Modular</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Gao et al. 2023</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Prototype LangChain/Chroma (2024) → système modulaire à commutateurs</a:t>
                      </a:r>
                    </a:p>
                  </a:txBody>
                  <a:tcPr marL="54864" marR="54864" marT="27432" marB="27432" anchor="ctr">
                    <a:solidFill>
                      <a:srgbClr val="F5F5F4"/>
                    </a:solidFill>
                  </a:tcPr>
                </a:tc>
              </a:tr>
              <a:tr h="292608">
                <a:tc>
                  <a:txBody>
                    <a:bodyPr wrap="square"/>
                    <a:lstStyle/>
                    <a:p>
                      <a:pPr>
                        <a:lnSpc>
                          <a:spcPct val="98000"/>
                        </a:lnSpc>
                      </a:pPr>
                      <a:r>
                        <a:rPr sz="900" b="0" i="0">
                          <a:solidFill>
                            <a:srgbClr val="1F2937"/>
                          </a:solidFill>
                          <a:latin typeface="Calibri"/>
                        </a:rPr>
                        <a:t>Récupération dense</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Karpukhin 2020 · Reimers 2019</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all-mpnet-base-v2 (768 d), FAISS IndexFlatIP cosinus, 178 456 chunks</a:t>
                      </a:r>
                    </a:p>
                  </a:txBody>
                  <a:tcPr marL="54864" marR="54864" marT="27432" marB="27432" anchor="ctr">
                    <a:solidFill>
                      <a:srgbClr val="FFFFFF"/>
                    </a:solidFill>
                  </a:tcPr>
                </a:tc>
              </a:tr>
              <a:tr h="292608">
                <a:tc>
                  <a:txBody>
                    <a:bodyPr wrap="square"/>
                    <a:lstStyle/>
                    <a:p>
                      <a:pPr>
                        <a:lnSpc>
                          <a:spcPct val="98000"/>
                        </a:lnSpc>
                      </a:pPr>
                      <a:r>
                        <a:rPr sz="900" b="0" i="0">
                          <a:solidFill>
                            <a:srgbClr val="1F2937"/>
                          </a:solidFill>
                          <a:latin typeface="Calibri"/>
                        </a:rPr>
                        <a:t>Hybride lexical+dense, fusion</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Robertson 2009 · Cormack 2009</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BM25 FTS5 + dense, RRF k=60, poids ×2 identifiants : rappel FP 6 % → 100 %</a:t>
                      </a:r>
                    </a:p>
                  </a:txBody>
                  <a:tcPr marL="54864" marR="54864" marT="27432" marB="27432" anchor="ctr">
                    <a:solidFill>
                      <a:srgbClr val="F5F5F4"/>
                    </a:solidFill>
                  </a:tcPr>
                </a:tc>
              </a:tr>
              <a:tr h="292608">
                <a:tc>
                  <a:txBody>
                    <a:bodyPr wrap="square"/>
                    <a:lstStyle/>
                    <a:p>
                      <a:pPr>
                        <a:lnSpc>
                          <a:spcPct val="98000"/>
                        </a:lnSpc>
                      </a:pPr>
                      <a:r>
                        <a:rPr sz="900" b="0" i="0">
                          <a:solidFill>
                            <a:srgbClr val="1F2937"/>
                          </a:solidFill>
                          <a:latin typeface="Calibri"/>
                        </a:rPr>
                        <a:t>Reranking neuronal</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Nogueira &amp; Cho 2019</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Cross-encoder ms-marco, adopté après A/B au niveau réponse</a:t>
                      </a:r>
                    </a:p>
                  </a:txBody>
                  <a:tcPr marL="54864" marR="54864" marT="27432" marB="27432" anchor="ctr">
                    <a:solidFill>
                      <a:srgbClr val="FFFFFF"/>
                    </a:solidFill>
                  </a:tcPr>
                </a:tc>
              </a:tr>
              <a:tr h="292608">
                <a:tc>
                  <a:txBody>
                    <a:bodyPr wrap="square"/>
                    <a:lstStyle/>
                    <a:p>
                      <a:pPr>
                        <a:lnSpc>
                          <a:spcPct val="98000"/>
                        </a:lnSpc>
                      </a:pPr>
                      <a:r>
                        <a:rPr sz="900" b="0" i="0">
                          <a:solidFill>
                            <a:srgbClr val="1F2937"/>
                          </a:solidFill>
                          <a:latin typeface="Calibri"/>
                        </a:rPr>
                        <a:t>Réécriture &amp; décomposition</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Press et al. 2022</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Conducteur JSON (1–6 requêtes, pronoms résolus), quotas par document</a:t>
                      </a:r>
                    </a:p>
                  </a:txBody>
                  <a:tcPr marL="54864" marR="54864" marT="27432" marB="27432" anchor="ctr">
                    <a:solidFill>
                      <a:srgbClr val="F5F5F4"/>
                    </a:solidFill>
                  </a:tcPr>
                </a:tc>
              </a:tr>
              <a:tr h="292608">
                <a:tc>
                  <a:txBody>
                    <a:bodyPr wrap="square"/>
                    <a:lstStyle/>
                    <a:p>
                      <a:pPr>
                        <a:lnSpc>
                          <a:spcPct val="98000"/>
                        </a:lnSpc>
                      </a:pPr>
                      <a:r>
                        <a:rPr sz="900" b="0" i="0">
                          <a:solidFill>
                            <a:srgbClr val="1F2937"/>
                          </a:solidFill>
                          <a:latin typeface="Calibri"/>
                        </a:rPr>
                        <a:t>Document AI sans OCR (VLM)</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Kim 2022 · Blecher 2023</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Extraction locale Qwen-VL : PDF → markdown fidèle, tables préservées</a:t>
                      </a:r>
                    </a:p>
                  </a:txBody>
                  <a:tcPr marL="54864" marR="54864" marT="27432" marB="27432" anchor="ctr">
                    <a:solidFill>
                      <a:srgbClr val="FFFFFF"/>
                    </a:solidFill>
                  </a:tcPr>
                </a:tc>
              </a:tr>
              <a:tr h="292608">
                <a:tc>
                  <a:txBody>
                    <a:bodyPr wrap="square"/>
                    <a:lstStyle/>
                    <a:p>
                      <a:pPr>
                        <a:lnSpc>
                          <a:spcPct val="98000"/>
                        </a:lnSpc>
                      </a:pPr>
                      <a:r>
                        <a:rPr sz="900" b="0" i="0">
                          <a:solidFill>
                            <a:srgbClr val="1F2937"/>
                          </a:solidFill>
                          <a:latin typeface="Calibri"/>
                        </a:rPr>
                        <a:t>Génération attribuée</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Rashkin 2021 · ALCE 2023 · Menick 2022</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Citation à la phrase, cite-or-hedge, ancrage au pixel</a:t>
                      </a:r>
                    </a:p>
                  </a:txBody>
                  <a:tcPr marL="54864" marR="54864" marT="27432" marB="27432" anchor="ctr">
                    <a:solidFill>
                      <a:srgbClr val="F5F5F4"/>
                    </a:solidFill>
                  </a:tcPr>
                </a:tc>
              </a:tr>
              <a:tr h="292608">
                <a:tc>
                  <a:txBody>
                    <a:bodyPr wrap="square"/>
                    <a:lstStyle/>
                    <a:p>
                      <a:pPr>
                        <a:lnSpc>
                          <a:spcPct val="98000"/>
                        </a:lnSpc>
                      </a:pPr>
                      <a:r>
                        <a:rPr sz="900" b="0" i="0">
                          <a:solidFill>
                            <a:srgbClr val="1F2937"/>
                          </a:solidFill>
                          <a:latin typeface="Calibri"/>
                        </a:rPr>
                        <a:t>Factualité par claims</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Min et al. 2023 (FActScore)</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Vérificateur en production : claims atomiques, 3 verdicts, 4 métriques n/d</a:t>
                      </a:r>
                    </a:p>
                  </a:txBody>
                  <a:tcPr marL="54864" marR="54864" marT="27432" marB="27432" anchor="ctr">
                    <a:solidFill>
                      <a:srgbClr val="FFFFFF"/>
                    </a:solidFill>
                  </a:tcPr>
                </a:tc>
              </a:tr>
              <a:tr h="292608">
                <a:tc>
                  <a:txBody>
                    <a:bodyPr wrap="square"/>
                    <a:lstStyle/>
                    <a:p>
                      <a:pPr>
                        <a:lnSpc>
                          <a:spcPct val="98000"/>
                        </a:lnSpc>
                      </a:pPr>
                      <a:r>
                        <a:rPr sz="900" b="0" i="0">
                          <a:solidFill>
                            <a:srgbClr val="1F2937"/>
                          </a:solidFill>
                          <a:latin typeface="Calibri"/>
                        </a:rPr>
                        <a:t>Évaluation RAG outillée</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Es 2023 (RAGAS) · ARES 2024</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Portes entières ⌈95 %·d⌉, parité production, paires même-config, bruit ±2–3 pp</a:t>
                      </a:r>
                    </a:p>
                  </a:txBody>
                  <a:tcPr marL="54864" marR="54864" marT="27432" marB="27432" anchor="ctr">
                    <a:solidFill>
                      <a:srgbClr val="F5F5F4"/>
                    </a:solidFill>
                  </a:tcPr>
                </a:tc>
              </a:tr>
              <a:tr h="292608">
                <a:tc>
                  <a:txBody>
                    <a:bodyPr wrap="square"/>
                    <a:lstStyle/>
                    <a:p>
                      <a:pPr>
                        <a:lnSpc>
                          <a:spcPct val="98000"/>
                        </a:lnSpc>
                      </a:pPr>
                      <a:r>
                        <a:rPr sz="900" b="0" i="0">
                          <a:solidFill>
                            <a:srgbClr val="1F2937"/>
                          </a:solidFill>
                          <a:latin typeface="Calibri"/>
                        </a:rPr>
                        <a:t>LLM-juge + méta-évaluation</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Zheng et al. 2023</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Juge promote-only audité ; adjudication humaine en aveugle (83 % de faux positifs)</a:t>
                      </a:r>
                    </a:p>
                  </a:txBody>
                  <a:tcPr marL="54864" marR="54864" marT="27432" marB="27432" anchor="ctr">
                    <a:solidFill>
                      <a:srgbClr val="FFFFFF"/>
                    </a:solidFill>
                  </a:tcPr>
                </a:tc>
              </a:tr>
              <a:tr h="292608">
                <a:tc>
                  <a:txBody>
                    <a:bodyPr wrap="square"/>
                    <a:lstStyle/>
                    <a:p>
                      <a:pPr>
                        <a:lnSpc>
                          <a:spcPct val="98000"/>
                        </a:lnSpc>
                      </a:pPr>
                      <a:r>
                        <a:rPr sz="900" b="0" i="0">
                          <a:solidFill>
                            <a:srgbClr val="1F2937"/>
                          </a:solidFill>
                          <a:latin typeface="Calibri"/>
                        </a:rPr>
                        <a:t>Limites de l'auto-correction</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Huang et al. 2024</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Auto-réparation supprimée : 3/5 réécritures adoptées effaçaient du vérifié</a:t>
                      </a:r>
                    </a:p>
                  </a:txBody>
                  <a:tcPr marL="54864" marR="54864" marT="27432" marB="27432" anchor="ctr">
                    <a:solidFill>
                      <a:srgbClr val="F5F5F4"/>
                    </a:solidFill>
                  </a:tcPr>
                </a:tc>
              </a:tr>
              <a:tr h="292608">
                <a:tc>
                  <a:txBody>
                    <a:bodyPr wrap="square"/>
                    <a:lstStyle/>
                    <a:p>
                      <a:pPr>
                        <a:lnSpc>
                          <a:spcPct val="98000"/>
                        </a:lnSpc>
                      </a:pPr>
                      <a:r>
                        <a:rPr sz="900" b="0" i="0">
                          <a:solidFill>
                            <a:srgbClr val="1F2937"/>
                          </a:solidFill>
                          <a:latin typeface="Calibri"/>
                        </a:rPr>
                        <a:t>Niveaux de requêtes L1–L4</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Zhao et al. 2024</a:t>
                      </a:r>
                    </a:p>
                  </a:txBody>
                  <a:tcPr marL="54864" marR="54864" marT="27432" marB="27432" anchor="ctr">
                    <a:solidFill>
                      <a:srgbClr val="FFFFFF"/>
                    </a:solidFill>
                  </a:tcPr>
                </a:tc>
                <a:tc>
                  <a:txBody>
                    <a:bodyPr wrap="square"/>
                    <a:lstStyle/>
                    <a:p>
                      <a:pPr algn="l">
                        <a:lnSpc>
                          <a:spcPct val="98000"/>
                        </a:lnSpc>
                      </a:pPr>
                      <a:r>
                        <a:rPr sz="900" b="0" i="0">
                          <a:solidFill>
                            <a:srgbClr val="1F2937"/>
                          </a:solidFill>
                          <a:latin typeface="Calibri"/>
                        </a:rPr>
                        <a:t>Cadre adopté puis audité : L1/L2 mesurés, L3 partiel, L4 assumé hors périmètre</a:t>
                      </a:r>
                    </a:p>
                  </a:txBody>
                  <a:tcPr marL="54864" marR="54864" marT="27432" marB="27432" anchor="ctr">
                    <a:solidFill>
                      <a:srgbClr val="FFFFFF"/>
                    </a:solidFill>
                  </a:tcPr>
                </a:tc>
              </a:tr>
              <a:tr h="292608">
                <a:tc>
                  <a:txBody>
                    <a:bodyPr wrap="square"/>
                    <a:lstStyle/>
                    <a:p>
                      <a:pPr>
                        <a:lnSpc>
                          <a:spcPct val="98000"/>
                        </a:lnSpc>
                      </a:pPr>
                      <a:r>
                        <a:rPr sz="900" b="0" i="0">
                          <a:solidFill>
                            <a:srgbClr val="1F2937"/>
                          </a:solidFill>
                          <a:latin typeface="Calibri"/>
                        </a:rPr>
                        <a:t>Points d'échec RAG</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Barnett et al. 2024</a:t>
                      </a:r>
                    </a:p>
                  </a:txBody>
                  <a:tcPr marL="54864" marR="54864" marT="27432" marB="27432" anchor="ctr">
                    <a:solidFill>
                      <a:srgbClr val="F5F5F4"/>
                    </a:solidFill>
                  </a:tcPr>
                </a:tc>
                <a:tc>
                  <a:txBody>
                    <a:bodyPr wrap="square"/>
                    <a:lstStyle/>
                    <a:p>
                      <a:pPr algn="l">
                        <a:lnSpc>
                          <a:spcPct val="98000"/>
                        </a:lnSpc>
                      </a:pPr>
                      <a:r>
                        <a:rPr sz="900" b="0" i="0">
                          <a:solidFill>
                            <a:srgbClr val="1F2937"/>
                          </a:solidFill>
                          <a:latin typeface="Calibri"/>
                        </a:rPr>
                        <a:t>Itération par transcripts réels + 15 probes adversariales (4 défauts, 0,11 $)</a:t>
                      </a:r>
                    </a:p>
                  </a:txBody>
                  <a:tcPr marL="54864" marR="54864" marT="27432" marB="27432" anchor="ctr">
                    <a:solidFill>
                      <a:srgbClr val="F5F5F4"/>
                    </a:solidFill>
                  </a:tcPr>
                </a:tc>
              </a:tr>
            </a:tbl>
          </a:graphicData>
        </a:graphic>
      </p:graphicFrame>
      <p:sp>
        <p:nvSpPr>
          <p:cNvPr id="7" name="TextBox 6"/>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8" name="TextBox 7"/>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IV · BILAN</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Contributions — et choix négatifs éclairés</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886200"/>
          </a:xfrm>
          <a:prstGeom prst="rect">
            <a:avLst/>
          </a:prstGeom>
          <a:noFill/>
        </p:spPr>
        <p:txBody>
          <a:bodyPr wrap="square">
            <a:spAutoFit/>
          </a:bodyPr>
          <a:lstStyle/>
          <a:p>
            <a:pPr>
              <a:lnSpc>
                <a:spcPct val="102000"/>
              </a:lnSpc>
              <a:spcAft>
                <a:spcPts val="600"/>
              </a:spcAft>
            </a:pPr>
            <a:r>
              <a:rPr sz="1400" b="1" i="0">
                <a:solidFill>
                  <a:srgbClr val="16A34A"/>
                </a:solidFill>
                <a:latin typeface="Calibri"/>
              </a:rPr>
              <a:t>▪  </a:t>
            </a:r>
            <a:r>
              <a:rPr sz="1400" b="1" i="0">
                <a:solidFill>
                  <a:srgbClr val="1F2937"/>
                </a:solidFill>
                <a:latin typeface="Calibri"/>
              </a:rPr>
              <a:t>Au-delà de l'état de la pratique publié</a:t>
            </a:r>
            <a:r>
              <a:rPr sz="1400" b="0" i="0">
                <a:solidFill>
                  <a:srgbClr val="1F2937"/>
                </a:solidFill>
                <a:latin typeface="Calibri"/>
              </a:rPr>
              <a:t> :</a:t>
            </a:r>
          </a:p>
          <a:p>
            <a:pPr>
              <a:lnSpc>
                <a:spcPct val="102000"/>
              </a:lnSpc>
              <a:spcAft>
                <a:spcPts val="400"/>
              </a:spcAft>
            </a:pPr>
            <a:r>
              <a:rPr sz="1250" b="0" i="0">
                <a:solidFill>
                  <a:srgbClr val="6B7280"/>
                </a:solidFill>
                <a:latin typeface="Calibri"/>
              </a:rPr>
              <a:t>    –  </a:t>
            </a:r>
            <a:r>
              <a:rPr sz="1250" b="0" i="0">
                <a:solidFill>
                  <a:srgbClr val="374151"/>
                </a:solidFill>
                <a:latin typeface="Calibri"/>
              </a:rPr>
              <a:t>vérification factuelle par claims </a:t>
            </a:r>
            <a:r>
              <a:rPr sz="1250" b="1" i="0">
                <a:solidFill>
                  <a:srgbClr val="374151"/>
                </a:solidFill>
                <a:latin typeface="Calibri"/>
              </a:rPr>
              <a:t>en production à chaque tour</a:t>
            </a:r>
            <a:r>
              <a:rPr sz="1250" b="0" i="0">
                <a:solidFill>
                  <a:srgbClr val="374151"/>
                </a:solidFill>
                <a:latin typeface="Calibri"/>
              </a:rPr>
              <a:t> (la littérature l'utilise hors ligne)</a:t>
            </a:r>
          </a:p>
          <a:p>
            <a:pPr>
              <a:lnSpc>
                <a:spcPct val="102000"/>
              </a:lnSpc>
              <a:spcAft>
                <a:spcPts val="400"/>
              </a:spcAft>
            </a:pPr>
            <a:r>
              <a:rPr sz="1250" b="0" i="0">
                <a:solidFill>
                  <a:srgbClr val="6B7280"/>
                </a:solidFill>
                <a:latin typeface="Calibri"/>
              </a:rPr>
              <a:t>    –  </a:t>
            </a:r>
            <a:r>
              <a:rPr sz="1250" b="0" i="0">
                <a:solidFill>
                  <a:srgbClr val="374151"/>
                </a:solidFill>
                <a:latin typeface="Calibri"/>
              </a:rPr>
              <a:t>registre de faits à </a:t>
            </a:r>
            <a:r>
              <a:rPr sz="1250" b="1" i="0">
                <a:solidFill>
                  <a:srgbClr val="374151"/>
                </a:solidFill>
                <a:latin typeface="Calibri"/>
              </a:rPr>
              <a:t>provenance de niveau base de données</a:t>
            </a:r>
            <a:r>
              <a:rPr sz="1250" b="0" i="0">
                <a:solidFill>
                  <a:srgbClr val="374151"/>
                </a:solidFill>
                <a:latin typeface="Calibri"/>
              </a:rPr>
              <a:t> (brut/valeur/devise/page/section) adossé à l'index vectoriel</a:t>
            </a:r>
          </a:p>
          <a:p>
            <a:pPr>
              <a:lnSpc>
                <a:spcPct val="102000"/>
              </a:lnSpc>
              <a:spcAft>
                <a:spcPts val="400"/>
              </a:spcAft>
            </a:pPr>
            <a:r>
              <a:rPr sz="1250" b="0" i="0">
                <a:solidFill>
                  <a:srgbClr val="6B7280"/>
                </a:solidFill>
                <a:latin typeface="Calibri"/>
              </a:rPr>
              <a:t>    –  </a:t>
            </a:r>
            <a:r>
              <a:rPr sz="1250" b="1" i="0">
                <a:solidFill>
                  <a:srgbClr val="374151"/>
                </a:solidFill>
                <a:latin typeface="Calibri"/>
              </a:rPr>
              <a:t>méta-évaluation outillée</a:t>
            </a:r>
            <a:r>
              <a:rPr sz="1250" b="0" i="0">
                <a:solidFill>
                  <a:srgbClr val="374151"/>
                </a:solidFill>
                <a:latin typeface="Calibri"/>
              </a:rPr>
              <a:t> : adjudication en aveugle, 5 bras de scoring, ratification signée — l'instrument ne peut pas dériver en silence</a:t>
            </a:r>
          </a:p>
          <a:p>
            <a:pPr>
              <a:lnSpc>
                <a:spcPct val="102000"/>
              </a:lnSpc>
              <a:spcAft>
                <a:spcPts val="400"/>
              </a:spcAft>
            </a:pPr>
            <a:r>
              <a:rPr sz="1250" b="0" i="0">
                <a:solidFill>
                  <a:srgbClr val="6B7280"/>
                </a:solidFill>
                <a:latin typeface="Calibri"/>
              </a:rPr>
              <a:t>    –  </a:t>
            </a:r>
            <a:r>
              <a:rPr sz="1250" b="0" i="0">
                <a:solidFill>
                  <a:srgbClr val="374151"/>
                </a:solidFill>
                <a:latin typeface="Calibri"/>
              </a:rPr>
              <a:t>métrologie de releases : paires même-config, bande de bruit publiée d'abord, portes entières, ledger append-only</a:t>
            </a:r>
          </a:p>
          <a:p>
            <a:pPr>
              <a:lnSpc>
                <a:spcPct val="102000"/>
              </a:lnSpc>
              <a:spcAft>
                <a:spcPts val="600"/>
              </a:spcAft>
            </a:pPr>
            <a:r>
              <a:rPr sz="1400" b="1" i="0">
                <a:solidFill>
                  <a:srgbClr val="16A34A"/>
                </a:solidFill>
                <a:latin typeface="Calibri"/>
              </a:rPr>
              <a:t>▪  </a:t>
            </a:r>
            <a:r>
              <a:rPr sz="1400" b="1" i="0">
                <a:solidFill>
                  <a:srgbClr val="1F2937"/>
                </a:solidFill>
                <a:latin typeface="Calibri"/>
              </a:rPr>
              <a:t>Choix négatifs éclairés</a:t>
            </a:r>
            <a:r>
              <a:rPr sz="1400" b="0" i="0">
                <a:solidFill>
                  <a:srgbClr val="1F2937"/>
                </a:solidFill>
                <a:latin typeface="Calibri"/>
              </a:rPr>
              <a:t> (littérature considérée, écartée par la mesure) :</a:t>
            </a:r>
          </a:p>
          <a:p>
            <a:pPr>
              <a:lnSpc>
                <a:spcPct val="102000"/>
              </a:lnSpc>
              <a:spcAft>
                <a:spcPts val="400"/>
              </a:spcAft>
            </a:pPr>
            <a:r>
              <a:rPr sz="1250" b="0" i="0">
                <a:solidFill>
                  <a:srgbClr val="6B7280"/>
                </a:solidFill>
                <a:latin typeface="Calibri"/>
              </a:rPr>
              <a:t>    –  </a:t>
            </a:r>
            <a:r>
              <a:rPr sz="1250" b="1" i="0">
                <a:solidFill>
                  <a:srgbClr val="374151"/>
                </a:solidFill>
                <a:latin typeface="Calibri"/>
              </a:rPr>
              <a:t>GraphRAG, recherche agentique, long-context massif</a:t>
            </a:r>
            <a:r>
              <a:rPr sz="1250" b="0" i="0">
                <a:solidFill>
                  <a:srgbClr val="374151"/>
                </a:solidFill>
                <a:latin typeface="Calibri"/>
              </a:rPr>
              <a:t> : « aucun écart mesuré ne pointe vers eux » — écartés tant qu'un défaut mesuré ne les réclame pas</a:t>
            </a:r>
          </a:p>
          <a:p>
            <a:pPr>
              <a:lnSpc>
                <a:spcPct val="102000"/>
              </a:lnSpc>
              <a:spcAft>
                <a:spcPts val="400"/>
              </a:spcAft>
            </a:pPr>
            <a:r>
              <a:rPr sz="1250" b="0" i="0">
                <a:solidFill>
                  <a:srgbClr val="6B7280"/>
                </a:solidFill>
                <a:latin typeface="Calibri"/>
              </a:rPr>
              <a:t>    –  </a:t>
            </a:r>
            <a:r>
              <a:rPr sz="1250" b="1" i="0">
                <a:solidFill>
                  <a:srgbClr val="374151"/>
                </a:solidFill>
                <a:latin typeface="Calibri"/>
              </a:rPr>
              <a:t>auto-réparation</a:t>
            </a:r>
            <a:r>
              <a:rPr sz="1250" b="0" i="0">
                <a:solidFill>
                  <a:srgbClr val="374151"/>
                </a:solidFill>
                <a:latin typeface="Calibri"/>
              </a:rPr>
              <a:t> : réfutée par A/B et supprimée ; </a:t>
            </a:r>
            <a:r>
              <a:rPr sz="1250" b="1" i="0">
                <a:solidFill>
                  <a:srgbClr val="374151"/>
                </a:solidFill>
                <a:latin typeface="Calibri"/>
              </a:rPr>
              <a:t>index sectionné</a:t>
            </a:r>
            <a:r>
              <a:rPr sz="1250" b="0" i="0">
                <a:solidFill>
                  <a:srgbClr val="374151"/>
                </a:solidFill>
                <a:latin typeface="Calibri"/>
              </a:rPr>
              <a:t> : rejeté après A/B (1 mieux / 6 pires) au profit d'une voie plus simple</a:t>
            </a:r>
          </a:p>
        </p:txBody>
      </p:sp>
      <p:sp>
        <p:nvSpPr>
          <p:cNvPr id="7" name="Rounded Rectangle 6"/>
          <p:cNvSpPr/>
          <p:nvPr/>
        </p:nvSpPr>
        <p:spPr>
          <a:xfrm>
            <a:off x="548640" y="5760720"/>
            <a:ext cx="11091672" cy="658368"/>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37160" tIns="64008"/>
          <a:lstStyle/>
          <a:p>
            <a:pPr algn="ctr">
              <a:lnSpc>
                <a:spcPct val="100000"/>
              </a:lnSpc>
            </a:pPr>
            <a:r>
              <a:rPr sz="1050" b="1" i="0">
                <a:solidFill>
                  <a:srgbClr val="0C4A6E"/>
                </a:solidFill>
                <a:latin typeface="Calibri"/>
              </a:rPr>
              <a:t>LITTÉRATURE — </a:t>
            </a:r>
            <a:r>
              <a:rPr sz="1050" b="0" i="0">
                <a:solidFill>
                  <a:srgbClr val="0C4A6E"/>
                </a:solidFill>
                <a:latin typeface="Calibri"/>
              </a:rPr>
              <a:t>Edge et al. 2024 (GraphRAG) et la vague agentique : la revue de littérature sert aussi à savoir ce qu'on n'adopte pas — chaque non-adoption est adossée à l'absence d'un écart mesuré, pas à une préférence.</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IV · BILAN</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Limites connues et travaux futurs</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931920"/>
          </a:xfrm>
          <a:prstGeom prst="rect">
            <a:avLst/>
          </a:prstGeom>
          <a:noFill/>
        </p:spPr>
        <p:txBody>
          <a:bodyPr wrap="square">
            <a:spAutoFit/>
          </a:bodyPr>
          <a:lstStyle/>
          <a:p>
            <a:pPr>
              <a:lnSpc>
                <a:spcPct val="102000"/>
              </a:lnSpc>
              <a:spcAft>
                <a:spcPts val="600"/>
              </a:spcAft>
            </a:pPr>
            <a:r>
              <a:rPr sz="1350" b="1" i="0">
                <a:solidFill>
                  <a:srgbClr val="16A34A"/>
                </a:solidFill>
                <a:latin typeface="Calibri"/>
              </a:rPr>
              <a:t>▪  </a:t>
            </a:r>
            <a:r>
              <a:rPr sz="1350" b="1" i="0">
                <a:solidFill>
                  <a:srgbClr val="1F2937"/>
                </a:solidFill>
                <a:latin typeface="Calibri"/>
              </a:rPr>
              <a:t>Mesure</a:t>
            </a:r>
            <a:r>
              <a:rPr sz="1350" b="0" i="0">
                <a:solidFill>
                  <a:srgbClr val="1F2937"/>
                </a:solidFill>
                <a:latin typeface="Calibri"/>
              </a:rPr>
              <a:t> : le contre-bras de release-18 attend le rechargement des crédits API (bras 1 : 97,1 % ; le protocole exige la paire) ; gold à 25,6 % des documents — cible déclarée ≥ 30 %</a:t>
            </a:r>
          </a:p>
          <a:p>
            <a:pPr>
              <a:lnSpc>
                <a:spcPct val="102000"/>
              </a:lnSpc>
              <a:spcAft>
                <a:spcPts val="600"/>
              </a:spcAft>
            </a:pPr>
            <a:r>
              <a:rPr sz="1350" b="1" i="0">
                <a:solidFill>
                  <a:srgbClr val="16A34A"/>
                </a:solidFill>
                <a:latin typeface="Calibri"/>
              </a:rPr>
              <a:t>▪  </a:t>
            </a:r>
            <a:r>
              <a:rPr sz="1350" b="1" i="0">
                <a:solidFill>
                  <a:srgbClr val="1F2937"/>
                </a:solidFill>
                <a:latin typeface="Calibri"/>
              </a:rPr>
              <a:t>Défauts nommés, correctifs en file</a:t>
            </a:r>
            <a:r>
              <a:rPr sz="1350" b="0" i="0">
                <a:solidFill>
                  <a:srgbClr val="1F2937"/>
                </a:solidFill>
                <a:latin typeface="Calibri"/>
              </a:rPr>
              <a:t> : claims de </a:t>
            </a:r>
            <a:r>
              <a:rPr sz="1350" b="1" i="0">
                <a:solidFill>
                  <a:srgbClr val="1F2937"/>
                </a:solidFill>
                <a:latin typeface="Calibri"/>
              </a:rPr>
              <a:t>comptage des listes inverses</a:t>
            </a:r>
            <a:r>
              <a:rPr sz="1350" b="0" i="0">
                <a:solidFill>
                  <a:srgbClr val="1F2937"/>
                </a:solidFill>
                <a:latin typeface="Calibri"/>
              </a:rPr>
              <a:t> (« 41 propositions citent l'UNDP » — les éléments se vérifient, le compte n'a pas de clé de preuve) ; attribution des opérandes dans l'arithmétique dérivée ; marqueur de troncature visible</a:t>
            </a:r>
          </a:p>
          <a:p>
            <a:pPr>
              <a:lnSpc>
                <a:spcPct val="102000"/>
              </a:lnSpc>
              <a:spcAft>
                <a:spcPts val="600"/>
              </a:spcAft>
            </a:pPr>
            <a:r>
              <a:rPr sz="1350" b="1" i="0">
                <a:solidFill>
                  <a:srgbClr val="16A34A"/>
                </a:solidFill>
                <a:latin typeface="Calibri"/>
              </a:rPr>
              <a:t>▪  </a:t>
            </a:r>
            <a:r>
              <a:rPr sz="1350" b="1" i="0">
                <a:solidFill>
                  <a:srgbClr val="1F2937"/>
                </a:solidFill>
                <a:latin typeface="Calibri"/>
              </a:rPr>
              <a:t>Couverture</a:t>
            </a:r>
            <a:r>
              <a:rPr sz="1350" b="0" i="0">
                <a:solidFill>
                  <a:srgbClr val="1F2937"/>
                </a:solidFill>
                <a:latin typeface="Calibri"/>
              </a:rPr>
              <a:t> : phase 5a (ingestion des politiques GCF pour un vrai L3) en attente de décision d'acquisition ; champ « thème » non indexé (refus honnête mesuré en attendant) ; phase 6 instruments</a:t>
            </a:r>
          </a:p>
          <a:p>
            <a:pPr>
              <a:lnSpc>
                <a:spcPct val="102000"/>
              </a:lnSpc>
              <a:spcAft>
                <a:spcPts val="600"/>
              </a:spcAft>
            </a:pPr>
            <a:r>
              <a:rPr sz="1350" b="1" i="0">
                <a:solidFill>
                  <a:srgbClr val="16A34A"/>
                </a:solidFill>
                <a:latin typeface="Calibri"/>
              </a:rPr>
              <a:t>▪  </a:t>
            </a:r>
            <a:r>
              <a:rPr sz="1350" b="1" i="0">
                <a:solidFill>
                  <a:srgbClr val="1F2937"/>
                </a:solidFill>
                <a:latin typeface="Calibri"/>
              </a:rPr>
              <a:t>Modèles</a:t>
            </a:r>
            <a:r>
              <a:rPr sz="1350" b="0" i="0">
                <a:solidFill>
                  <a:srgbClr val="1F2937"/>
                </a:solidFill>
                <a:latin typeface="Calibri"/>
              </a:rPr>
              <a:t> : A/B d'un embeddeur multilingue (17 cas français dans le gold) ; 3 corpus d'extraction VLM restants (jobs de 11 min) ; 205 pages pivotées à ré-extraire</a:t>
            </a:r>
          </a:p>
          <a:p>
            <a:pPr>
              <a:lnSpc>
                <a:spcPct val="102000"/>
              </a:lnSpc>
              <a:spcAft>
                <a:spcPts val="600"/>
              </a:spcAft>
            </a:pPr>
            <a:r>
              <a:rPr sz="1350" b="1" i="0">
                <a:solidFill>
                  <a:srgbClr val="16A34A"/>
                </a:solidFill>
                <a:latin typeface="Calibri"/>
              </a:rPr>
              <a:t>▪  </a:t>
            </a:r>
            <a:r>
              <a:rPr sz="1350" b="1" i="0">
                <a:solidFill>
                  <a:srgbClr val="1F2937"/>
                </a:solidFill>
                <a:latin typeface="Calibri"/>
              </a:rPr>
              <a:t>Opérations</a:t>
            </a:r>
            <a:r>
              <a:rPr sz="1350" b="0" i="0">
                <a:solidFill>
                  <a:srgbClr val="1F2937"/>
                </a:solidFill>
                <a:latin typeface="Calibri"/>
              </a:rPr>
              <a:t> : révoquer les 5 clés divulguées ; enregistrer la clé SSH et pousser les ~34 commits ; retirer 2 fichiers de thème périmés du serveur ; capturer l'empreinte de déploiement (parité « full »)</a:t>
            </a:r>
          </a:p>
          <a:p>
            <a:pPr>
              <a:lnSpc>
                <a:spcPct val="102000"/>
              </a:lnSpc>
              <a:spcAft>
                <a:spcPts val="600"/>
              </a:spcAft>
            </a:pPr>
            <a:r>
              <a:rPr sz="1350" b="1" i="0">
                <a:solidFill>
                  <a:srgbClr val="16A34A"/>
                </a:solidFill>
                <a:latin typeface="Calibri"/>
              </a:rPr>
              <a:t>▪  </a:t>
            </a:r>
            <a:r>
              <a:rPr sz="1350" b="1" i="0">
                <a:solidFill>
                  <a:srgbClr val="1F2937"/>
                </a:solidFill>
                <a:latin typeface="Calibri"/>
              </a:rPr>
              <a:t>Réparation comme suggestion</a:t>
            </a:r>
            <a:r>
              <a:rPr sz="1350" b="0" i="0">
                <a:solidFill>
                  <a:srgbClr val="1F2937"/>
                </a:solidFill>
                <a:latin typeface="Calibri"/>
              </a:rPr>
              <a:t> : réintroduire la réécriture </a:t>
            </a:r>
            <a:r>
              <a:rPr sz="1350" b="1" i="0">
                <a:solidFill>
                  <a:srgbClr val="1F2937"/>
                </a:solidFill>
                <a:latin typeface="Calibri"/>
              </a:rPr>
              <a:t>à côté</a:t>
            </a:r>
            <a:r>
              <a:rPr sz="1350" b="0" i="0">
                <a:solidFill>
                  <a:srgbClr val="1F2937"/>
                </a:solidFill>
                <a:latin typeface="Calibri"/>
              </a:rPr>
              <a:t> de la réponse, jamais à sa place — documenté comme travail futur</a:t>
            </a:r>
          </a:p>
        </p:txBody>
      </p:sp>
      <p:sp>
        <p:nvSpPr>
          <p:cNvPr id="7" name="TextBox 6"/>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8" name="TextBox 7"/>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IV · BILAN</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Conclusion</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25296"/>
            <a:ext cx="11091672" cy="3063240"/>
          </a:xfrm>
          <a:prstGeom prst="rect">
            <a:avLst/>
          </a:prstGeom>
          <a:noFill/>
        </p:spPr>
        <p:txBody>
          <a:bodyPr wrap="square">
            <a:spAutoFit/>
          </a:bodyPr>
          <a:lstStyle/>
          <a:p>
            <a:pPr>
              <a:lnSpc>
                <a:spcPct val="102000"/>
              </a:lnSpc>
              <a:spcAft>
                <a:spcPts val="600"/>
              </a:spcAft>
            </a:pPr>
            <a:r>
              <a:rPr sz="1450" b="1" i="0">
                <a:solidFill>
                  <a:srgbClr val="16A34A"/>
                </a:solidFill>
                <a:latin typeface="Calibri"/>
              </a:rPr>
              <a:t>▪  </a:t>
            </a:r>
            <a:r>
              <a:rPr sz="1450" b="1" i="0">
                <a:solidFill>
                  <a:srgbClr val="1F2937"/>
                </a:solidFill>
                <a:latin typeface="Calibri"/>
              </a:rPr>
              <a:t>Du cahier des charges au système vérifié</a:t>
            </a:r>
            <a:r>
              <a:rPr sz="1450" b="0" i="0">
                <a:solidFill>
                  <a:srgbClr val="1F2937"/>
                </a:solidFill>
                <a:latin typeface="Calibri"/>
              </a:rPr>
              <a:t> : les 7 étapes imposées sont couvertes — et dépassées par un programme de correction factuelle que le sujet n'exigeait pas</a:t>
            </a:r>
          </a:p>
          <a:p>
            <a:pPr>
              <a:lnSpc>
                <a:spcPct val="102000"/>
              </a:lnSpc>
              <a:spcAft>
                <a:spcPts val="600"/>
              </a:spcAft>
            </a:pPr>
            <a:r>
              <a:rPr sz="1450" b="1" i="0">
                <a:solidFill>
                  <a:srgbClr val="16A34A"/>
                </a:solidFill>
                <a:latin typeface="Calibri"/>
              </a:rPr>
              <a:t>▪  </a:t>
            </a:r>
            <a:r>
              <a:rPr sz="1450" b="1" i="0">
                <a:solidFill>
                  <a:srgbClr val="1F2937"/>
                </a:solidFill>
                <a:latin typeface="Calibri"/>
              </a:rPr>
              <a:t>La trajectoire recoupe la littérature</a:t>
            </a:r>
            <a:r>
              <a:rPr sz="1450" b="0" i="0">
                <a:solidFill>
                  <a:srgbClr val="1F2937"/>
                </a:solidFill>
                <a:latin typeface="Calibri"/>
              </a:rPr>
              <a:t> : le prototype naïf de 2024 est devenu un RAG modulaire (Gao et al.), positionné sur la grille L1–L4 (Zhao et al.), attribué au pixel (AIS), vérifié par claims (FActScore) — chaque intersection instanciée et mesurée</a:t>
            </a:r>
          </a:p>
          <a:p>
            <a:pPr>
              <a:lnSpc>
                <a:spcPct val="102000"/>
              </a:lnSpc>
              <a:spcAft>
                <a:spcPts val="600"/>
              </a:spcAft>
            </a:pPr>
            <a:r>
              <a:rPr sz="1450" b="1" i="0">
                <a:solidFill>
                  <a:srgbClr val="16A34A"/>
                </a:solidFill>
                <a:latin typeface="Calibri"/>
              </a:rPr>
              <a:t>▪  </a:t>
            </a:r>
            <a:r>
              <a:rPr sz="1450" b="1" i="0">
                <a:solidFill>
                  <a:srgbClr val="1F2937"/>
                </a:solidFill>
                <a:latin typeface="Calibri"/>
              </a:rPr>
              <a:t>Trois leçons transversales</a:t>
            </a:r>
            <a:r>
              <a:rPr sz="1450" b="0" i="0">
                <a:solidFill>
                  <a:srgbClr val="1F2937"/>
                </a:solidFill>
                <a:latin typeface="Calibri"/>
              </a:rPr>
              <a:t> :</a:t>
            </a:r>
          </a:p>
          <a:p>
            <a:pPr>
              <a:lnSpc>
                <a:spcPct val="102000"/>
              </a:lnSpc>
              <a:spcAft>
                <a:spcPts val="400"/>
              </a:spcAft>
            </a:pPr>
            <a:r>
              <a:rPr sz="1300" b="0" i="0">
                <a:solidFill>
                  <a:srgbClr val="6B7280"/>
                </a:solidFill>
                <a:latin typeface="Calibri"/>
              </a:rPr>
              <a:t>    –  </a:t>
            </a:r>
            <a:r>
              <a:rPr sz="1300" b="1" i="0">
                <a:solidFill>
                  <a:srgbClr val="374151"/>
                </a:solidFill>
                <a:latin typeface="Calibri"/>
              </a:rPr>
              <a:t>mesurer avant d'affirmer</a:t>
            </a:r>
            <a:r>
              <a:rPr sz="1300" b="0" i="0">
                <a:solidFill>
                  <a:srgbClr val="374151"/>
                </a:solidFill>
                <a:latin typeface="Calibri"/>
              </a:rPr>
              <a:t> — la variance d'abord, les portes en nombres entiers, l'A/B avant l'adoption</a:t>
            </a:r>
          </a:p>
          <a:p>
            <a:pPr>
              <a:lnSpc>
                <a:spcPct val="102000"/>
              </a:lnSpc>
              <a:spcAft>
                <a:spcPts val="400"/>
              </a:spcAft>
            </a:pPr>
            <a:r>
              <a:rPr sz="1300" b="0" i="0">
                <a:solidFill>
                  <a:srgbClr val="6B7280"/>
                </a:solidFill>
                <a:latin typeface="Calibri"/>
              </a:rPr>
              <a:t>    –  </a:t>
            </a:r>
            <a:r>
              <a:rPr sz="1300" b="1" i="0">
                <a:solidFill>
                  <a:srgbClr val="374151"/>
                </a:solidFill>
                <a:latin typeface="Calibri"/>
              </a:rPr>
              <a:t>un système ne peut pas se noter lui-même</a:t>
            </a:r>
            <a:r>
              <a:rPr sz="1300" b="0" i="0">
                <a:solidFill>
                  <a:srgbClr val="374151"/>
                </a:solidFill>
                <a:latin typeface="Calibri"/>
              </a:rPr>
              <a:t> — gold humain en aveugle, juge audité, ratification signée</a:t>
            </a:r>
          </a:p>
          <a:p>
            <a:pPr>
              <a:lnSpc>
                <a:spcPct val="102000"/>
              </a:lnSpc>
              <a:spcAft>
                <a:spcPts val="400"/>
              </a:spcAft>
            </a:pPr>
            <a:r>
              <a:rPr sz="1300" b="0" i="0">
                <a:solidFill>
                  <a:srgbClr val="6B7280"/>
                </a:solidFill>
                <a:latin typeface="Calibri"/>
              </a:rPr>
              <a:t>    –  </a:t>
            </a:r>
            <a:r>
              <a:rPr sz="1300" b="1" i="0">
                <a:solidFill>
                  <a:srgbClr val="374151"/>
                </a:solidFill>
                <a:latin typeface="Calibri"/>
              </a:rPr>
              <a:t>l'honnêteté comme fonctionnalité</a:t>
            </a:r>
            <a:r>
              <a:rPr sz="1300" b="0" i="0">
                <a:solidFill>
                  <a:srgbClr val="374151"/>
                </a:solidFill>
                <a:latin typeface="Calibri"/>
              </a:rPr>
              <a:t> — absences confirmées, conflits à deux valeurs, listes tronquées qui le disent, porte rouge assumée</a:t>
            </a:r>
          </a:p>
        </p:txBody>
      </p:sp>
      <p:sp>
        <p:nvSpPr>
          <p:cNvPr id="7" name="Rounded Rectangle 6"/>
          <p:cNvSpPr/>
          <p:nvPr/>
        </p:nvSpPr>
        <p:spPr>
          <a:xfrm>
            <a:off x="548640" y="4379976"/>
            <a:ext cx="2130552" cy="713232"/>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bIns="18288"/>
          <a:lstStyle/>
          <a:p>
            <a:pPr algn="ctr"/>
            <a:r>
              <a:rPr sz="1500" b="1" i="0">
                <a:solidFill>
                  <a:srgbClr val="14532D"/>
                </a:solidFill>
                <a:latin typeface="Calibri"/>
              </a:rPr>
              <a:t>57 % → 97,1 %</a:t>
            </a:r>
          </a:p>
          <a:p>
            <a:pPr algn="ctr"/>
            <a:r>
              <a:rPr sz="900" b="0" i="0">
                <a:solidFill>
                  <a:srgbClr val="6B7280"/>
                </a:solidFill>
                <a:latin typeface="Calibri"/>
              </a:rPr>
              <a:t>claims supportés (R1 → R18)</a:t>
            </a:r>
          </a:p>
        </p:txBody>
      </p:sp>
      <p:sp>
        <p:nvSpPr>
          <p:cNvPr id="8" name="Rounded Rectangle 7"/>
          <p:cNvSpPr/>
          <p:nvPr/>
        </p:nvSpPr>
        <p:spPr>
          <a:xfrm>
            <a:off x="2788920" y="4379976"/>
            <a:ext cx="2130552" cy="713232"/>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bIns="18288"/>
          <a:lstStyle/>
          <a:p>
            <a:pPr algn="ctr"/>
            <a:r>
              <a:rPr sz="1500" b="1" i="0">
                <a:solidFill>
                  <a:srgbClr val="14532D"/>
                </a:solidFill>
                <a:latin typeface="Calibri"/>
              </a:rPr>
              <a:t>157 cas</a:t>
            </a:r>
          </a:p>
          <a:p>
            <a:pPr algn="ctr"/>
            <a:r>
              <a:rPr sz="900" b="0" i="0">
                <a:solidFill>
                  <a:srgbClr val="6B7280"/>
                </a:solidFill>
                <a:latin typeface="Calibri"/>
              </a:rPr>
              <a:t>gold, 12 classes, FR+EN</a:t>
            </a:r>
          </a:p>
        </p:txBody>
      </p:sp>
      <p:sp>
        <p:nvSpPr>
          <p:cNvPr id="9" name="Rounded Rectangle 8"/>
          <p:cNvSpPr/>
          <p:nvPr/>
        </p:nvSpPr>
        <p:spPr>
          <a:xfrm>
            <a:off x="5029200" y="4379976"/>
            <a:ext cx="2130552" cy="713232"/>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bIns="18288"/>
          <a:lstStyle/>
          <a:p>
            <a:pPr algn="ctr"/>
            <a:r>
              <a:rPr sz="1500" b="1" i="0">
                <a:solidFill>
                  <a:srgbClr val="14532D"/>
                </a:solidFill>
                <a:latin typeface="Calibri"/>
              </a:rPr>
              <a:t>83 %</a:t>
            </a:r>
          </a:p>
          <a:p>
            <a:pPr algn="ctr"/>
            <a:r>
              <a:rPr sz="900" b="0" i="0">
                <a:solidFill>
                  <a:srgbClr val="6B7280"/>
                </a:solidFill>
                <a:latin typeface="Calibri"/>
              </a:rPr>
              <a:t>de faux positifs corrigés par l'adjudication</a:t>
            </a:r>
          </a:p>
        </p:txBody>
      </p:sp>
      <p:sp>
        <p:nvSpPr>
          <p:cNvPr id="10" name="Rounded Rectangle 9"/>
          <p:cNvSpPr/>
          <p:nvPr/>
        </p:nvSpPr>
        <p:spPr>
          <a:xfrm>
            <a:off x="7269480" y="4379976"/>
            <a:ext cx="2130552" cy="713232"/>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bIns="18288"/>
          <a:lstStyle/>
          <a:p>
            <a:pPr algn="ctr"/>
            <a:r>
              <a:rPr sz="1500" b="1" i="0">
                <a:solidFill>
                  <a:srgbClr val="14532D"/>
                </a:solidFill>
                <a:latin typeface="Calibri"/>
              </a:rPr>
              <a:t>± 2–3 pp</a:t>
            </a:r>
          </a:p>
          <a:p>
            <a:pPr algn="ctr"/>
            <a:r>
              <a:rPr sz="900" b="0" i="0">
                <a:solidFill>
                  <a:srgbClr val="6B7280"/>
                </a:solidFill>
                <a:latin typeface="Calibri"/>
              </a:rPr>
              <a:t>bande de bruit publiée</a:t>
            </a:r>
          </a:p>
        </p:txBody>
      </p:sp>
      <p:sp>
        <p:nvSpPr>
          <p:cNvPr id="11" name="Rounded Rectangle 10"/>
          <p:cNvSpPr/>
          <p:nvPr/>
        </p:nvSpPr>
        <p:spPr>
          <a:xfrm>
            <a:off x="9509760" y="4379976"/>
            <a:ext cx="2130552" cy="713232"/>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bIns="18288"/>
          <a:lstStyle/>
          <a:p>
            <a:pPr algn="ctr"/>
            <a:r>
              <a:rPr sz="1500" b="1" i="0">
                <a:solidFill>
                  <a:srgbClr val="14532D"/>
                </a:solidFill>
                <a:latin typeface="Calibri"/>
              </a:rPr>
              <a:t>en production</a:t>
            </a:r>
          </a:p>
          <a:p>
            <a:pPr algn="ctr"/>
            <a:r>
              <a:rPr sz="900" b="0" i="0">
                <a:solidFill>
                  <a:srgbClr val="6B7280"/>
                </a:solidFill>
                <a:latin typeface="Calibri"/>
              </a:rPr>
              <a:t>fp-gcf.ssa.tg</a:t>
            </a:r>
          </a:p>
        </p:txBody>
      </p:sp>
      <p:sp>
        <p:nvSpPr>
          <p:cNvPr id="12" name="TextBox 11"/>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13" name="TextBox 12"/>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502920"/>
          </a:xfrm>
          <a:prstGeom prst="rect">
            <a:avLst/>
          </a:prstGeom>
          <a:noFill/>
        </p:spPr>
        <p:txBody>
          <a:bodyPr wrap="square">
            <a:spAutoFit/>
          </a:bodyPr>
          <a:lstStyle/>
          <a:p>
            <a:r>
              <a:rPr sz="2400" b="1" i="0">
                <a:solidFill>
                  <a:srgbClr val="14532D"/>
                </a:solidFill>
                <a:latin typeface="Calibri"/>
              </a:rPr>
              <a:t>Références</a:t>
            </a:r>
          </a:p>
        </p:txBody>
      </p:sp>
      <p:sp>
        <p:nvSpPr>
          <p:cNvPr id="4" name="Rectangle 3"/>
          <p:cNvSpPr/>
          <p:nvPr/>
        </p:nvSpPr>
        <p:spPr>
          <a:xfrm>
            <a:off x="548640" y="76809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50976"/>
            <a:ext cx="5394960" cy="5120640"/>
          </a:xfrm>
          <a:prstGeom prst="rect">
            <a:avLst/>
          </a:prstGeom>
          <a:noFill/>
        </p:spPr>
        <p:txBody>
          <a:bodyPr wrap="square">
            <a:spAutoFit/>
          </a:bodyPr>
          <a:lstStyle/>
          <a:p>
            <a:pPr>
              <a:lnSpc>
                <a:spcPct val="100000"/>
              </a:lnSpc>
              <a:spcAft>
                <a:spcPts val="600"/>
              </a:spcAft>
            </a:pPr>
            <a:r>
              <a:rPr sz="1050" b="0" i="0">
                <a:solidFill>
                  <a:srgbClr val="16A34A"/>
                </a:solidFill>
                <a:latin typeface="Calibri"/>
              </a:rPr>
              <a:t>•  </a:t>
            </a:r>
            <a:r>
              <a:rPr sz="1050" b="0" i="0">
                <a:solidFill>
                  <a:srgbClr val="1F2937"/>
                </a:solidFill>
                <a:latin typeface="Calibri"/>
              </a:rPr>
              <a:t>Lewis et al., 2020. Retrieval-Augmented Generation for Knowledge-Intensive NLP Tasks. NeurIPS.</a:t>
            </a:r>
          </a:p>
          <a:p>
            <a:pPr>
              <a:lnSpc>
                <a:spcPct val="100000"/>
              </a:lnSpc>
              <a:spcAft>
                <a:spcPts val="600"/>
              </a:spcAft>
            </a:pPr>
            <a:r>
              <a:rPr sz="1050" b="0" i="0">
                <a:solidFill>
                  <a:srgbClr val="16A34A"/>
                </a:solidFill>
                <a:latin typeface="Calibri"/>
              </a:rPr>
              <a:t>•  </a:t>
            </a:r>
            <a:r>
              <a:rPr sz="1050" b="0" i="0">
                <a:solidFill>
                  <a:srgbClr val="1F2937"/>
                </a:solidFill>
                <a:latin typeface="Calibri"/>
              </a:rPr>
              <a:t>Guu et al., 2020. REALM: Retrieval-Augmented Language Model Pre-Training. ICML.</a:t>
            </a:r>
          </a:p>
          <a:p>
            <a:pPr>
              <a:lnSpc>
                <a:spcPct val="100000"/>
              </a:lnSpc>
              <a:spcAft>
                <a:spcPts val="600"/>
              </a:spcAft>
            </a:pPr>
            <a:r>
              <a:rPr sz="1050" b="0" i="0">
                <a:solidFill>
                  <a:srgbClr val="16A34A"/>
                </a:solidFill>
                <a:latin typeface="Calibri"/>
              </a:rPr>
              <a:t>•  </a:t>
            </a:r>
            <a:r>
              <a:rPr sz="1050" b="0" i="0">
                <a:solidFill>
                  <a:srgbClr val="1F2937"/>
                </a:solidFill>
                <a:latin typeface="Calibri"/>
              </a:rPr>
              <a:t>Karpukhin et al., 2020. Dense Passage Retrieval for Open-Domain QA. EMNLP.</a:t>
            </a:r>
          </a:p>
          <a:p>
            <a:pPr>
              <a:lnSpc>
                <a:spcPct val="100000"/>
              </a:lnSpc>
              <a:spcAft>
                <a:spcPts val="600"/>
              </a:spcAft>
            </a:pPr>
            <a:r>
              <a:rPr sz="1050" b="0" i="0">
                <a:solidFill>
                  <a:srgbClr val="16A34A"/>
                </a:solidFill>
                <a:latin typeface="Calibri"/>
              </a:rPr>
              <a:t>•  </a:t>
            </a:r>
            <a:r>
              <a:rPr sz="1050" b="0" i="0">
                <a:solidFill>
                  <a:srgbClr val="1F2937"/>
                </a:solidFill>
                <a:latin typeface="Calibri"/>
              </a:rPr>
              <a:t>Reimers &amp; Gurevych, 2019. Sentence-BERT. EMNLP.</a:t>
            </a:r>
          </a:p>
          <a:p>
            <a:pPr>
              <a:lnSpc>
                <a:spcPct val="100000"/>
              </a:lnSpc>
              <a:spcAft>
                <a:spcPts val="600"/>
              </a:spcAft>
            </a:pPr>
            <a:r>
              <a:rPr sz="1050" b="0" i="0">
                <a:solidFill>
                  <a:srgbClr val="16A34A"/>
                </a:solidFill>
                <a:latin typeface="Calibri"/>
              </a:rPr>
              <a:t>•  </a:t>
            </a:r>
            <a:r>
              <a:rPr sz="1050" b="0" i="0">
                <a:solidFill>
                  <a:srgbClr val="1F2937"/>
                </a:solidFill>
                <a:latin typeface="Calibri"/>
              </a:rPr>
              <a:t>Robertson &amp; Zaragoza, 2009. The Probabilistic Relevance Framework: BM25 and Beyond. FnTIR.</a:t>
            </a:r>
          </a:p>
          <a:p>
            <a:pPr>
              <a:lnSpc>
                <a:spcPct val="100000"/>
              </a:lnSpc>
              <a:spcAft>
                <a:spcPts val="600"/>
              </a:spcAft>
            </a:pPr>
            <a:r>
              <a:rPr sz="1050" b="0" i="0">
                <a:solidFill>
                  <a:srgbClr val="16A34A"/>
                </a:solidFill>
                <a:latin typeface="Calibri"/>
              </a:rPr>
              <a:t>•  </a:t>
            </a:r>
            <a:r>
              <a:rPr sz="1050" b="0" i="0">
                <a:solidFill>
                  <a:srgbClr val="1F2937"/>
                </a:solidFill>
                <a:latin typeface="Calibri"/>
              </a:rPr>
              <a:t>Cormack, Clarke &amp; Buettcher, 2009. Reciprocal Rank Fusion. SIGIR.</a:t>
            </a:r>
          </a:p>
          <a:p>
            <a:pPr>
              <a:lnSpc>
                <a:spcPct val="100000"/>
              </a:lnSpc>
              <a:spcAft>
                <a:spcPts val="600"/>
              </a:spcAft>
            </a:pPr>
            <a:r>
              <a:rPr sz="1050" b="0" i="0">
                <a:solidFill>
                  <a:srgbClr val="16A34A"/>
                </a:solidFill>
                <a:latin typeface="Calibri"/>
              </a:rPr>
              <a:t>•  </a:t>
            </a:r>
            <a:r>
              <a:rPr sz="1050" b="0" i="0">
                <a:solidFill>
                  <a:srgbClr val="1F2937"/>
                </a:solidFill>
                <a:latin typeface="Calibri"/>
              </a:rPr>
              <a:t>Nogueira &amp; Cho, 2019. Passage Re-ranking with BERT. arXiv:1901.04085.</a:t>
            </a:r>
          </a:p>
          <a:p>
            <a:pPr>
              <a:lnSpc>
                <a:spcPct val="100000"/>
              </a:lnSpc>
              <a:spcAft>
                <a:spcPts val="600"/>
              </a:spcAft>
            </a:pPr>
            <a:r>
              <a:rPr sz="1050" b="0" i="0">
                <a:solidFill>
                  <a:srgbClr val="16A34A"/>
                </a:solidFill>
                <a:latin typeface="Calibri"/>
              </a:rPr>
              <a:t>•  </a:t>
            </a:r>
            <a:r>
              <a:rPr sz="1050" b="0" i="0">
                <a:solidFill>
                  <a:srgbClr val="1F2937"/>
                </a:solidFill>
                <a:latin typeface="Calibri"/>
              </a:rPr>
              <a:t>Gao et al., 2023. Retrieval-Augmented Generation for LLMs: A Survey. arXiv:2312.10997.</a:t>
            </a:r>
          </a:p>
          <a:p>
            <a:pPr>
              <a:lnSpc>
                <a:spcPct val="100000"/>
              </a:lnSpc>
              <a:spcAft>
                <a:spcPts val="600"/>
              </a:spcAft>
            </a:pPr>
            <a:r>
              <a:rPr sz="1050" b="0" i="0">
                <a:solidFill>
                  <a:srgbClr val="16A34A"/>
                </a:solidFill>
                <a:latin typeface="Calibri"/>
              </a:rPr>
              <a:t>•  </a:t>
            </a:r>
            <a:r>
              <a:rPr sz="1050" b="0" i="0">
                <a:solidFill>
                  <a:srgbClr val="1F2937"/>
                </a:solidFill>
                <a:latin typeface="Calibri"/>
              </a:rPr>
              <a:t>Zhao et al., 2024. Retrieval Augmented Generation (RAG) and Beyond. arXiv:2409.14924.</a:t>
            </a:r>
          </a:p>
          <a:p>
            <a:pPr>
              <a:lnSpc>
                <a:spcPct val="100000"/>
              </a:lnSpc>
              <a:spcAft>
                <a:spcPts val="600"/>
              </a:spcAft>
            </a:pPr>
            <a:r>
              <a:rPr sz="1050" b="0" i="0">
                <a:solidFill>
                  <a:srgbClr val="16A34A"/>
                </a:solidFill>
                <a:latin typeface="Calibri"/>
              </a:rPr>
              <a:t>•  </a:t>
            </a:r>
            <a:r>
              <a:rPr sz="1050" b="0" i="0">
                <a:solidFill>
                  <a:srgbClr val="1F2937"/>
                </a:solidFill>
                <a:latin typeface="Calibri"/>
              </a:rPr>
              <a:t>Ji et al., 2023. Survey of Hallucination in Natural Language Generation. ACM Computing Surveys.</a:t>
            </a:r>
          </a:p>
          <a:p>
            <a:pPr>
              <a:lnSpc>
                <a:spcPct val="100000"/>
              </a:lnSpc>
              <a:spcAft>
                <a:spcPts val="600"/>
              </a:spcAft>
            </a:pPr>
            <a:r>
              <a:rPr sz="1050" b="0" i="0">
                <a:solidFill>
                  <a:srgbClr val="16A34A"/>
                </a:solidFill>
                <a:latin typeface="Calibri"/>
              </a:rPr>
              <a:t>•  </a:t>
            </a:r>
            <a:r>
              <a:rPr sz="1050" b="0" i="0">
                <a:solidFill>
                  <a:srgbClr val="1F2937"/>
                </a:solidFill>
                <a:latin typeface="Calibri"/>
              </a:rPr>
              <a:t>Shuster et al., 2021. Retrieval Augmentation Reduces Hallucination in Conversation. EMNLP Findings.</a:t>
            </a:r>
          </a:p>
          <a:p>
            <a:pPr>
              <a:lnSpc>
                <a:spcPct val="100000"/>
              </a:lnSpc>
              <a:spcAft>
                <a:spcPts val="600"/>
              </a:spcAft>
            </a:pPr>
            <a:r>
              <a:rPr sz="1050" b="0" i="0">
                <a:solidFill>
                  <a:srgbClr val="16A34A"/>
                </a:solidFill>
                <a:latin typeface="Calibri"/>
              </a:rPr>
              <a:t>•  </a:t>
            </a:r>
            <a:r>
              <a:rPr sz="1050" b="0" i="0">
                <a:solidFill>
                  <a:srgbClr val="1F2937"/>
                </a:solidFill>
                <a:latin typeface="Calibri"/>
              </a:rPr>
              <a:t>Rashkin et al., 2021. Measuring Attribution in NLG (AIS). arXiv:2112.12870.</a:t>
            </a:r>
          </a:p>
        </p:txBody>
      </p:sp>
      <p:sp>
        <p:nvSpPr>
          <p:cNvPr id="6" name="TextBox 5"/>
          <p:cNvSpPr txBox="1"/>
          <p:nvPr/>
        </p:nvSpPr>
        <p:spPr>
          <a:xfrm>
            <a:off x="6217920" y="950976"/>
            <a:ext cx="5394960" cy="5120640"/>
          </a:xfrm>
          <a:prstGeom prst="rect">
            <a:avLst/>
          </a:prstGeom>
          <a:noFill/>
        </p:spPr>
        <p:txBody>
          <a:bodyPr wrap="square">
            <a:spAutoFit/>
          </a:bodyPr>
          <a:lstStyle/>
          <a:p>
            <a:pPr>
              <a:lnSpc>
                <a:spcPct val="100000"/>
              </a:lnSpc>
              <a:spcAft>
                <a:spcPts val="600"/>
              </a:spcAft>
            </a:pPr>
            <a:r>
              <a:rPr sz="1050" b="0" i="0">
                <a:solidFill>
                  <a:srgbClr val="16A34A"/>
                </a:solidFill>
                <a:latin typeface="Calibri"/>
              </a:rPr>
              <a:t>•  </a:t>
            </a:r>
            <a:r>
              <a:rPr sz="1050" b="0" i="0">
                <a:solidFill>
                  <a:srgbClr val="1F2937"/>
                </a:solidFill>
                <a:latin typeface="Calibri"/>
              </a:rPr>
              <a:t>Bohnet et al., 2022. Attributed Question Answering. arXiv:2212.08037.</a:t>
            </a:r>
          </a:p>
          <a:p>
            <a:pPr>
              <a:lnSpc>
                <a:spcPct val="100000"/>
              </a:lnSpc>
              <a:spcAft>
                <a:spcPts val="600"/>
              </a:spcAft>
            </a:pPr>
            <a:r>
              <a:rPr sz="1050" b="0" i="0">
                <a:solidFill>
                  <a:srgbClr val="16A34A"/>
                </a:solidFill>
                <a:latin typeface="Calibri"/>
              </a:rPr>
              <a:t>•  </a:t>
            </a:r>
            <a:r>
              <a:rPr sz="1050" b="0" i="0">
                <a:solidFill>
                  <a:srgbClr val="1F2937"/>
                </a:solidFill>
                <a:latin typeface="Calibri"/>
              </a:rPr>
              <a:t>Nakano et al., 2021 (WebGPT) ; Menick et al., 2022 (GopherCite).</a:t>
            </a:r>
          </a:p>
          <a:p>
            <a:pPr>
              <a:lnSpc>
                <a:spcPct val="100000"/>
              </a:lnSpc>
              <a:spcAft>
                <a:spcPts val="600"/>
              </a:spcAft>
            </a:pPr>
            <a:r>
              <a:rPr sz="1050" b="0" i="0">
                <a:solidFill>
                  <a:srgbClr val="16A34A"/>
                </a:solidFill>
                <a:latin typeface="Calibri"/>
              </a:rPr>
              <a:t>•  </a:t>
            </a:r>
            <a:r>
              <a:rPr sz="1050" b="0" i="0">
                <a:solidFill>
                  <a:srgbClr val="1F2937"/>
                </a:solidFill>
                <a:latin typeface="Calibri"/>
              </a:rPr>
              <a:t>Gao et al., 2023. Enabling LLMs to Generate Text with Citations (ALCE). EMNLP.</a:t>
            </a:r>
          </a:p>
          <a:p>
            <a:pPr>
              <a:lnSpc>
                <a:spcPct val="100000"/>
              </a:lnSpc>
              <a:spcAft>
                <a:spcPts val="600"/>
              </a:spcAft>
            </a:pPr>
            <a:r>
              <a:rPr sz="1050" b="0" i="0">
                <a:solidFill>
                  <a:srgbClr val="16A34A"/>
                </a:solidFill>
                <a:latin typeface="Calibri"/>
              </a:rPr>
              <a:t>•  </a:t>
            </a:r>
            <a:r>
              <a:rPr sz="1050" b="0" i="0">
                <a:solidFill>
                  <a:srgbClr val="1F2937"/>
                </a:solidFill>
                <a:latin typeface="Calibri"/>
              </a:rPr>
              <a:t>Liu, Zhang &amp; Liang, 2023. Evaluating Verifiability in Generative Search Engines. EMNLP Findings.</a:t>
            </a:r>
          </a:p>
          <a:p>
            <a:pPr>
              <a:lnSpc>
                <a:spcPct val="100000"/>
              </a:lnSpc>
              <a:spcAft>
                <a:spcPts val="600"/>
              </a:spcAft>
            </a:pPr>
            <a:r>
              <a:rPr sz="1050" b="0" i="0">
                <a:solidFill>
                  <a:srgbClr val="16A34A"/>
                </a:solidFill>
                <a:latin typeface="Calibri"/>
              </a:rPr>
              <a:t>•  </a:t>
            </a:r>
            <a:r>
              <a:rPr sz="1050" b="0" i="0">
                <a:solidFill>
                  <a:srgbClr val="1F2937"/>
                </a:solidFill>
                <a:latin typeface="Calibri"/>
              </a:rPr>
              <a:t>Min et al., 2023. FActScore. EMNLP.</a:t>
            </a:r>
          </a:p>
          <a:p>
            <a:pPr>
              <a:lnSpc>
                <a:spcPct val="100000"/>
              </a:lnSpc>
              <a:spcAft>
                <a:spcPts val="600"/>
              </a:spcAft>
            </a:pPr>
            <a:r>
              <a:rPr sz="1050" b="0" i="0">
                <a:solidFill>
                  <a:srgbClr val="16A34A"/>
                </a:solidFill>
                <a:latin typeface="Calibri"/>
              </a:rPr>
              <a:t>•  </a:t>
            </a:r>
            <a:r>
              <a:rPr sz="1050" b="0" i="0">
                <a:solidFill>
                  <a:srgbClr val="1F2937"/>
                </a:solidFill>
                <a:latin typeface="Calibri"/>
              </a:rPr>
              <a:t>Es et al., 2023. RAGAS: Automated Evaluation of RAG. arXiv:2309.15217.</a:t>
            </a:r>
          </a:p>
          <a:p>
            <a:pPr>
              <a:lnSpc>
                <a:spcPct val="100000"/>
              </a:lnSpc>
              <a:spcAft>
                <a:spcPts val="600"/>
              </a:spcAft>
            </a:pPr>
            <a:r>
              <a:rPr sz="1050" b="0" i="0">
                <a:solidFill>
                  <a:srgbClr val="16A34A"/>
                </a:solidFill>
                <a:latin typeface="Calibri"/>
              </a:rPr>
              <a:t>•  </a:t>
            </a:r>
            <a:r>
              <a:rPr sz="1050" b="0" i="0">
                <a:solidFill>
                  <a:srgbClr val="1F2937"/>
                </a:solidFill>
                <a:latin typeface="Calibri"/>
              </a:rPr>
              <a:t>Saad-Falcon et al., 2024. ARES. NAACL.</a:t>
            </a:r>
          </a:p>
          <a:p>
            <a:pPr>
              <a:lnSpc>
                <a:spcPct val="100000"/>
              </a:lnSpc>
              <a:spcAft>
                <a:spcPts val="600"/>
              </a:spcAft>
            </a:pPr>
            <a:r>
              <a:rPr sz="1050" b="0" i="0">
                <a:solidFill>
                  <a:srgbClr val="16A34A"/>
                </a:solidFill>
                <a:latin typeface="Calibri"/>
              </a:rPr>
              <a:t>•  </a:t>
            </a:r>
            <a:r>
              <a:rPr sz="1050" b="0" i="0">
                <a:solidFill>
                  <a:srgbClr val="1F2937"/>
                </a:solidFill>
                <a:latin typeface="Calibri"/>
              </a:rPr>
              <a:t>Zheng et al., 2023. Judging LLM-as-a-Judge with MT-Bench. NeurIPS.</a:t>
            </a:r>
          </a:p>
          <a:p>
            <a:pPr>
              <a:lnSpc>
                <a:spcPct val="100000"/>
              </a:lnSpc>
              <a:spcAft>
                <a:spcPts val="600"/>
              </a:spcAft>
            </a:pPr>
            <a:r>
              <a:rPr sz="1050" b="0" i="0">
                <a:solidFill>
                  <a:srgbClr val="16A34A"/>
                </a:solidFill>
                <a:latin typeface="Calibri"/>
              </a:rPr>
              <a:t>•  </a:t>
            </a:r>
            <a:r>
              <a:rPr sz="1050" b="0" i="0">
                <a:solidFill>
                  <a:srgbClr val="1F2937"/>
                </a:solidFill>
                <a:latin typeface="Calibri"/>
              </a:rPr>
              <a:t>Huang et al., 2024. Large Language Models Cannot Self-Correct Reasoning Yet. ICLR.</a:t>
            </a:r>
          </a:p>
          <a:p>
            <a:pPr>
              <a:lnSpc>
                <a:spcPct val="100000"/>
              </a:lnSpc>
              <a:spcAft>
                <a:spcPts val="600"/>
              </a:spcAft>
            </a:pPr>
            <a:r>
              <a:rPr sz="1050" b="0" i="0">
                <a:solidFill>
                  <a:srgbClr val="16A34A"/>
                </a:solidFill>
                <a:latin typeface="Calibri"/>
              </a:rPr>
              <a:t>•  </a:t>
            </a:r>
            <a:r>
              <a:rPr sz="1050" b="0" i="0">
                <a:solidFill>
                  <a:srgbClr val="1F2937"/>
                </a:solidFill>
                <a:latin typeface="Calibri"/>
              </a:rPr>
              <a:t>Press et al., 2023. Self-Ask: Measuring the Compositionality Gap. EMNLP Findings.</a:t>
            </a:r>
          </a:p>
          <a:p>
            <a:pPr>
              <a:lnSpc>
                <a:spcPct val="100000"/>
              </a:lnSpc>
              <a:spcAft>
                <a:spcPts val="600"/>
              </a:spcAft>
            </a:pPr>
            <a:r>
              <a:rPr sz="1050" b="0" i="0">
                <a:solidFill>
                  <a:srgbClr val="16A34A"/>
                </a:solidFill>
                <a:latin typeface="Calibri"/>
              </a:rPr>
              <a:t>•  </a:t>
            </a:r>
            <a:r>
              <a:rPr sz="1050" b="0" i="0">
                <a:solidFill>
                  <a:srgbClr val="1F2937"/>
                </a:solidFill>
                <a:latin typeface="Calibri"/>
              </a:rPr>
              <a:t>Kim et al., 2022 (Donut, ECCV) ; Blecher et al., 2023 (Nougat, arXiv).</a:t>
            </a:r>
          </a:p>
          <a:p>
            <a:pPr>
              <a:lnSpc>
                <a:spcPct val="100000"/>
              </a:lnSpc>
              <a:spcAft>
                <a:spcPts val="600"/>
              </a:spcAft>
            </a:pPr>
            <a:r>
              <a:rPr sz="1050" b="0" i="0">
                <a:solidFill>
                  <a:srgbClr val="16A34A"/>
                </a:solidFill>
                <a:latin typeface="Calibri"/>
              </a:rPr>
              <a:t>•  </a:t>
            </a:r>
            <a:r>
              <a:rPr sz="1050" b="0" i="0">
                <a:solidFill>
                  <a:srgbClr val="1F2937"/>
                </a:solidFill>
                <a:latin typeface="Calibri"/>
              </a:rPr>
              <a:t>Barnett et al., 2024. Seven Failure Points When Engineering a RAG System. CAIN. · Edge et al., 2024. GraphRAG. arXiv.</a:t>
            </a:r>
          </a:p>
        </p:txBody>
      </p:sp>
      <p:sp>
        <p:nvSpPr>
          <p:cNvPr id="7" name="TextBox 6"/>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8" name="TextBox 7"/>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ANNEXES</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Annexe A — le protocole des paires de releases</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271016"/>
          <a:ext cx="11091670" cy="2194560"/>
        </p:xfrm>
        <a:graphic>
          <a:graphicData uri="http://schemas.openxmlformats.org/drawingml/2006/table">
            <a:tbl>
              <a:tblPr>
                <a:tableStyleId>{5C22544A-7EE6-4342-B048-85BDC9FD1C3A}</a:tableStyleId>
              </a:tblPr>
              <a:tblGrid>
                <a:gridCol w="1650000"/>
                <a:gridCol w="1833334"/>
                <a:gridCol w="1833334"/>
                <a:gridCol w="1191667"/>
                <a:gridCol w="4583335"/>
              </a:tblGrid>
              <a:tr h="365760">
                <a:tc>
                  <a:txBody>
                    <a:bodyPr wrap="square"/>
                    <a:lstStyle/>
                    <a:p>
                      <a:pPr>
                        <a:lnSpc>
                          <a:spcPct val="98000"/>
                        </a:lnSpc>
                      </a:pPr>
                      <a:r>
                        <a:rPr sz="1050" b="1" i="0">
                          <a:solidFill>
                            <a:srgbClr val="FFFFFF"/>
                          </a:solidFill>
                          <a:latin typeface="Calibri"/>
                        </a:rPr>
                        <a:t>Paire</a:t>
                      </a:r>
                    </a:p>
                  </a:txBody>
                  <a:tcPr marL="54864" marR="54864" marT="27432" marB="27432" anchor="ctr">
                    <a:solidFill>
                      <a:srgbClr val="166534"/>
                    </a:solidFill>
                  </a:tcPr>
                </a:tc>
                <a:tc>
                  <a:txBody>
                    <a:bodyPr wrap="square"/>
                    <a:lstStyle/>
                    <a:p>
                      <a:pPr algn="l">
                        <a:lnSpc>
                          <a:spcPct val="98000"/>
                        </a:lnSpc>
                      </a:pPr>
                      <a:r>
                        <a:rPr sz="1050" b="1" i="0">
                          <a:solidFill>
                            <a:srgbClr val="FFFFFF"/>
                          </a:solidFill>
                          <a:latin typeface="Calibri"/>
                        </a:rPr>
                        <a:t>Bras 1</a:t>
                      </a:r>
                    </a:p>
                  </a:txBody>
                  <a:tcPr marL="54864" marR="54864" marT="27432" marB="27432" anchor="ctr">
                    <a:solidFill>
                      <a:srgbClr val="166534"/>
                    </a:solidFill>
                  </a:tcPr>
                </a:tc>
                <a:tc>
                  <a:txBody>
                    <a:bodyPr wrap="square"/>
                    <a:lstStyle/>
                    <a:p>
                      <a:pPr algn="l">
                        <a:lnSpc>
                          <a:spcPct val="98000"/>
                        </a:lnSpc>
                      </a:pPr>
                      <a:r>
                        <a:rPr sz="1050" b="1" i="0">
                          <a:solidFill>
                            <a:srgbClr val="FFFFFF"/>
                          </a:solidFill>
                          <a:latin typeface="Calibri"/>
                        </a:rPr>
                        <a:t>Bras 2</a:t>
                      </a:r>
                    </a:p>
                  </a:txBody>
                  <a:tcPr marL="54864" marR="54864" marT="27432" marB="27432" anchor="ctr">
                    <a:solidFill>
                      <a:srgbClr val="166534"/>
                    </a:solidFill>
                  </a:tcPr>
                </a:tc>
                <a:tc>
                  <a:txBody>
                    <a:bodyPr wrap="square"/>
                    <a:lstStyle/>
                    <a:p>
                      <a:pPr algn="l">
                        <a:lnSpc>
                          <a:spcPct val="98000"/>
                        </a:lnSpc>
                      </a:pPr>
                      <a:r>
                        <a:rPr sz="1050" b="1" i="0">
                          <a:solidFill>
                            <a:srgbClr val="FFFFFF"/>
                          </a:solidFill>
                          <a:latin typeface="Calibri"/>
                        </a:rPr>
                        <a:t>Verdict</a:t>
                      </a:r>
                    </a:p>
                  </a:txBody>
                  <a:tcPr marL="54864" marR="54864" marT="27432" marB="27432" anchor="ctr">
                    <a:solidFill>
                      <a:srgbClr val="166534"/>
                    </a:solidFill>
                  </a:tcPr>
                </a:tc>
                <a:tc>
                  <a:txBody>
                    <a:bodyPr wrap="square"/>
                    <a:lstStyle/>
                    <a:p>
                      <a:pPr algn="l">
                        <a:lnSpc>
                          <a:spcPct val="98000"/>
                        </a:lnSpc>
                      </a:pPr>
                      <a:r>
                        <a:rPr sz="1050" b="1" i="0">
                          <a:solidFill>
                            <a:srgbClr val="FFFFFF"/>
                          </a:solidFill>
                          <a:latin typeface="Calibri"/>
                        </a:rPr>
                        <a:t>Enseignement</a:t>
                      </a:r>
                    </a:p>
                  </a:txBody>
                  <a:tcPr marL="54864" marR="54864" marT="27432" marB="27432" anchor="ctr">
                    <a:solidFill>
                      <a:srgbClr val="166534"/>
                    </a:solidFill>
                  </a:tcPr>
                </a:tc>
              </a:tr>
              <a:tr h="365760">
                <a:tc>
                  <a:txBody>
                    <a:bodyPr wrap="square"/>
                    <a:lstStyle/>
                    <a:p>
                      <a:pPr>
                        <a:lnSpc>
                          <a:spcPct val="98000"/>
                        </a:lnSpc>
                      </a:pPr>
                      <a:r>
                        <a:rPr sz="1050" b="0" i="0">
                          <a:solidFill>
                            <a:srgbClr val="1F2937"/>
                          </a:solidFill>
                          <a:latin typeface="Calibri"/>
                        </a:rPr>
                        <a:t>release-8 / repeat</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184/188 = 97,9 %</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164/170 = 96,5 %</a:t>
                      </a:r>
                    </a:p>
                  </a:txBody>
                  <a:tcPr marL="54864" marR="54864" marT="27432" marB="27432" anchor="ctr">
                    <a:solidFill>
                      <a:srgbClr val="FFFFFF"/>
                    </a:solidFill>
                  </a:tcPr>
                </a:tc>
                <a:tc>
                  <a:txBody>
                    <a:bodyPr wrap="square"/>
                    <a:lstStyle/>
                    <a:p>
                      <a:pPr algn="l">
                        <a:lnSpc>
                          <a:spcPct val="98000"/>
                        </a:lnSpc>
                      </a:pPr>
                      <a:r>
                        <a:rPr sz="1050" b="0" i="0">
                          <a:solidFill>
                            <a:srgbClr val="14532D"/>
                          </a:solidFill>
                          <a:latin typeface="Calibri"/>
                        </a:rPr>
                        <a:t>PASS ×2</a:t>
                      </a:r>
                    </a:p>
                  </a:txBody>
                  <a:tcPr marL="54864" marR="54864" marT="27432" marB="27432" anchor="ctr">
                    <a:solidFill>
                      <a:srgbClr val="DCFCE7"/>
                    </a:solidFill>
                  </a:tcPr>
                </a:tc>
                <a:tc>
                  <a:txBody>
                    <a:bodyPr wrap="square"/>
                    <a:lstStyle/>
                    <a:p>
                      <a:pPr algn="l">
                        <a:lnSpc>
                          <a:spcPct val="98000"/>
                        </a:lnSpc>
                      </a:pPr>
                      <a:r>
                        <a:rPr sz="1050" b="0" i="0">
                          <a:solidFill>
                            <a:srgbClr val="1F2937"/>
                          </a:solidFill>
                          <a:latin typeface="Calibri"/>
                        </a:rPr>
                        <a:t>première paire : la bande de bruit ±2–3 pp est mesurée et publiée</a:t>
                      </a:r>
                    </a:p>
                  </a:txBody>
                  <a:tcPr marL="54864" marR="54864" marT="27432" marB="27432" anchor="ctr">
                    <a:solidFill>
                      <a:srgbClr val="FFFFFF"/>
                    </a:solidFill>
                  </a:tcPr>
                </a:tc>
              </a:tr>
              <a:tr h="365760">
                <a:tc>
                  <a:txBody>
                    <a:bodyPr wrap="square"/>
                    <a:lstStyle/>
                    <a:p>
                      <a:pPr>
                        <a:lnSpc>
                          <a:spcPct val="98000"/>
                        </a:lnSpc>
                      </a:pPr>
                      <a:r>
                        <a:rPr sz="1050" b="0" i="0">
                          <a:solidFill>
                            <a:srgbClr val="1F2937"/>
                          </a:solidFill>
                          <a:latin typeface="Calibri"/>
                        </a:rPr>
                        <a:t>release-13 / repeat</a:t>
                      </a:r>
                    </a:p>
                  </a:txBody>
                  <a:tcPr marL="54864" marR="54864" marT="27432" marB="27432" anchor="ctr">
                    <a:solidFill>
                      <a:srgbClr val="F5F5F4"/>
                    </a:solidFill>
                  </a:tcPr>
                </a:tc>
                <a:tc>
                  <a:txBody>
                    <a:bodyPr wrap="square"/>
                    <a:lstStyle/>
                    <a:p>
                      <a:pPr algn="l">
                        <a:lnSpc>
                          <a:spcPct val="98000"/>
                        </a:lnSpc>
                      </a:pPr>
                      <a:r>
                        <a:rPr sz="1050" b="0" i="0">
                          <a:solidFill>
                            <a:srgbClr val="1F2937"/>
                          </a:solidFill>
                          <a:latin typeface="Calibri"/>
                        </a:rPr>
                        <a:t>445/469 = 94,9 %</a:t>
                      </a:r>
                    </a:p>
                  </a:txBody>
                  <a:tcPr marL="54864" marR="54864" marT="27432" marB="27432" anchor="ctr">
                    <a:solidFill>
                      <a:srgbClr val="F5F5F4"/>
                    </a:solidFill>
                  </a:tcPr>
                </a:tc>
                <a:tc>
                  <a:txBody>
                    <a:bodyPr wrap="square"/>
                    <a:lstStyle/>
                    <a:p>
                      <a:pPr algn="l">
                        <a:lnSpc>
                          <a:spcPct val="98000"/>
                        </a:lnSpc>
                      </a:pPr>
                      <a:r>
                        <a:rPr sz="1050" b="0" i="0">
                          <a:solidFill>
                            <a:srgbClr val="1F2937"/>
                          </a:solidFill>
                          <a:latin typeface="Calibri"/>
                        </a:rPr>
                        <a:t>439/462 = 95,0 %</a:t>
                      </a:r>
                    </a:p>
                  </a:txBody>
                  <a:tcPr marL="54864" marR="54864" marT="27432" marB="27432" anchor="ctr">
                    <a:solidFill>
                      <a:srgbClr val="F5F5F4"/>
                    </a:solidFill>
                  </a:tcPr>
                </a:tc>
                <a:tc>
                  <a:txBody>
                    <a:bodyPr wrap="square"/>
                    <a:lstStyle/>
                    <a:p>
                      <a:pPr algn="l">
                        <a:lnSpc>
                          <a:spcPct val="98000"/>
                        </a:lnSpc>
                      </a:pPr>
                      <a:r>
                        <a:rPr sz="1050" b="0" i="0">
                          <a:solidFill>
                            <a:srgbClr val="14532D"/>
                          </a:solidFill>
                          <a:latin typeface="Calibri"/>
                        </a:rPr>
                        <a:t>PASS (limite)</a:t>
                      </a:r>
                    </a:p>
                  </a:txBody>
                  <a:tcPr marL="54864" marR="54864" marT="27432" marB="27432" anchor="ctr">
                    <a:solidFill>
                      <a:srgbClr val="DCFCE7"/>
                    </a:solidFill>
                  </a:tcPr>
                </a:tc>
                <a:tc>
                  <a:txBody>
                    <a:bodyPr wrap="square"/>
                    <a:lstStyle/>
                    <a:p>
                      <a:pPr algn="l">
                        <a:lnSpc>
                          <a:spcPct val="98000"/>
                        </a:lnSpc>
                      </a:pPr>
                      <a:r>
                        <a:rPr sz="1050" b="0" i="0">
                          <a:solidFill>
                            <a:srgbClr val="1F2937"/>
                          </a:solidFill>
                          <a:latin typeface="Calibri"/>
                        </a:rPr>
                        <a:t>exactement sur la porte entière — un claim de chaque côté, consigné</a:t>
                      </a:r>
                    </a:p>
                  </a:txBody>
                  <a:tcPr marL="54864" marR="54864" marT="27432" marB="27432" anchor="ctr">
                    <a:solidFill>
                      <a:srgbClr val="F5F5F4"/>
                    </a:solidFill>
                  </a:tcPr>
                </a:tc>
              </a:tr>
              <a:tr h="365760">
                <a:tc>
                  <a:txBody>
                    <a:bodyPr wrap="square"/>
                    <a:lstStyle/>
                    <a:p>
                      <a:pPr>
                        <a:lnSpc>
                          <a:spcPct val="98000"/>
                        </a:lnSpc>
                      </a:pPr>
                      <a:r>
                        <a:rPr sz="1050" b="0" i="0">
                          <a:solidFill>
                            <a:srgbClr val="1F2937"/>
                          </a:solidFill>
                          <a:latin typeface="Calibri"/>
                        </a:rPr>
                        <a:t>release-14 / repeat</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421/445 = 94,6 %</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428/454 = 94,3 %</a:t>
                      </a:r>
                    </a:p>
                  </a:txBody>
                  <a:tcPr marL="54864" marR="54864" marT="27432" marB="27432" anchor="ctr">
                    <a:solidFill>
                      <a:srgbClr val="FFFFFF"/>
                    </a:solidFill>
                  </a:tcPr>
                </a:tc>
                <a:tc>
                  <a:txBody>
                    <a:bodyPr wrap="square"/>
                    <a:lstStyle/>
                    <a:p>
                      <a:pPr algn="l">
                        <a:lnSpc>
                          <a:spcPct val="98000"/>
                        </a:lnSpc>
                      </a:pPr>
                      <a:r>
                        <a:rPr sz="1050" b="0" i="0">
                          <a:solidFill>
                            <a:srgbClr val="991B1B"/>
                          </a:solidFill>
                          <a:latin typeface="Calibri"/>
                        </a:rPr>
                        <a:t>ÉCHEC ×2</a:t>
                      </a:r>
                    </a:p>
                  </a:txBody>
                  <a:tcPr marL="54864" marR="54864" marT="27432" marB="27432" anchor="ctr">
                    <a:solidFill>
                      <a:srgbClr val="FEE2E2"/>
                    </a:solidFill>
                  </a:tcPr>
                </a:tc>
                <a:tc>
                  <a:txBody>
                    <a:bodyPr wrap="square"/>
                    <a:lstStyle/>
                    <a:p>
                      <a:pPr algn="l">
                        <a:lnSpc>
                          <a:spcPct val="98000"/>
                        </a:lnSpc>
                      </a:pPr>
                      <a:r>
                        <a:rPr sz="1050" b="0" i="0">
                          <a:solidFill>
                            <a:srgbClr val="1F2937"/>
                          </a:solidFill>
                          <a:latin typeface="Calibri"/>
                        </a:rPr>
                        <a:t>rouge cohérent (pas du bruit) : causes nommées, correctifs mis en file</a:t>
                      </a:r>
                    </a:p>
                  </a:txBody>
                  <a:tcPr marL="54864" marR="54864" marT="27432" marB="27432" anchor="ctr">
                    <a:solidFill>
                      <a:srgbClr val="FFFFFF"/>
                    </a:solidFill>
                  </a:tcPr>
                </a:tc>
              </a:tr>
              <a:tr h="365760">
                <a:tc>
                  <a:txBody>
                    <a:bodyPr wrap="square"/>
                    <a:lstStyle/>
                    <a:p>
                      <a:pPr>
                        <a:lnSpc>
                          <a:spcPct val="98000"/>
                        </a:lnSpc>
                      </a:pPr>
                      <a:r>
                        <a:rPr sz="1050" b="0" i="0">
                          <a:solidFill>
                            <a:srgbClr val="1F2937"/>
                          </a:solidFill>
                          <a:latin typeface="Calibri"/>
                        </a:rPr>
                        <a:t>release-15 / repeat</a:t>
                      </a:r>
                    </a:p>
                  </a:txBody>
                  <a:tcPr marL="54864" marR="54864" marT="27432" marB="27432" anchor="ctr">
                    <a:solidFill>
                      <a:srgbClr val="F5F5F4"/>
                    </a:solidFill>
                  </a:tcPr>
                </a:tc>
                <a:tc>
                  <a:txBody>
                    <a:bodyPr wrap="square"/>
                    <a:lstStyle/>
                    <a:p>
                      <a:pPr algn="l">
                        <a:lnSpc>
                          <a:spcPct val="98000"/>
                        </a:lnSpc>
                      </a:pPr>
                      <a:r>
                        <a:rPr sz="1050" b="0" i="0">
                          <a:solidFill>
                            <a:srgbClr val="1F2937"/>
                          </a:solidFill>
                          <a:latin typeface="Calibri"/>
                        </a:rPr>
                        <a:t>375/394 = 95,2 %</a:t>
                      </a:r>
                    </a:p>
                  </a:txBody>
                  <a:tcPr marL="54864" marR="54864" marT="27432" marB="27432" anchor="ctr">
                    <a:solidFill>
                      <a:srgbClr val="F5F5F4"/>
                    </a:solidFill>
                  </a:tcPr>
                </a:tc>
                <a:tc>
                  <a:txBody>
                    <a:bodyPr wrap="square"/>
                    <a:lstStyle/>
                    <a:p>
                      <a:pPr algn="l">
                        <a:lnSpc>
                          <a:spcPct val="98000"/>
                        </a:lnSpc>
                      </a:pPr>
                      <a:r>
                        <a:rPr sz="1050" b="0" i="0">
                          <a:solidFill>
                            <a:srgbClr val="1F2937"/>
                          </a:solidFill>
                          <a:latin typeface="Calibri"/>
                        </a:rPr>
                        <a:t>465/486 = 95,7 %</a:t>
                      </a:r>
                    </a:p>
                  </a:txBody>
                  <a:tcPr marL="54864" marR="54864" marT="27432" marB="27432" anchor="ctr">
                    <a:solidFill>
                      <a:srgbClr val="F5F5F4"/>
                    </a:solidFill>
                  </a:tcPr>
                </a:tc>
                <a:tc>
                  <a:txBody>
                    <a:bodyPr wrap="square"/>
                    <a:lstStyle/>
                    <a:p>
                      <a:pPr algn="l">
                        <a:lnSpc>
                          <a:spcPct val="98000"/>
                        </a:lnSpc>
                      </a:pPr>
                      <a:r>
                        <a:rPr sz="1050" b="0" i="0">
                          <a:solidFill>
                            <a:srgbClr val="14532D"/>
                          </a:solidFill>
                          <a:latin typeface="Calibri"/>
                        </a:rPr>
                        <a:t>PASS ×2</a:t>
                      </a:r>
                    </a:p>
                  </a:txBody>
                  <a:tcPr marL="54864" marR="54864" marT="27432" marB="27432" anchor="ctr">
                    <a:solidFill>
                      <a:srgbClr val="DCFCE7"/>
                    </a:solidFill>
                  </a:tcPr>
                </a:tc>
                <a:tc>
                  <a:txBody>
                    <a:bodyPr wrap="square"/>
                    <a:lstStyle/>
                    <a:p>
                      <a:pPr algn="l">
                        <a:lnSpc>
                          <a:spcPct val="98000"/>
                        </a:lnSpc>
                      </a:pPr>
                      <a:r>
                        <a:rPr sz="1050" b="0" i="0">
                          <a:solidFill>
                            <a:srgbClr val="1F2937"/>
                          </a:solidFill>
                          <a:latin typeface="Calibri"/>
                        </a:rPr>
                        <a:t>paire verte après la cure du corpus (95 pages ré-extraites, 87 guéries)</a:t>
                      </a:r>
                    </a:p>
                  </a:txBody>
                  <a:tcPr marL="54864" marR="54864" marT="27432" marB="27432" anchor="ctr">
                    <a:solidFill>
                      <a:srgbClr val="F5F5F4"/>
                    </a:solidFill>
                  </a:tcPr>
                </a:tc>
              </a:tr>
              <a:tr h="365760">
                <a:tc>
                  <a:txBody>
                    <a:bodyPr wrap="square"/>
                    <a:lstStyle/>
                    <a:p>
                      <a:pPr>
                        <a:lnSpc>
                          <a:spcPct val="98000"/>
                        </a:lnSpc>
                      </a:pPr>
                      <a:r>
                        <a:rPr sz="1050" b="0" i="0">
                          <a:solidFill>
                            <a:srgbClr val="1F2937"/>
                          </a:solidFill>
                          <a:latin typeface="Calibri"/>
                        </a:rPr>
                        <a:t>release-18 / repeat</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575/592 = 97,1 %</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interrompu (429 API)</a:t>
                      </a:r>
                    </a:p>
                  </a:txBody>
                  <a:tcPr marL="54864" marR="54864" marT="27432" marB="27432" anchor="ctr">
                    <a:solidFill>
                      <a:srgbClr val="FFFFFF"/>
                    </a:solidFill>
                  </a:tcPr>
                </a:tc>
                <a:tc>
                  <a:txBody>
                    <a:bodyPr wrap="square"/>
                    <a:lstStyle/>
                    <a:p>
                      <a:pPr algn="l">
                        <a:lnSpc>
                          <a:spcPct val="98000"/>
                        </a:lnSpc>
                      </a:pPr>
                      <a:r>
                        <a:rPr sz="1050" b="0" i="0">
                          <a:solidFill>
                            <a:srgbClr val="92400E"/>
                          </a:solidFill>
                          <a:latin typeface="Calibri"/>
                        </a:rPr>
                        <a:t>EN ATTENTE</a:t>
                      </a:r>
                    </a:p>
                  </a:txBody>
                  <a:tcPr marL="54864" marR="54864" marT="27432" marB="27432" anchor="ctr">
                    <a:solidFill>
                      <a:srgbClr val="FEF3C7"/>
                    </a:solidFill>
                  </a:tcPr>
                </a:tc>
                <a:tc>
                  <a:txBody>
                    <a:bodyPr wrap="square"/>
                    <a:lstStyle/>
                    <a:p>
                      <a:pPr algn="l">
                        <a:lnSpc>
                          <a:spcPct val="98000"/>
                        </a:lnSpc>
                      </a:pPr>
                      <a:r>
                        <a:rPr sz="1050" b="0" i="0">
                          <a:solidFill>
                            <a:srgbClr val="1F2937"/>
                          </a:solidFill>
                          <a:latin typeface="Calibri"/>
                        </a:rPr>
                        <a:t>meilleur bras enregistré ; le bras 2 avorté est déclaré VOID, jamais compté</a:t>
                      </a:r>
                    </a:p>
                  </a:txBody>
                  <a:tcPr marL="54864" marR="54864" marT="27432" marB="27432" anchor="ctr">
                    <a:solidFill>
                      <a:srgbClr val="FFFFFF"/>
                    </a:solidFill>
                  </a:tcPr>
                </a:tc>
              </a:tr>
            </a:tbl>
          </a:graphicData>
        </a:graphic>
      </p:graphicFrame>
      <p:sp>
        <p:nvSpPr>
          <p:cNvPr id="7" name="TextBox 6"/>
          <p:cNvSpPr txBox="1"/>
          <p:nvPr/>
        </p:nvSpPr>
        <p:spPr>
          <a:xfrm>
            <a:off x="548640" y="4709160"/>
            <a:ext cx="11091672" cy="1005840"/>
          </a:xfrm>
          <a:prstGeom prst="rect">
            <a:avLst/>
          </a:prstGeom>
          <a:noFill/>
        </p:spPr>
        <p:txBody>
          <a:bodyPr wrap="square">
            <a:spAutoFit/>
          </a:bodyPr>
          <a:lstStyle/>
          <a:p>
            <a:r>
              <a:rPr sz="1200" b="0" i="0">
                <a:solidFill>
                  <a:srgbClr val="1F2937"/>
                </a:solidFill>
                <a:latin typeface="Calibri"/>
              </a:rPr>
              <a:t>Règle : une phase ne se clôt que sur une paire même-configuration (même commit, mêmes flags, même seed) dont </a:t>
            </a:r>
            <a:r>
              <a:rPr sz="1200" b="1" i="0">
                <a:solidFill>
                  <a:srgbClr val="1F2937"/>
                </a:solidFill>
                <a:latin typeface="Calibri"/>
              </a:rPr>
              <a:t>les deux bras</a:t>
            </a:r>
            <a:r>
              <a:rPr sz="1200" b="0" i="0">
                <a:solidFill>
                  <a:srgbClr val="1F2937"/>
                </a:solidFill>
                <a:latin typeface="Calibri"/>
              </a:rPr>
              <a:t> passent la porte entière ⌈0,95 × d⌉. Un bras interrompu est void — jamais retenu comme preuve. Les deltas intra-paire mesurent la variance d'échantillonnage du fournisseur ; tout delta inter-release sous ±2–3 pp est du bruit.</a:t>
            </a:r>
          </a:p>
        </p:txBody>
      </p:sp>
      <p:sp>
        <p:nvSpPr>
          <p:cNvPr id="8" name="TextBox 7"/>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9" name="TextBox 8"/>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274320"/>
          </a:xfrm>
          <a:prstGeom prst="rect">
            <a:avLst/>
          </a:prstGeom>
          <a:noFill/>
        </p:spPr>
        <p:txBody>
          <a:bodyPr wrap="square">
            <a:spAutoFit/>
          </a:bodyPr>
          <a:lstStyle/>
          <a:p>
            <a:r>
              <a:rPr sz="1100" b="1" i="0">
                <a:solidFill>
                  <a:srgbClr val="0F766E"/>
                </a:solidFill>
                <a:latin typeface="Calibri"/>
              </a:rPr>
              <a:t>ANNEXES</a:t>
            </a:r>
          </a:p>
        </p:txBody>
      </p:sp>
      <p:sp>
        <p:nvSpPr>
          <p:cNvPr id="4" name="TextBox 3"/>
          <p:cNvSpPr txBox="1"/>
          <p:nvPr/>
        </p:nvSpPr>
        <p:spPr>
          <a:xfrm>
            <a:off x="548640" y="566928"/>
            <a:ext cx="11091672" cy="502920"/>
          </a:xfrm>
          <a:prstGeom prst="rect">
            <a:avLst/>
          </a:prstGeom>
          <a:noFill/>
        </p:spPr>
        <p:txBody>
          <a:bodyPr wrap="square">
            <a:spAutoFit/>
          </a:bodyPr>
          <a:lstStyle/>
          <a:p>
            <a:r>
              <a:rPr sz="2400" b="1" i="0">
                <a:solidFill>
                  <a:srgbClr val="14532D"/>
                </a:solidFill>
                <a:latin typeface="Calibri"/>
              </a:rPr>
              <a:t>Annexe B — paramètres de configuration clés</a:t>
            </a:r>
          </a:p>
        </p:txBody>
      </p:sp>
      <p:sp>
        <p:nvSpPr>
          <p:cNvPr id="5" name="Rectangle 4"/>
          <p:cNvSpPr/>
          <p:nvPr/>
        </p:nvSpPr>
        <p:spPr>
          <a:xfrm>
            <a:off x="548640" y="1042416"/>
            <a:ext cx="1463040" cy="330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243584"/>
          <a:ext cx="11091671" cy="3657600"/>
        </p:xfrm>
        <a:graphic>
          <a:graphicData uri="http://schemas.openxmlformats.org/drawingml/2006/table">
            <a:tbl>
              <a:tblPr>
                <a:tableStyleId>{5C22544A-7EE6-4342-B048-85BDC9FD1C3A}</a:tableStyleId>
              </a:tblPr>
              <a:tblGrid>
                <a:gridCol w="1741667"/>
                <a:gridCol w="2841668"/>
                <a:gridCol w="6508336"/>
              </a:tblGrid>
              <a:tr h="365760">
                <a:tc>
                  <a:txBody>
                    <a:bodyPr wrap="square"/>
                    <a:lstStyle/>
                    <a:p>
                      <a:pPr>
                        <a:lnSpc>
                          <a:spcPct val="98000"/>
                        </a:lnSpc>
                      </a:pPr>
                      <a:r>
                        <a:rPr sz="1050" b="1" i="0">
                          <a:solidFill>
                            <a:srgbClr val="FFFFFF"/>
                          </a:solidFill>
                          <a:latin typeface="Calibri"/>
                        </a:rPr>
                        <a:t>Composant</a:t>
                      </a:r>
                    </a:p>
                  </a:txBody>
                  <a:tcPr marL="54864" marR="54864" marT="27432" marB="27432" anchor="ctr">
                    <a:solidFill>
                      <a:srgbClr val="166534"/>
                    </a:solidFill>
                  </a:tcPr>
                </a:tc>
                <a:tc>
                  <a:txBody>
                    <a:bodyPr wrap="square"/>
                    <a:lstStyle/>
                    <a:p>
                      <a:pPr algn="l">
                        <a:lnSpc>
                          <a:spcPct val="98000"/>
                        </a:lnSpc>
                      </a:pPr>
                      <a:r>
                        <a:rPr sz="1050" b="1" i="0">
                          <a:solidFill>
                            <a:srgbClr val="FFFFFF"/>
                          </a:solidFill>
                          <a:latin typeface="Calibri"/>
                        </a:rPr>
                        <a:t>Paramètre</a:t>
                      </a:r>
                    </a:p>
                  </a:txBody>
                  <a:tcPr marL="54864" marR="54864" marT="27432" marB="27432" anchor="ctr">
                    <a:solidFill>
                      <a:srgbClr val="166534"/>
                    </a:solidFill>
                  </a:tcPr>
                </a:tc>
                <a:tc>
                  <a:txBody>
                    <a:bodyPr wrap="square"/>
                    <a:lstStyle/>
                    <a:p>
                      <a:pPr algn="l">
                        <a:lnSpc>
                          <a:spcPct val="98000"/>
                        </a:lnSpc>
                      </a:pPr>
                      <a:r>
                        <a:rPr sz="1050" b="1" i="0">
                          <a:solidFill>
                            <a:srgbClr val="FFFFFF"/>
                          </a:solidFill>
                          <a:latin typeface="Calibri"/>
                        </a:rPr>
                        <a:t>Valeur (production)</a:t>
                      </a:r>
                    </a:p>
                  </a:txBody>
                  <a:tcPr marL="54864" marR="54864" marT="27432" marB="27432" anchor="ctr">
                    <a:solidFill>
                      <a:srgbClr val="166534"/>
                    </a:solidFill>
                  </a:tcPr>
                </a:tc>
              </a:tr>
              <a:tr h="365760">
                <a:tc>
                  <a:txBody>
                    <a:bodyPr wrap="square"/>
                    <a:lstStyle/>
                    <a:p>
                      <a:pPr>
                        <a:lnSpc>
                          <a:spcPct val="98000"/>
                        </a:lnSpc>
                      </a:pPr>
                      <a:r>
                        <a:rPr sz="1050" b="0" i="0">
                          <a:solidFill>
                            <a:srgbClr val="1F2937"/>
                          </a:solidFill>
                          <a:latin typeface="Calibri"/>
                        </a:rPr>
                        <a:t>Extraction</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modèle VLM · rendu · concurrence</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qwen2.5-vl-7b (servi) / qwen3-vl-8b (config) · 2,0 MP JPEG q92 · MAX_CONCURRENT=1, disjoncteur à 20</a:t>
                      </a:r>
                    </a:p>
                  </a:txBody>
                  <a:tcPr marL="54864" marR="54864" marT="27432" marB="27432" anchor="ctr">
                    <a:solidFill>
                      <a:srgbClr val="FFFFFF"/>
                    </a:solidFill>
                  </a:tcPr>
                </a:tc>
              </a:tr>
              <a:tr h="365760">
                <a:tc>
                  <a:txBody>
                    <a:bodyPr wrap="square"/>
                    <a:lstStyle/>
                    <a:p>
                      <a:pPr>
                        <a:lnSpc>
                          <a:spcPct val="98000"/>
                        </a:lnSpc>
                      </a:pPr>
                      <a:r>
                        <a:rPr sz="1050" b="0" i="0">
                          <a:solidFill>
                            <a:srgbClr val="1F2937"/>
                          </a:solidFill>
                          <a:latin typeface="Calibri"/>
                        </a:rPr>
                        <a:t>Chunking</a:t>
                      </a:r>
                    </a:p>
                  </a:txBody>
                  <a:tcPr marL="54864" marR="54864" marT="27432" marB="27432" anchor="ctr">
                    <a:solidFill>
                      <a:srgbClr val="F5F5F4"/>
                    </a:solidFill>
                  </a:tcPr>
                </a:tc>
                <a:tc>
                  <a:txBody>
                    <a:bodyPr wrap="square"/>
                    <a:lstStyle/>
                    <a:p>
                      <a:pPr algn="l">
                        <a:lnSpc>
                          <a:spcPct val="98000"/>
                        </a:lnSpc>
                      </a:pPr>
                      <a:r>
                        <a:rPr sz="1050" b="0" i="0">
                          <a:solidFill>
                            <a:srgbClr val="1F2937"/>
                          </a:solidFill>
                          <a:latin typeface="Calibri"/>
                        </a:rPr>
                        <a:t>taille / recouvrement / tables</a:t>
                      </a:r>
                    </a:p>
                  </a:txBody>
                  <a:tcPr marL="54864" marR="54864" marT="27432" marB="27432" anchor="ctr">
                    <a:solidFill>
                      <a:srgbClr val="F5F5F4"/>
                    </a:solidFill>
                  </a:tcPr>
                </a:tc>
                <a:tc>
                  <a:txBody>
                    <a:bodyPr wrap="square"/>
                    <a:lstStyle/>
                    <a:p>
                      <a:pPr algn="l">
                        <a:lnSpc>
                          <a:spcPct val="98000"/>
                        </a:lnSpc>
                      </a:pPr>
                      <a:r>
                        <a:rPr sz="1050" b="0" i="0">
                          <a:solidFill>
                            <a:srgbClr val="1F2937"/>
                          </a:solidFill>
                          <a:latin typeface="Calibri"/>
                        </a:rPr>
                        <a:t>1000 / 200 · table ≤ 2× atomique · préfixe de section désactivé (mesuré)</a:t>
                      </a:r>
                    </a:p>
                  </a:txBody>
                  <a:tcPr marL="54864" marR="54864" marT="27432" marB="27432" anchor="ctr">
                    <a:solidFill>
                      <a:srgbClr val="F5F5F4"/>
                    </a:solidFill>
                  </a:tcPr>
                </a:tc>
              </a:tr>
              <a:tr h="365760">
                <a:tc>
                  <a:txBody>
                    <a:bodyPr wrap="square"/>
                    <a:lstStyle/>
                    <a:p>
                      <a:pPr>
                        <a:lnSpc>
                          <a:spcPct val="98000"/>
                        </a:lnSpc>
                      </a:pPr>
                      <a:r>
                        <a:rPr sz="1050" b="0" i="0">
                          <a:solidFill>
                            <a:srgbClr val="1F2937"/>
                          </a:solidFill>
                          <a:latin typeface="Calibri"/>
                        </a:rPr>
                        <a:t>Embeddings</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modèle · normalisation</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sentence-transformers/all-mpnet-base-v2 (768 d) · vecteurs normalisés, cosinus</a:t>
                      </a:r>
                    </a:p>
                  </a:txBody>
                  <a:tcPr marL="54864" marR="54864" marT="27432" marB="27432" anchor="ctr">
                    <a:solidFill>
                      <a:srgbClr val="FFFFFF"/>
                    </a:solidFill>
                  </a:tcPr>
                </a:tc>
              </a:tr>
              <a:tr h="365760">
                <a:tc>
                  <a:txBody>
                    <a:bodyPr wrap="square"/>
                    <a:lstStyle/>
                    <a:p>
                      <a:pPr>
                        <a:lnSpc>
                          <a:spcPct val="98000"/>
                        </a:lnSpc>
                      </a:pPr>
                      <a:r>
                        <a:rPr sz="1050" b="0" i="0">
                          <a:solidFill>
                            <a:srgbClr val="1F2937"/>
                          </a:solidFill>
                          <a:latin typeface="Calibri"/>
                        </a:rPr>
                        <a:t>Récupération</a:t>
                      </a:r>
                    </a:p>
                  </a:txBody>
                  <a:tcPr marL="54864" marR="54864" marT="27432" marB="27432" anchor="ctr">
                    <a:solidFill>
                      <a:srgbClr val="F5F5F4"/>
                    </a:solidFill>
                  </a:tcPr>
                </a:tc>
                <a:tc>
                  <a:txBody>
                    <a:bodyPr wrap="square"/>
                    <a:lstStyle/>
                    <a:p>
                      <a:pPr algn="l">
                        <a:lnSpc>
                          <a:spcPct val="98000"/>
                        </a:lnSpc>
                      </a:pPr>
                      <a:r>
                        <a:rPr sz="1050" b="0" i="0">
                          <a:solidFill>
                            <a:srgbClr val="1F2937"/>
                          </a:solidFill>
                          <a:latin typeface="Calibri"/>
                        </a:rPr>
                        <a:t>TOP_K · candidats · fusion</a:t>
                      </a:r>
                    </a:p>
                  </a:txBody>
                  <a:tcPr marL="54864" marR="54864" marT="27432" marB="27432" anchor="ctr">
                    <a:solidFill>
                      <a:srgbClr val="F5F5F4"/>
                    </a:solidFill>
                  </a:tcPr>
                </a:tc>
                <a:tc>
                  <a:txBody>
                    <a:bodyPr wrap="square"/>
                    <a:lstStyle/>
                    <a:p>
                      <a:pPr algn="l">
                        <a:lnSpc>
                          <a:spcPct val="98000"/>
                        </a:lnSpc>
                      </a:pPr>
                      <a:r>
                        <a:rPr sz="1050" b="0" i="0">
                          <a:solidFill>
                            <a:srgbClr val="1F2937"/>
                          </a:solidFill>
                          <a:latin typeface="Calibri"/>
                        </a:rPr>
                        <a:t>10 · 30/canal (pool ×3) · RRF k=60, poids dense 1,0 / lexical 2,0 (identifiants)</a:t>
                      </a:r>
                    </a:p>
                  </a:txBody>
                  <a:tcPr marL="54864" marR="54864" marT="27432" marB="27432" anchor="ctr">
                    <a:solidFill>
                      <a:srgbClr val="F5F5F4"/>
                    </a:solidFill>
                  </a:tcPr>
                </a:tc>
              </a:tr>
              <a:tr h="365760">
                <a:tc>
                  <a:txBody>
                    <a:bodyPr wrap="square"/>
                    <a:lstStyle/>
                    <a:p>
                      <a:pPr>
                        <a:lnSpc>
                          <a:spcPct val="98000"/>
                        </a:lnSpc>
                      </a:pPr>
                      <a:r>
                        <a:rPr sz="1050" b="0" i="0">
                          <a:solidFill>
                            <a:srgbClr val="1F2937"/>
                          </a:solidFill>
                          <a:latin typeface="Calibri"/>
                        </a:rPr>
                        <a:t>Reranking</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modèle · bornes</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cross-encoder/ms-marco-MiniLM-L-6-v2 · 64 paires max, passages 1 800 c.</a:t>
                      </a:r>
                    </a:p>
                  </a:txBody>
                  <a:tcPr marL="54864" marR="54864" marT="27432" marB="27432" anchor="ctr">
                    <a:solidFill>
                      <a:srgbClr val="FFFFFF"/>
                    </a:solidFill>
                  </a:tcPr>
                </a:tc>
              </a:tr>
              <a:tr h="365760">
                <a:tc>
                  <a:txBody>
                    <a:bodyPr wrap="square"/>
                    <a:lstStyle/>
                    <a:p>
                      <a:pPr>
                        <a:lnSpc>
                          <a:spcPct val="98000"/>
                        </a:lnSpc>
                      </a:pPr>
                      <a:r>
                        <a:rPr sz="1050" b="0" i="0">
                          <a:solidFill>
                            <a:srgbClr val="1F2937"/>
                          </a:solidFill>
                          <a:latin typeface="Calibri"/>
                        </a:rPr>
                        <a:t>Génération</a:t>
                      </a:r>
                    </a:p>
                  </a:txBody>
                  <a:tcPr marL="54864" marR="54864" marT="27432" marB="27432" anchor="ctr">
                    <a:solidFill>
                      <a:srgbClr val="F5F5F4"/>
                    </a:solidFill>
                  </a:tcPr>
                </a:tc>
                <a:tc>
                  <a:txBody>
                    <a:bodyPr wrap="square"/>
                    <a:lstStyle/>
                    <a:p>
                      <a:pPr algn="l">
                        <a:lnSpc>
                          <a:spcPct val="98000"/>
                        </a:lnSpc>
                      </a:pPr>
                      <a:r>
                        <a:rPr sz="1050" b="0" i="0">
                          <a:solidFill>
                            <a:srgbClr val="1F2937"/>
                          </a:solidFill>
                          <a:latin typeface="Calibri"/>
                        </a:rPr>
                        <a:t>modèle · appels/tour</a:t>
                      </a:r>
                    </a:p>
                  </a:txBody>
                  <a:tcPr marL="54864" marR="54864" marT="27432" marB="27432" anchor="ctr">
                    <a:solidFill>
                      <a:srgbClr val="F5F5F4"/>
                    </a:solidFill>
                  </a:tcPr>
                </a:tc>
                <a:tc>
                  <a:txBody>
                    <a:bodyPr wrap="square"/>
                    <a:lstStyle/>
                    <a:p>
                      <a:pPr algn="l">
                        <a:lnSpc>
                          <a:spcPct val="98000"/>
                        </a:lnSpc>
                      </a:pPr>
                      <a:r>
                        <a:rPr sz="1050" b="0" i="0">
                          <a:solidFill>
                            <a:srgbClr val="1F2937"/>
                          </a:solidFill>
                          <a:latin typeface="Calibri"/>
                        </a:rPr>
                        <a:t>gpt-5.2 (snapshot 2025-12-11) · conducteur 300 tk JSON + réponse streamée + juge</a:t>
                      </a:r>
                    </a:p>
                  </a:txBody>
                  <a:tcPr marL="54864" marR="54864" marT="27432" marB="27432" anchor="ctr">
                    <a:solidFill>
                      <a:srgbClr val="F5F5F4"/>
                    </a:solidFill>
                  </a:tcPr>
                </a:tc>
              </a:tr>
              <a:tr h="365760">
                <a:tc>
                  <a:txBody>
                    <a:bodyPr wrap="square"/>
                    <a:lstStyle/>
                    <a:p>
                      <a:pPr>
                        <a:lnSpc>
                          <a:spcPct val="98000"/>
                        </a:lnSpc>
                      </a:pPr>
                      <a:r>
                        <a:rPr sz="1050" b="0" i="0">
                          <a:solidFill>
                            <a:srgbClr val="1F2937"/>
                          </a:solidFill>
                          <a:latin typeface="Calibri"/>
                        </a:rPr>
                        <a:t>Vérification</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juge · budget</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VERIFY=1, VERIFY_LLM=1 · promote-only, ≤ 12 claims, 1 appel/réponse</a:t>
                      </a:r>
                    </a:p>
                  </a:txBody>
                  <a:tcPr marL="54864" marR="54864" marT="27432" marB="27432" anchor="ctr">
                    <a:solidFill>
                      <a:srgbClr val="FFFFFF"/>
                    </a:solidFill>
                  </a:tcPr>
                </a:tc>
              </a:tr>
              <a:tr h="365760">
                <a:tc>
                  <a:txBody>
                    <a:bodyPr wrap="square"/>
                    <a:lstStyle/>
                    <a:p>
                      <a:pPr>
                        <a:lnSpc>
                          <a:spcPct val="98000"/>
                        </a:lnSpc>
                      </a:pPr>
                      <a:r>
                        <a:rPr sz="1050" b="0" i="0">
                          <a:solidFill>
                            <a:srgbClr val="1F2937"/>
                          </a:solidFill>
                          <a:latin typeface="Calibri"/>
                        </a:rPr>
                        <a:t>Éval</a:t>
                      </a:r>
                    </a:p>
                  </a:txBody>
                  <a:tcPr marL="54864" marR="54864" marT="27432" marB="27432" anchor="ctr">
                    <a:solidFill>
                      <a:srgbClr val="F5F5F4"/>
                    </a:solidFill>
                  </a:tcPr>
                </a:tc>
                <a:tc>
                  <a:txBody>
                    <a:bodyPr wrap="square"/>
                    <a:lstStyle/>
                    <a:p>
                      <a:pPr algn="l">
                        <a:lnSpc>
                          <a:spcPct val="98000"/>
                        </a:lnSpc>
                      </a:pPr>
                      <a:r>
                        <a:rPr sz="1050" b="0" i="0">
                          <a:solidFill>
                            <a:srgbClr val="1F2937"/>
                          </a:solidFill>
                          <a:latin typeface="Calibri"/>
                        </a:rPr>
                        <a:t>gold · porte · épinglage</a:t>
                      </a:r>
                    </a:p>
                  </a:txBody>
                  <a:tcPr marL="54864" marR="54864" marT="27432" marB="27432" anchor="ctr">
                    <a:solidFill>
                      <a:srgbClr val="F5F5F4"/>
                    </a:solidFill>
                  </a:tcPr>
                </a:tc>
                <a:tc>
                  <a:txBody>
                    <a:bodyPr wrap="square"/>
                    <a:lstStyle/>
                    <a:p>
                      <a:pPr algn="l">
                        <a:lnSpc>
                          <a:spcPct val="98000"/>
                        </a:lnSpc>
                      </a:pPr>
                      <a:r>
                        <a:rPr sz="1050" b="0" i="0">
                          <a:solidFill>
                            <a:srgbClr val="1F2937"/>
                          </a:solidFill>
                          <a:latin typeface="Calibri"/>
                        </a:rPr>
                        <a:t>157 cas / 12 classes · ⌈0,95 × d⌉ les deux bras · temp 0, seed, 81 checksums</a:t>
                      </a:r>
                    </a:p>
                  </a:txBody>
                  <a:tcPr marL="54864" marR="54864" marT="27432" marB="27432" anchor="ctr">
                    <a:solidFill>
                      <a:srgbClr val="F5F5F4"/>
                    </a:solidFill>
                  </a:tcPr>
                </a:tc>
              </a:tr>
              <a:tr h="365760">
                <a:tc>
                  <a:txBody>
                    <a:bodyPr wrap="square"/>
                    <a:lstStyle/>
                    <a:p>
                      <a:pPr>
                        <a:lnSpc>
                          <a:spcPct val="98000"/>
                        </a:lnSpc>
                      </a:pPr>
                      <a:r>
                        <a:rPr sz="1050" b="0" i="0">
                          <a:solidFill>
                            <a:srgbClr val="1F2937"/>
                          </a:solidFill>
                          <a:latin typeface="Calibri"/>
                        </a:rPr>
                        <a:t>Déploiement</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image · flags actifs</a:t>
                      </a:r>
                    </a:p>
                  </a:txBody>
                  <a:tcPr marL="54864" marR="54864" marT="27432" marB="27432" anchor="ctr">
                    <a:solidFill>
                      <a:srgbClr val="FFFFFF"/>
                    </a:solidFill>
                  </a:tcPr>
                </a:tc>
                <a:tc>
                  <a:txBody>
                    <a:bodyPr wrap="square"/>
                    <a:lstStyle/>
                    <a:p>
                      <a:pPr algn="l">
                        <a:lnSpc>
                          <a:spcPct val="98000"/>
                        </a:lnSpc>
                      </a:pPr>
                      <a:r>
                        <a:rPr sz="1050" b="0" i="0">
                          <a:solidFill>
                            <a:srgbClr val="1F2937"/>
                          </a:solidFill>
                          <a:latin typeface="Calibri"/>
                        </a:rPr>
                        <a:t>fp-gcf:94cea40 (SHA git) · PLANNER=1 VERIFY=1 RERANK=1 · rollback sans rebuild</a:t>
                      </a:r>
                    </a:p>
                  </a:txBody>
                  <a:tcPr marL="54864" marR="54864" marT="27432" marB="27432" anchor="ctr">
                    <a:solidFill>
                      <a:srgbClr val="FFFFFF"/>
                    </a:solidFill>
                  </a:tcPr>
                </a:tc>
              </a:tr>
            </a:tbl>
          </a:graphicData>
        </a:graphic>
      </p:graphicFrame>
      <p:sp>
        <p:nvSpPr>
          <p:cNvPr id="7" name="TextBox 6"/>
          <p:cNvSpPr txBox="1"/>
          <p:nvPr/>
        </p:nvSpPr>
        <p:spPr>
          <a:xfrm>
            <a:off x="548640" y="6510528"/>
            <a:ext cx="7315200" cy="274320"/>
          </a:xfrm>
          <a:prstGeom prst="rect">
            <a:avLst/>
          </a:prstGeom>
          <a:noFill/>
        </p:spPr>
        <p:txBody>
          <a:bodyPr wrap="square">
            <a:spAutoFit/>
          </a:bodyPr>
          <a:lstStyle/>
          <a:p>
            <a:r>
              <a:rPr sz="900" b="0" i="0">
                <a:solidFill>
                  <a:srgbClr val="6B7280"/>
                </a:solidFill>
                <a:latin typeface="Calibri"/>
              </a:rPr>
              <a:t>SSA CHATBOT — plateforme RAG · propositions de financement GCF</a:t>
            </a:r>
          </a:p>
        </p:txBody>
      </p:sp>
      <p:sp>
        <p:nvSpPr>
          <p:cNvPr id="8" name="TextBox 7"/>
          <p:cNvSpPr txBox="1"/>
          <p:nvPr/>
        </p:nvSpPr>
        <p:spPr>
          <a:xfrm>
            <a:off x="11292840" y="6510528"/>
            <a:ext cx="640080" cy="274320"/>
          </a:xfrm>
          <a:prstGeom prst="rect">
            <a:avLst/>
          </a:prstGeom>
          <a:noFill/>
        </p:spPr>
        <p:txBody>
          <a:bodyPr wrap="square">
            <a:spAutoFit/>
          </a:bodyPr>
          <a:lstStyle/>
          <a:p>
            <a:pPr algn="r"/>
            <a:r>
              <a:rPr sz="900" b="0" i="0">
                <a:solidFill>
                  <a:srgbClr val="6B7280"/>
                </a:solidFill>
                <a:latin typeface="Calibri"/>
              </a:rPr>
              <a:t>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
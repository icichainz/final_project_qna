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96" r:id="rId48"/>
    <p:sldId id="263" r:id="rId15"/>
    <p:sldId id="264" r:id="rId16"/>
    <p:sldId id="297" r:id="rId49"/>
    <p:sldId id="265" r:id="rId17"/>
    <p:sldId id="266" r:id="rId18"/>
    <p:sldId id="267" r:id="rId19"/>
    <p:sldId id="268" r:id="rId20"/>
    <p:sldId id="269" r:id="rId21"/>
    <p:sldId id="270" r:id="rId22"/>
    <p:sldId id="271" r:id="rId23"/>
    <p:sldId id="272" r:id="rId24"/>
    <p:sldId id="273" r:id="rId25"/>
    <p:sldId id="274" r:id="rId26"/>
    <p:sldId id="275" r:id="rId27"/>
    <p:sldId id="294" r:id="rId46"/>
    <p:sldId id="276" r:id="rId28"/>
    <p:sldId id="277" r:id="rId29"/>
    <p:sldId id="278" r:id="rId30"/>
    <p:sldId id="279" r:id="rId31"/>
    <p:sldId id="280" r:id="rId32"/>
    <p:sldId id="281" r:id="rId33"/>
    <p:sldId id="282" r:id="rId34"/>
    <p:sldId id="283" r:id="rId35"/>
    <p:sldId id="295" r:id="rId47"/>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23.xml"/><Relationship Id="rId47" Type="http://schemas.openxmlformats.org/officeDocument/2006/relationships/slide" Target="slides/slide32.xml"/><Relationship Id="rId48" Type="http://schemas.openxmlformats.org/officeDocument/2006/relationships/slide" Target="slides/slide8.xml"/><Relationship Id="rId49"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Claims supportés (bras 1)</c:v>
                </c:pt>
              </c:strCache>
            </c:strRef>
          </c:tx>
          <c:spPr>
            <a:ln w="31750">
              <a:solidFill>
                <a:srgbClr val="15803D"/>
              </a:solidFill>
            </a:ln>
          </c:spPr>
          <c:marker>
            <c:symbol val="none"/>
          </c:marker>
          <c:cat>
            <c:strRef>
              <c:f>Sheet1!$A$2:$A$24</c:f>
              <c:strCache>
                <c:ptCount val="23"/>
                <c:pt idx="0">
                  <c:v>R1</c:v>
                </c:pt>
                <c:pt idx="1">
                  <c:v>R2</c:v>
                </c:pt>
                <c:pt idx="2">
                  <c:v>R3</c:v>
                </c:pt>
                <c:pt idx="3">
                  <c:v>R4</c:v>
                </c:pt>
                <c:pt idx="4">
                  <c:v>R5</c:v>
                </c:pt>
                <c:pt idx="5">
                  <c:v>R6</c:v>
                </c:pt>
                <c:pt idx="6">
                  <c:v>R7</c:v>
                </c:pt>
                <c:pt idx="7">
                  <c:v>R8</c:v>
                </c:pt>
                <c:pt idx="8">
                  <c:v>R9</c:v>
                </c:pt>
                <c:pt idx="9">
                  <c:v>R10</c:v>
                </c:pt>
                <c:pt idx="10">
                  <c:v>R11</c:v>
                </c:pt>
                <c:pt idx="11">
                  <c:v>R12</c:v>
                </c:pt>
                <c:pt idx="12">
                  <c:v>R13</c:v>
                </c:pt>
                <c:pt idx="13">
                  <c:v>R14</c:v>
                </c:pt>
                <c:pt idx="14">
                  <c:v>R15</c:v>
                </c:pt>
                <c:pt idx="15">
                  <c:v>R16</c:v>
                </c:pt>
                <c:pt idx="16">
                  <c:v>R17</c:v>
                </c:pt>
                <c:pt idx="17">
                  <c:v>R18</c:v>
                </c:pt>
                <c:pt idx="18">
                  <c:v>R19</c:v>
                </c:pt>
                <c:pt idx="19">
                  <c:v>R20</c:v>
                </c:pt>
                <c:pt idx="20">
                  <c:v>R21</c:v>
                </c:pt>
                <c:pt idx="21">
                  <c:v>R22</c:v>
                </c:pt>
                <c:pt idx="22">
                  <c:v>R23</c:v>
                </c:pt>
              </c:strCache>
            </c:strRef>
          </c:cat>
          <c:val>
            <c:numRef>
              <c:f>Sheet1!$B$2:$B$24</c:f>
              <c:numCache>
                <c:formatCode>General</c:formatCode>
                <c:ptCount val="23"/>
                <c:pt idx="0">
                  <c:v>57.0</c:v>
                </c:pt>
                <c:pt idx="1">
                  <c:v>85.5</c:v>
                </c:pt>
                <c:pt idx="2">
                  <c:v>95.2</c:v>
                </c:pt>
                <c:pt idx="3">
                  <c:v>98.4</c:v>
                </c:pt>
                <c:pt idx="4">
                  <c:v>96.4</c:v>
                </c:pt>
                <c:pt idx="5">
                  <c:v>97.6</c:v>
                </c:pt>
                <c:pt idx="6">
                  <c:v>96.5</c:v>
                </c:pt>
                <c:pt idx="7">
                  <c:v>97.9</c:v>
                </c:pt>
                <c:pt idx="8">
                  <c:v>98.2</c:v>
                </c:pt>
                <c:pt idx="9">
                  <c:v>96.7</c:v>
                </c:pt>
                <c:pt idx="10">
                  <c:v>95.0</c:v>
                </c:pt>
                <c:pt idx="11">
                  <c:v>95.9</c:v>
                </c:pt>
                <c:pt idx="12">
                  <c:v>94.9</c:v>
                </c:pt>
                <c:pt idx="13">
                  <c:v>94.6</c:v>
                </c:pt>
                <c:pt idx="14">
                  <c:v>95.2</c:v>
                </c:pt>
                <c:pt idx="15">
                  <c:v>96.5</c:v>
                </c:pt>
                <c:pt idx="16">
                  <c:v>96.5</c:v>
                </c:pt>
                <c:pt idx="17">
                  <c:v>97.1</c:v>
                </c:pt>
                <c:pt idx="18">
                  <c:v>97.4</c:v>
                </c:pt>
                <c:pt idx="19">
                  <c:v>97.0</c:v>
                </c:pt>
                <c:pt idx="20">
                  <c:v>98.2</c:v>
                </c:pt>
                <c:pt idx="21">
                  <c:v>97.5</c:v>
                </c:pt>
                <c:pt idx="22">
                  <c:v>97.0</c:v>
                </c:pt>
              </c:numCache>
            </c:numRef>
          </c:val>
          <c:smooth val="0"/>
        </c:ser>
        <c:ser>
          <c:idx val="1"/>
          <c:order val="1"/>
          <c:tx>
            <c:strRef>
              <c:f>Sheet1!$C$1</c:f>
              <c:strCache>
                <c:ptCount val="1"/>
                <c:pt idx="0">
                  <c:v>Bras 2 — rejeu même configuration (paire)</c:v>
                </c:pt>
              </c:strCache>
            </c:strRef>
          </c:tx>
          <c:spPr>
            <a:ln w="19050">
              <a:noFill/>
            </a:ln>
          </c:spPr>
          <c:marker>
            <c:symbol val="circle"/>
            <c:size val="7"/>
            <c:spPr>
              <a:solidFill>
                <a:srgbClr val="0F766E"/>
              </a:solidFill>
              <a:ln>
                <a:solidFill>
                  <a:srgbClr val="0F766E"/>
                </a:solidFill>
              </a:ln>
            </c:spPr>
          </c:marker>
          <c:cat>
            <c:strRef>
              <c:f>Sheet1!$A$2:$A$24</c:f>
              <c:strCache>
                <c:ptCount val="23"/>
                <c:pt idx="0">
                  <c:v>R1</c:v>
                </c:pt>
                <c:pt idx="1">
                  <c:v>R2</c:v>
                </c:pt>
                <c:pt idx="2">
                  <c:v>R3</c:v>
                </c:pt>
                <c:pt idx="3">
                  <c:v>R4</c:v>
                </c:pt>
                <c:pt idx="4">
                  <c:v>R5</c:v>
                </c:pt>
                <c:pt idx="5">
                  <c:v>R6</c:v>
                </c:pt>
                <c:pt idx="6">
                  <c:v>R7</c:v>
                </c:pt>
                <c:pt idx="7">
                  <c:v>R8</c:v>
                </c:pt>
                <c:pt idx="8">
                  <c:v>R9</c:v>
                </c:pt>
                <c:pt idx="9">
                  <c:v>R10</c:v>
                </c:pt>
                <c:pt idx="10">
                  <c:v>R11</c:v>
                </c:pt>
                <c:pt idx="11">
                  <c:v>R12</c:v>
                </c:pt>
                <c:pt idx="12">
                  <c:v>R13</c:v>
                </c:pt>
                <c:pt idx="13">
                  <c:v>R14</c:v>
                </c:pt>
                <c:pt idx="14">
                  <c:v>R15</c:v>
                </c:pt>
                <c:pt idx="15">
                  <c:v>R16</c:v>
                </c:pt>
                <c:pt idx="16">
                  <c:v>R17</c:v>
                </c:pt>
                <c:pt idx="17">
                  <c:v>R18</c:v>
                </c:pt>
                <c:pt idx="18">
                  <c:v>R19</c:v>
                </c:pt>
                <c:pt idx="19">
                  <c:v>R20</c:v>
                </c:pt>
                <c:pt idx="20">
                  <c:v>R21</c:v>
                </c:pt>
                <c:pt idx="21">
                  <c:v>R22</c:v>
                </c:pt>
                <c:pt idx="22">
                  <c:v>R23</c:v>
                </c:pt>
              </c:strCache>
            </c:strRef>
          </c:cat>
          <c:val>
            <c:numRef>
              <c:f>Sheet1!$C$2:$C$24</c:f>
              <c:numCache>
                <c:formatCode>General</c:formatCode>
                <c:ptCount val="23"/>
                <c:pt idx="7">
                  <c:v>96.5</c:v>
                </c:pt>
                <c:pt idx="11">
                  <c:v>85.5</c:v>
                </c:pt>
                <c:pt idx="12">
                  <c:v>95.0</c:v>
                </c:pt>
                <c:pt idx="13">
                  <c:v>94.3</c:v>
                </c:pt>
                <c:pt idx="14">
                  <c:v>95.7</c:v>
                </c:pt>
                <c:pt idx="17">
                  <c:v>94.5</c:v>
                </c:pt>
                <c:pt idx="18">
                  <c:v>96.5</c:v>
                </c:pt>
                <c:pt idx="19">
                  <c:v>95.5</c:v>
                </c:pt>
                <c:pt idx="20">
                  <c:v>94.5</c:v>
                </c:pt>
                <c:pt idx="21">
                  <c:v>95.8</c:v>
                </c:pt>
                <c:pt idx="22">
                  <c:v>97.8</c:v>
                </c:pt>
              </c:numCache>
            </c:numRef>
          </c:val>
          <c:smooth val="0"/>
        </c:ser>
        <c:ser>
          <c:idx val="2"/>
          <c:order val="2"/>
          <c:tx>
            <c:strRef>
              <c:f>Sheet1!$D$1</c:f>
              <c:strCache>
                <c:ptCount val="1"/>
                <c:pt idx="0">
                  <c:v>Porte de release (95 %)</c:v>
                </c:pt>
              </c:strCache>
            </c:strRef>
          </c:tx>
          <c:spPr>
            <a:ln w="19050">
              <a:solidFill>
                <a:srgbClr val="9CA3AF"/>
              </a:solidFill>
              <a:prstDash val="dash"/>
            </a:ln>
          </c:spPr>
          <c:marker>
            <c:symbol val="none"/>
          </c:marker>
          <c:cat>
            <c:strRef>
              <c:f>Sheet1!$A$2:$A$24</c:f>
              <c:strCache>
                <c:ptCount val="23"/>
                <c:pt idx="0">
                  <c:v>R1</c:v>
                </c:pt>
                <c:pt idx="1">
                  <c:v>R2</c:v>
                </c:pt>
                <c:pt idx="2">
                  <c:v>R3</c:v>
                </c:pt>
                <c:pt idx="3">
                  <c:v>R4</c:v>
                </c:pt>
                <c:pt idx="4">
                  <c:v>R5</c:v>
                </c:pt>
                <c:pt idx="5">
                  <c:v>R6</c:v>
                </c:pt>
                <c:pt idx="6">
                  <c:v>R7</c:v>
                </c:pt>
                <c:pt idx="7">
                  <c:v>R8</c:v>
                </c:pt>
                <c:pt idx="8">
                  <c:v>R9</c:v>
                </c:pt>
                <c:pt idx="9">
                  <c:v>R10</c:v>
                </c:pt>
                <c:pt idx="10">
                  <c:v>R11</c:v>
                </c:pt>
                <c:pt idx="11">
                  <c:v>R12</c:v>
                </c:pt>
                <c:pt idx="12">
                  <c:v>R13</c:v>
                </c:pt>
                <c:pt idx="13">
                  <c:v>R14</c:v>
                </c:pt>
                <c:pt idx="14">
                  <c:v>R15</c:v>
                </c:pt>
                <c:pt idx="15">
                  <c:v>R16</c:v>
                </c:pt>
                <c:pt idx="16">
                  <c:v>R17</c:v>
                </c:pt>
                <c:pt idx="17">
                  <c:v>R18</c:v>
                </c:pt>
                <c:pt idx="18">
                  <c:v>R19</c:v>
                </c:pt>
                <c:pt idx="19">
                  <c:v>R20</c:v>
                </c:pt>
                <c:pt idx="20">
                  <c:v>R21</c:v>
                </c:pt>
                <c:pt idx="21">
                  <c:v>R22</c:v>
                </c:pt>
                <c:pt idx="22">
                  <c:v>R23</c:v>
                </c:pt>
              </c:strCache>
            </c:strRef>
          </c:cat>
          <c:val>
            <c:numRef>
              <c:f>Sheet1!$D$2:$D$24</c:f>
              <c:numCache>
                <c:formatCode>General</c:formatCode>
                <c:ptCount val="23"/>
                <c:pt idx="0">
                  <c:v>95.0</c:v>
                </c:pt>
                <c:pt idx="1">
                  <c:v>95.0</c:v>
                </c:pt>
                <c:pt idx="2">
                  <c:v>95.0</c:v>
                </c:pt>
                <c:pt idx="3">
                  <c:v>95.0</c:v>
                </c:pt>
                <c:pt idx="4">
                  <c:v>95.0</c:v>
                </c:pt>
                <c:pt idx="5">
                  <c:v>95.0</c:v>
                </c:pt>
                <c:pt idx="6">
                  <c:v>95.0</c:v>
                </c:pt>
                <c:pt idx="7">
                  <c:v>95.0</c:v>
                </c:pt>
                <c:pt idx="8">
                  <c:v>95.0</c:v>
                </c:pt>
                <c:pt idx="9">
                  <c:v>95.0</c:v>
                </c:pt>
                <c:pt idx="10">
                  <c:v>95.0</c:v>
                </c:pt>
                <c:pt idx="11">
                  <c:v>95.0</c:v>
                </c:pt>
                <c:pt idx="12">
                  <c:v>95.0</c:v>
                </c:pt>
                <c:pt idx="13">
                  <c:v>95.0</c:v>
                </c:pt>
                <c:pt idx="14">
                  <c:v>95.0</c:v>
                </c:pt>
                <c:pt idx="15">
                  <c:v>95.0</c:v>
                </c:pt>
                <c:pt idx="16">
                  <c:v>95.0</c:v>
                </c:pt>
                <c:pt idx="17">
                  <c:v>95.0</c:v>
                </c:pt>
                <c:pt idx="18">
                  <c:v>95.0</c:v>
                </c:pt>
                <c:pt idx="19">
                  <c:v>95.0</c:v>
                </c:pt>
                <c:pt idx="20">
                  <c:v>95.0</c:v>
                </c:pt>
                <c:pt idx="21">
                  <c:v>95.0</c:v>
                </c:pt>
                <c:pt idx="22">
                  <c:v>95.0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5E7EB"/>
            </a:solidFill>
          </a:ln>
        </c:spPr>
        <c:txPr>
          <a:bodyPr/>
          <a:lstStyle/>
          <a:p>
            <a:pPr>
              <a:defRPr sz="750">
                <a:latin typeface="Calibri"/>
              </a:defRPr>
            </a:pPr>
          </a:p>
        </c:txPr>
        <c:crossAx val="2140495176"/>
        <c:crosses val="autoZero"/>
        <c:auto val="1"/>
        <c:lblAlgn val="ctr"/>
        <c:lblOffset val="100"/>
        <c:noMultiLvlLbl val="0"/>
      </c:catAx>
      <c:valAx>
        <c:axId val="2140495176"/>
        <c:scaling>
          <c:max val="100.0"/>
          <c:min val="50.0"/>
        </c:scaling>
        <c:delete val="0"/>
        <c:axPos val="l"/>
        <c:majorGridlines>
          <c:spPr>
            <a:ln w="6350">
              <a:solidFill>
                <a:srgbClr val="E5E7EB"/>
              </a:solidFill>
            </a:ln>
          </c:spPr>
        </c:majorGridlines>
        <c:numFmt formatCode="0&quot;%&quot;" sourceLinked="0"/>
        <c:majorTickMark val="out"/>
        <c:minorTickMark val="none"/>
        <c:tickLblPos val="nextTo"/>
        <c:spPr>
          <a:ln>
            <a:noFill/>
          </a:ln>
        </c:spPr>
        <c:txPr>
          <a:bodyPr/>
          <a:lstStyle/>
          <a:p>
            <a:pPr>
              <a:defRPr sz="900">
                <a:latin typeface="Calibri"/>
              </a:defRPr>
            </a:pPr>
          </a:p>
        </c:txPr>
        <c:crossAx val="2118791784"/>
        <c:crosses val="autoZero"/>
        <c:majorUnit val="10.0"/>
      </c:valAx>
    </c:plotArea>
    <c:legend>
      <c:legendPos val="b"/>
      <c:layout/>
      <c:overlay val="0"/>
      <c:txPr>
        <a:bodyPr/>
        <a:lstStyle/>
        <a:p>
          <a:pPr>
            <a:defRPr sz="1000">
              <a:latin typeface="Calibri"/>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thème : une plateforme de synthèse assistée par RAG, construite comme une approche hybride — à chaque couche une voie déterministe ou symbolique et une voie neuronale ou générative, arbitrées par la mesure — pour l'analyse d'un corpus sectoriel : 273 propositions de financement du GCF. Le produit s'appelle SSA CHATBOT ; il répond en français et en anglais, cite à la phrase, montre les pages preuves surlignées et audite chaque réponse par un vérificateur factuel.</a:t>
            </a:r>
          </a:p>
          <a:p/>
          <a:p>
            <a:r>
              <a:t>AVANT TOUTE DÉMO LIVE : vérifier le solde de crédits OpenAI. La clé est partagée entre l'évaluation et la production — le 28 août 2026 une paire de releases a vidé le compte et le site a rendu des erreurs 429 jusqu'au rechargement.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parties, dans l'ordre du thème : le corpus sectoriel et les fondements (synthèse assistée, approche hybride) ; la plateforme hybride composant par composant ; le programme qualité (vérification, évaluation, campagne de couverture) ; enfin l'exploitation, le bilan et ce qui se généralise à d'autres corpus sectoriels.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pose d'abord la problématique, puis les trois mots du thème. Un corpus de secteur a des gabarits, des identifiants et des conventions que la plateforme exploite. La synthèse assistée, c'est répondre, comparer, agréger et lister, toujours avec citation. L'approche hybride, c'est refuser le mécanisme unique : à chaque couche, une voie déterministe et une voie neuronale, et la mesure tranche. Le prototype de 2024 répondait déjà ; la version finale ajoute la synthèse multi-documents et la vérification.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relit la littérature RAG non pas comme un catalogue, mais comme une grille de lecture de la plateforme : chaque concept cité reviendra dans la partie II en face du composant qui l'implémente.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fils de littérature se croisent ici : le RAG proprement dit, et la génération attribuée, c'est-à-dire la synthèse assistée. Le chiffre de Liu et al., à peine la moitié des phrases réellement soutenues, justifie à lui seul l'investissement du projet dans la vérification.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survey de Gao et al. raconte l'histoire du domaine, et le projet l'a rejouée en accéléré. Le prototype de 2024 était un RAG naïf canonique. Chaque limite rencontrée en pratique a poussé vers l'étage suivant de la taxonomie, jusqu'à l'orchestration modulaire actuelle.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grille vient du survey « RAG and Beyond ». Elle n'est pas un habillage a posteriori : le rapport de construction s'en sert pour se positionner, puis un audit dédié a contesté le mot « couvert » et l'a remplacé par des dénominateurs mesurés. C'est l'objet de la partie III.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pipelines : l'ingestion hors ligne (reproductible couche par couche par une commande) et le service en ligne (par tour de conversation). Règle d'architecture : chaque enrichissement dégrade sans bloquer.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haut, la chaîne d'ingestion : du PDF brut à l'index vectoriel, au BM25 et au registre de faits. En dessous, un tour de conversation : le conducteur décide entre conversation et recherche, la récupération hybride alimente des notes déterministes, gpt-5.2 génère une réponse citée, le vérificateur l'audite, et l'interface affiche les sources et les pages surlignées.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corpus est fermé et daté. Cette propriété, souvent absente des benchmarks, est exploitée partout : absences confirmées, agrégats exacts, table des conseils et des années. La régénération par commande garantit la reproductibilité de chaque couche. Pour porter la plateforme à un autre corpus sectoriel, on redéfinit la grammaire des identifiants, les gabarits de champs, la table des sessions, les alias et le bloc de base du prompt ; le reste de la chaîne ne change pas.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Douze méthodes d'extraction ont réellement été exécutées et comparées, et les notebooks en gardent la trace. Le modèle vision-langage local gagne sur les tableaux financiers, qui sont cruciaux pour ce corpus. Le banc d'essai du rendu illustre la méthode générale du projet : chaque paramètre est fixé par une mesure contre le système réel.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L'extracteur hérité plantait, se bloquait et perdait des pages en silence. La version industrialisée traite ces trois familles : le crash par la sérialisation et le disjoncteur, le blocage par un ensemble de tâches plat sous sémaphore, la perte par les fichiers par page et une fusion gardée par la complétude. Le cas des 240 pages sur 243 prouve la valeur de cette vérification.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L'attribution ne s'arrête pas à « document, page 17 » : l'utilisateur voit la page, avec le passage cité surligné. C'est une exigence de confiance, puisqu'il vérifie d'un regard, et c'est aussi un instrument d'ingénierie : deux bugs de géométrie n'auraient jamais été trouvés par des tests unitaires.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décisions contre-intuitives et mesurées. Le préfixe de section aide en théorie, mais il dégrade le rappel du modèle d'embedding retenu, donc il est désactivé. Et les tables restent entières, parce qu'une table coupée perd sa ligne d'en-tête. La séparation entre texte montré et texte indexé garantit qu'un artefact de récupération n'atteint jamais le modèle de réponse ni l'ancrage.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cas d'école : un embedding ne distingue pas FP151 de FP152, et le document qui mentionne FP151 dans une liste peut battre le document qui est FP151. D'où le tokenizer d'identifiants, le poids lexical doublé et la distinction entre « est » et « mentionne ». Chaque étage du pipeline répond à un défaut observé en vrai.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conducteur est le seul endroit où l'historique de conversation touche la recherche : il réécrit, il ne répond pas. La décomposition avec quotas répond à un constat simple : à l'intérieur d'un document, le mot « budget » n'a plus 178 000 concurrents, et l'annexe qui perd globalement gagne localement.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registre répond à un constat : les questions les plus fréquentes, les montants, les entités, les pays d'une proposition, méritent mieux qu'une récupération vectorielle. C'est un magasin de faits avec provenance, construit de façon déterministe, corrigé par adjudication humaine, et qui assume les contradictions du corpus au lieu de les lisser.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matrice rend la comparaison inspectable : on voit d'où vient chaque cellule, ce qui manque et ce qui se contredit. Le refus de calculer entre les cellules est un choix de sûreté : l'arithmétique dérivée est traitée plus loin, côté vérificateur, avec ses propres garde-fous.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prompt n'est pas un texte : c'est un artefact assemblé, testé et budgété. Un test épingle l'assemblage comme un tout, et l'ajout du bloc de contexte a dû prouver que la plus grande variante ne grossissait pas. Les règles de citation appliquent ALCE au niveau de la phrase, avec une hiérarchie contre la fausse précision.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tour est une chorégraphie stricte : qui voit quoi est défini par des tests de câblage. L'isolation des preuves est la décision la plus contre-intuitive, puisqu'elle donne moins de contexte au modèle de réponse, et elle a été imposée par une régression mesurée, pas par une théorie.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partie la plus originale du projet : la qualité n'est pas une phase de test, c'est un programme complet avec ses instruments, sa métrologie et ses audits — y compris l'audit des instruments eux-mêmes.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différence avec RAGAS ou FActScore : ces cadres évaluent des systèmes hors ligne. Ici, le même instrument tourne en production sur chaque réponse, avec des contraintes strictes de coût, un seul appel, de sûreté, jamais d'écriture, et d'auditabilité, puisque le juge lui-même est mesuré par différence d'ensembles, sans API.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moment charnière du projet : avant d'améliorer le système, prouver que l'instrument mesure juste. L'adjudication en aveugle a montré que 59 des 71 échecs étaient des verdicts erronés du vérificateur, dont 46 faux positifs stricts. La calibration qui a suivi est elle-même sous contrôle : des ancres adjudiquées, une signature humaine, et cinq bras de scoring pour que l'instrument ne puisse plus se dégrader en silence.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l'histoire la plus instructive du projet : l'auto-réparation passait toutes les portes et améliorait tous les chiffres, en supprimant du contenu vérifié. La leçon générale : quand une métrique devient une cible, supprimer devient moins cher que corriger. Retirer le code plutôt que poser un drapeau est une position d'ingénierie assumée.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métrologie est le squelette du programme qualité. On mesure la variance avant de revendiquer un progrès, on raisonne en comptes entiers plutôt qu'en pourcentages, et on traite tout interrupteur d'environnement comme une variable expérimentale à consigner. C'est rare, même dans la littérature d'évaluation.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courbe raconte quatre histoires : la remontée initiale, avec la calibration de l'instrument et les citations à la phrase ; le plateau au-dessus de la porte pendant que le gold grossit de 66 à 157 cas ; l'épisode R14 rouge puis R15 verte, un échec nommé et guéri par la cure du corpus ; et, après l'audit, quatre paires vertes et trois déploiements. Les deux contre-bras rouges R18 et R21 tiennent à un seul cas, un listing français paraphrasé : c'est la raison d'être de la règle de copie. La paire R23 est la dernière certifiée, et c'est elle qui tourne en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moment épistémologique du projet : un gold à 97 % peut cacher des défauts certifiés par le vérificateur lui-même, comme F13. Quinze sondes à onze centimes ont trouvé quatre défauts qu'une septième release n'aurait jamais vus. D'où la campagne de couverture qui suit.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campagne transforme l'audit en travail : mécanismes, données, gold, instruments. Point remarquable, la phase 2½ a rejeté l'index par sections après A/B : la capacité espérée dégradait la génération, et l'adressage a été gardé par une voie moins coûteuse. La passe R16 à R19 règle l'ergonomie, des réponses trop nues, sans sacrifier la vérifiabilité.</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partie : le système en tant qu'objet opéré (déploiement, rollback, ledger), le bilan d'ingénierie, et la mise en regard finale avec la littérature.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L'exploitation est traitée avec la même discipline que le code : des images adressées par contenu, un journal de bord en ajout seul, une procédure de retour arrière répétée. Laisser l'opérateur coller la ligne du journal à la main est délibéré : l'automatiser déclencherait le verrou d'arbre sale du déploiement lui-même. Avant la soutenance, vérifier que le site répond et que l'image en production est bien celle du 4 septembre.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contraste avant et après la re-architecture est le socle de tout le reste : sans une source de vérité par constante et sans tests, aucune des mesures précédentes n'aurait de sens. Les incidents, les clés et le dépôt supprimé, sont racontés parce qu'ils ont produit les règles : zéro clé en source, jamais de suppression pressée, historique préservé.</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table de synthèse relie chaque concept de la revue de littérature à sa réalisation concrète et mesurée dans la plateforme. C'est la réponse directe à la question des intersections : le projet n'applique pas la littérature en bloc, il l'instancie composant par composant, et la contredit là où la mesure l'exige.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types de contributions : ce que la plateforme fait de plus que la pratique publiée, et, tout aussi important pour un travail académique, ce qu'elle refuse d'adopter faute d'écart mesuré. La mode, GraphRAG ou les agents, est traitée comme une hypothèse qui a un coût, pas comme un défaut d'ambition.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limites sont énumérées avec le même sérieux que les résultats : chacune est adossée à une mesure ou à un artefact du dépôt. Rien ici n'est une excuse ; ce sont des éléments de backlog datés et priorisés. Si le jury demande pourquoi les boucles du modèle vision-langage n'ont pas fait tomber la porte : elles touchent 4 % des pages, le vérificateur ne certifie que ce qui est cité, et le gold n'échantillonne pas ces pages. C'est exactement le type de défaut que les sondes, et non le gold, révèlent.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conclus sur les trois mots du thème : la synthèse assistée, c'est ce que la plateforme rend, mesuré par classe ; l'approche hybride, c'est le motif répété à chaque couche et arbitré par la mesure ; les documents sectoriels, c'est ce que le corpus a imposé et ce qui se transporte ailleurs. Puis les leçons qui dépassent le projet : la métrologie, l'indépendance de l'évaluation, l'honnêteté comme propriété de conception. Le système est en production, et chaque chiffre de cette présentation est traçable à un artefact du dépôt.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Références de la revue de littérature mobilisées dans la présentation ; les artefacts internes du projet (rapport de build, plan de campagne, taxonomie d'adjudication, ledger de déploiement) sont dans le dépôt.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protocole de paire est la réponse du projet au non-déterminisme des API : un chiffre isolé n'est pas un résultat. La paire 13 illustre l'honnêteté du compte entier ; la 14, qu'un échec cohérent est une information ; les 18 et 21, qu'un bras rouge peut tenir à un seul cas ; les 19, 20, 22 et 23 sont les quatre paires vertes de l'après-audit, dont trois ont été déployées.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Récapitulatif des valeurs effectives en production — chacune vit dans config.py ou .env (jamais dans une copie de fichier), et presque chacune porte, dans le code, la mesure A/B qui l'a choisie.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évolution date du 7 septembre 2026 et vient d'une revue d'implémentation. Jusque-là, la parité entre l'application et le harnais reposait sur la discipline, avec deux copies du même assemblage de contexte, et le multi-tour sur une expression régulière appliquée au texte des réponses. L'extraction est prouvée sans effet par un oracle de parité à l'octet. Les huit cas multi-tours ne sont pas encore certifiés par une paire de releases : je le dis tel quel si la question est posée.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Après l'audit de couverture, quatre passes en quatre semaines, chacune derrière une paire de releases de même configuration : la longueur de réponse, parce que l'utilisateur voyait des réponses trop nues ; la sonde de section ; la règle de copie ; la clôture du niveau L2. Deux contre-bras rouges tenaient à un seul cas, un listing en français que le modèle paraphrasait de deux façons différentes ; la règle de copie interdit la paraphrase. La paire R23 est celle qui tourne en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diapositive qui porte le mot « hybride » du thème. Dans la littérature, hybride veut dire fusion lexical et dense. Ici, le motif est répété à chaque couche : une voie déterministe, une voie neuronale, et un arbitrage mesuré. La colonne de droite montre que ce n'est pas un slogan : chaque ligne cite la mesure qui a tranché.</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diapositive qui porte le mot « synthèse » du thème. Une plateforme de synthèse ne rend pas qu'un fait : elle compare, agrège, liste, suit le fil et refuse honnêtement. Chaque ligne est une classe du gold avec son nombre de cas, et les exemples sont des questions réelles du gold.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091672" cy="365760"/>
          </a:xfrm>
          <a:prstGeom prst="rect">
            <a:avLst/>
          </a:prstGeom>
          <a:noFill/>
        </p:spPr>
        <p:txBody>
          <a:bodyPr wrap="square">
            <a:spAutoFit/>
          </a:bodyPr>
          <a:lstStyle/>
          <a:p>
            <a:r>
              <a:rPr sz="1300" b="1" i="0">
                <a:solidFill>
                  <a:srgbClr val="16A34A"/>
                </a:solidFill>
                <a:latin typeface="Calibri"/>
              </a:rPr>
              <a:t>SYSTÈME DE QUESTIONS-RÉPONSES SUR UN CORPUS DOCUMENTAIRE</a:t>
            </a:r>
          </a:p>
        </p:txBody>
      </p:sp>
      <p:sp>
        <p:nvSpPr>
          <p:cNvPr id="4" name="TextBox 3"/>
          <p:cNvSpPr txBox="1"/>
          <p:nvPr/>
        </p:nvSpPr>
        <p:spPr>
          <a:xfrm>
            <a:off x="548640" y="1417320"/>
            <a:ext cx="11091672" cy="1737360"/>
          </a:xfrm>
          <a:prstGeom prst="rect">
            <a:avLst/>
          </a:prstGeom>
          <a:noFill/>
        </p:spPr>
        <p:txBody>
          <a:bodyPr wrap="square">
            <a:spAutoFit/>
          </a:bodyPr>
          <a:lstStyle/>
          <a:p>
            <a:r>
              <a:rPr sz="4000" b="1" i="0">
                <a:solidFill>
                  <a:srgbClr val="FFFFFF"/>
                </a:solidFill>
                <a:latin typeface="Calibri"/>
              </a:rPr>
              <a:t>Plateforme de synthèse assistée par RAG</a:t>
            </a:r>
          </a:p>
          <a:p>
            <a:pPr>
              <a:spcBef>
                <a:spcPts val="1000"/>
              </a:spcBef>
            </a:pPr>
            <a:r>
              <a:rPr sz="2200" b="0" i="0">
                <a:solidFill>
                  <a:srgbClr val="D1FAE5"/>
                </a:solidFill>
                <a:latin typeface="Calibri"/>
              </a:rPr>
              <a:t>Une approche hybride pour l'analyse de documents sectoriels</a:t>
            </a:r>
          </a:p>
        </p:txBody>
      </p:sp>
      <p:sp>
        <p:nvSpPr>
          <p:cNvPr id="5" name="Rectangle 4"/>
          <p:cNvSpPr/>
          <p:nvPr/>
        </p:nvSpPr>
        <p:spPr>
          <a:xfrm>
            <a:off x="548640" y="3246120"/>
            <a:ext cx="2377440" cy="381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566160"/>
            <a:ext cx="11091672" cy="1005840"/>
          </a:xfrm>
          <a:prstGeom prst="rect">
            <a:avLst/>
          </a:prstGeom>
          <a:noFill/>
        </p:spPr>
        <p:txBody>
          <a:bodyPr wrap="square">
            <a:spAutoFit/>
          </a:bodyPr>
          <a:lstStyle/>
          <a:p>
            <a:r>
              <a:rPr sz="1500" b="0" i="1">
                <a:solidFill>
                  <a:srgbClr val="A7F3D0"/>
                </a:solidFill>
                <a:latin typeface="Calibri"/>
              </a:rPr>
              <a:t>SSA CHATBOT : 273 propositions de financement du Fonds vert pour le climat, 41 550 pages, de l'extraction vision-langage à la vérification factuelle, en dialogue avec la littérature RAG</a:t>
            </a:r>
          </a:p>
        </p:txBody>
      </p:sp>
      <p:sp>
        <p:nvSpPr>
          <p:cNvPr id="7" name="TextBox 6"/>
          <p:cNvSpPr txBox="1"/>
          <p:nvPr/>
        </p:nvSpPr>
        <p:spPr>
          <a:xfrm>
            <a:off x="548640" y="4709160"/>
            <a:ext cx="11091672" cy="731520"/>
          </a:xfrm>
          <a:prstGeom prst="rect">
            <a:avLst/>
          </a:prstGeom>
          <a:noFill/>
        </p:spPr>
        <p:txBody>
          <a:bodyPr wrap="square">
            <a:spAutoFit/>
          </a:bodyPr>
          <a:lstStyle/>
          <a:p>
            <a:r>
              <a:rPr sz="1700" b="1" i="0">
                <a:solidFill>
                  <a:srgbClr val="FFFFFF"/>
                </a:solidFill>
                <a:latin typeface="Calibri"/>
              </a:rPr>
              <a:t>KOUDAYA Kokou Abel</a:t>
            </a:r>
          </a:p>
          <a:p>
            <a:r>
              <a:rPr sz="1300" b="0" i="0">
                <a:solidFill>
                  <a:srgbClr val="A7C4AF"/>
                </a:solidFill>
                <a:latin typeface="Calibri"/>
              </a:rPr>
              <a:t>Septembre 2026 · en production : fp-gcf.ssa.tg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502920"/>
          </a:xfrm>
          <a:prstGeom prst="rect">
            <a:avLst/>
          </a:prstGeom>
          <a:noFill/>
        </p:spPr>
        <p:txBody>
          <a:bodyPr wrap="square">
            <a:spAutoFit/>
          </a:bodyPr>
          <a:lstStyle/>
          <a:p>
            <a:r>
              <a:rPr sz="2400" b="1" i="0">
                <a:solidFill>
                  <a:srgbClr val="14532D"/>
                </a:solidFill>
                <a:latin typeface="Calibri"/>
              </a:rPr>
              <a:t>Plan de la présentation</a:t>
            </a:r>
          </a:p>
        </p:txBody>
      </p:sp>
      <p:sp>
        <p:nvSpPr>
          <p:cNvPr id="4" name="Rectangle 3"/>
          <p:cNvSpPr/>
          <p:nvPr/>
        </p:nvSpPr>
        <p:spPr>
          <a:xfrm>
            <a:off x="548640" y="76809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950976"/>
            <a:ext cx="5394960" cy="2148840"/>
          </a:xfrm>
          <a:prstGeom prst="roundRect">
            <a:avLst>
              <a:gd name="adj" fmla="val 6000"/>
            </a:avLst>
          </a:prstGeom>
          <a:solidFill>
            <a:srgbClr val="F0FDF4"/>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09728"/>
          <a:lstStyle/>
          <a:p>
            <a:pPr algn="ctr"/>
            <a:r>
              <a:rPr sz="1550" b="1" i="0">
                <a:solidFill>
                  <a:srgbClr val="14532D"/>
                </a:solidFill>
                <a:latin typeface="Calibri"/>
              </a:rPr>
              <a:t>I — Thème, contexte &amp; fondements</a:t>
            </a:r>
          </a:p>
          <a:p>
            <a:pPr>
              <a:spcAft>
                <a:spcPts val="200"/>
              </a:spcAft>
            </a:pPr>
            <a:r>
              <a:rPr sz="1200" b="0" i="0">
                <a:solidFill>
                  <a:srgbClr val="16A34A"/>
                </a:solidFill>
                <a:latin typeface="Calibri"/>
              </a:rPr>
              <a:t>•  </a:t>
            </a:r>
            <a:r>
              <a:rPr sz="1200" b="0" i="0">
                <a:solidFill>
                  <a:srgbClr val="1F2937"/>
                </a:solidFill>
                <a:latin typeface="Calibri"/>
              </a:rPr>
              <a:t>Problématique et documents sectoriels : le corpus GCF</a:t>
            </a:r>
          </a:p>
          <a:p>
            <a:pPr>
              <a:spcAft>
                <a:spcPts val="200"/>
              </a:spcAft>
            </a:pPr>
            <a:r>
              <a:rPr sz="1200" b="0" i="0">
                <a:solidFill>
                  <a:srgbClr val="16A34A"/>
                </a:solidFill>
                <a:latin typeface="Calibri"/>
              </a:rPr>
              <a:t>•  </a:t>
            </a:r>
            <a:r>
              <a:rPr sz="1200" b="0" i="0">
                <a:solidFill>
                  <a:srgbClr val="1F2937"/>
                </a:solidFill>
                <a:latin typeface="Calibri"/>
              </a:rPr>
              <a:t>Synthèse assistée par IA et paradigme RAG</a:t>
            </a:r>
          </a:p>
          <a:p>
            <a:pPr>
              <a:spcAft>
                <a:spcPts val="200"/>
              </a:spcAft>
            </a:pPr>
            <a:r>
              <a:rPr sz="1200" b="0" i="0">
                <a:solidFill>
                  <a:srgbClr val="16A34A"/>
                </a:solidFill>
                <a:latin typeface="Calibri"/>
              </a:rPr>
              <a:t>•  </a:t>
            </a:r>
            <a:r>
              <a:rPr sz="1200" b="0" i="0">
                <a:solidFill>
                  <a:srgbClr val="1F2937"/>
                </a:solidFill>
                <a:latin typeface="Calibri"/>
              </a:rPr>
              <a:t>La thèse : une approche hybride à chaque couche</a:t>
            </a:r>
          </a:p>
          <a:p>
            <a:pPr>
              <a:spcAft>
                <a:spcPts val="200"/>
              </a:spcAft>
            </a:pPr>
            <a:r>
              <a:rPr sz="1200" b="0" i="0">
                <a:solidFill>
                  <a:srgbClr val="16A34A"/>
                </a:solidFill>
                <a:latin typeface="Calibri"/>
              </a:rPr>
              <a:t>•  </a:t>
            </a:r>
            <a:r>
              <a:rPr sz="1200" b="0" i="0">
                <a:solidFill>
                  <a:srgbClr val="1F2937"/>
                </a:solidFill>
                <a:latin typeface="Calibri"/>
              </a:rPr>
              <a:t>Naive → Advanced → Modular ; niveaux de requêtes L1–L4</a:t>
            </a:r>
          </a:p>
        </p:txBody>
      </p:sp>
      <p:sp>
        <p:nvSpPr>
          <p:cNvPr id="6" name="Rounded Rectangle 5"/>
          <p:cNvSpPr/>
          <p:nvPr/>
        </p:nvSpPr>
        <p:spPr>
          <a:xfrm>
            <a:off x="6217920" y="950976"/>
            <a:ext cx="5394960" cy="2148840"/>
          </a:xfrm>
          <a:prstGeom prst="roundRect">
            <a:avLst>
              <a:gd name="adj" fmla="val 6000"/>
            </a:avLst>
          </a:prstGeom>
          <a:solidFill>
            <a:srgbClr val="F5F5F4"/>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09728"/>
          <a:lstStyle/>
          <a:p>
            <a:pPr algn="ctr"/>
            <a:r>
              <a:rPr sz="1550" b="1" i="0">
                <a:solidFill>
                  <a:srgbClr val="14532D"/>
                </a:solidFill>
                <a:latin typeface="Calibri"/>
              </a:rPr>
              <a:t>II — La plateforme hybride</a:t>
            </a:r>
          </a:p>
          <a:p>
            <a:pPr>
              <a:spcAft>
                <a:spcPts val="200"/>
              </a:spcAft>
            </a:pPr>
            <a:r>
              <a:rPr sz="1200" b="0" i="0">
                <a:solidFill>
                  <a:srgbClr val="16A34A"/>
                </a:solidFill>
                <a:latin typeface="Calibri"/>
              </a:rPr>
              <a:t>•  </a:t>
            </a:r>
            <a:r>
              <a:rPr sz="1200" b="0" i="0">
                <a:solidFill>
                  <a:srgbClr val="1F2937"/>
                </a:solidFill>
                <a:latin typeface="Calibri"/>
              </a:rPr>
              <a:t>Architecture d'ensemble et formes de synthèse servies</a:t>
            </a:r>
          </a:p>
          <a:p>
            <a:pPr>
              <a:spcAft>
                <a:spcPts val="200"/>
              </a:spcAft>
            </a:pPr>
            <a:r>
              <a:rPr sz="1200" b="0" i="0">
                <a:solidFill>
                  <a:srgbClr val="16A34A"/>
                </a:solidFill>
                <a:latin typeface="Calibri"/>
              </a:rPr>
              <a:t>•  </a:t>
            </a:r>
            <a:r>
              <a:rPr sz="1200" b="0" i="0">
                <a:solidFill>
                  <a:srgbClr val="1F2937"/>
                </a:solidFill>
                <a:latin typeface="Calibri"/>
              </a:rPr>
              <a:t>Extraction VLM, ancrage visuel, chunking &amp; index</a:t>
            </a:r>
          </a:p>
          <a:p>
            <a:pPr>
              <a:spcAft>
                <a:spcPts val="200"/>
              </a:spcAft>
            </a:pPr>
            <a:r>
              <a:rPr sz="1200" b="0" i="0">
                <a:solidFill>
                  <a:srgbClr val="16A34A"/>
                </a:solidFill>
                <a:latin typeface="Calibri"/>
              </a:rPr>
              <a:t>•  </a:t>
            </a:r>
            <a:r>
              <a:rPr sz="1200" b="0" i="0">
                <a:solidFill>
                  <a:srgbClr val="1F2937"/>
                </a:solidFill>
                <a:latin typeface="Calibri"/>
              </a:rPr>
              <a:t>Récupération hybride, conducteur, registre symbolique, planificateur</a:t>
            </a:r>
          </a:p>
          <a:p>
            <a:pPr>
              <a:spcAft>
                <a:spcPts val="200"/>
              </a:spcAft>
            </a:pPr>
            <a:r>
              <a:rPr sz="1200" b="0" i="0">
                <a:solidFill>
                  <a:srgbClr val="16A34A"/>
                </a:solidFill>
                <a:latin typeface="Calibri"/>
              </a:rPr>
              <a:t>•  </a:t>
            </a:r>
            <a:r>
              <a:rPr sz="1200" b="0" i="0">
                <a:solidFill>
                  <a:srgbClr val="1F2937"/>
                </a:solidFill>
                <a:latin typeface="Calibri"/>
              </a:rPr>
              <a:t>Assemblage du prompt, génération, tour partagé et mémoire</a:t>
            </a:r>
          </a:p>
        </p:txBody>
      </p:sp>
      <p:sp>
        <p:nvSpPr>
          <p:cNvPr id="7" name="Rounded Rectangle 6"/>
          <p:cNvSpPr/>
          <p:nvPr/>
        </p:nvSpPr>
        <p:spPr>
          <a:xfrm>
            <a:off x="548640" y="3282696"/>
            <a:ext cx="5394960" cy="2148840"/>
          </a:xfrm>
          <a:prstGeom prst="roundRect">
            <a:avLst>
              <a:gd name="adj" fmla="val 6000"/>
            </a:avLst>
          </a:prstGeom>
          <a:solidFill>
            <a:srgbClr val="E0F2FE"/>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09728"/>
          <a:lstStyle/>
          <a:p>
            <a:pPr algn="ctr"/>
            <a:r>
              <a:rPr sz="1550" b="1" i="0">
                <a:solidFill>
                  <a:srgbClr val="14532D"/>
                </a:solidFill>
                <a:latin typeface="Calibri"/>
              </a:rPr>
              <a:t>III — La qualité comme programme</a:t>
            </a:r>
          </a:p>
          <a:p>
            <a:pPr>
              <a:spcAft>
                <a:spcPts val="200"/>
              </a:spcAft>
            </a:pPr>
            <a:r>
              <a:rPr sz="1200" b="0" i="0">
                <a:solidFill>
                  <a:srgbClr val="16A34A"/>
                </a:solidFill>
                <a:latin typeface="Calibri"/>
              </a:rPr>
              <a:t>•  </a:t>
            </a:r>
            <a:r>
              <a:rPr sz="1200" b="0" i="0">
                <a:solidFill>
                  <a:srgbClr val="1F2937"/>
                </a:solidFill>
                <a:latin typeface="Calibri"/>
              </a:rPr>
              <a:t>Le vérificateur claim-support et son juge</a:t>
            </a:r>
          </a:p>
          <a:p>
            <a:pPr>
              <a:spcAft>
                <a:spcPts val="200"/>
              </a:spcAft>
            </a:pPr>
            <a:r>
              <a:rPr sz="1200" b="0" i="0">
                <a:solidFill>
                  <a:srgbClr val="16A34A"/>
                </a:solidFill>
                <a:latin typeface="Calibri"/>
              </a:rPr>
              <a:t>•  </a:t>
            </a:r>
            <a:r>
              <a:rPr sz="1200" b="0" i="0">
                <a:solidFill>
                  <a:srgbClr val="1F2937"/>
                </a:solidFill>
                <a:latin typeface="Calibri"/>
              </a:rPr>
              <a:t>Mesurer l'instrument : adjudication en aveugle</a:t>
            </a:r>
          </a:p>
          <a:p>
            <a:pPr>
              <a:spcAft>
                <a:spcPts val="200"/>
              </a:spcAft>
            </a:pPr>
            <a:r>
              <a:rPr sz="1200" b="0" i="0">
                <a:solidFill>
                  <a:srgbClr val="16A34A"/>
                </a:solidFill>
                <a:latin typeface="Calibri"/>
              </a:rPr>
              <a:t>•  </a:t>
            </a:r>
            <a:r>
              <a:rPr sz="1200" b="0" i="0">
                <a:solidFill>
                  <a:srgbClr val="1F2937"/>
                </a:solidFill>
                <a:latin typeface="Calibri"/>
              </a:rPr>
              <a:t>La fonctionnalité tuée : l'auto-réparation</a:t>
            </a:r>
          </a:p>
          <a:p>
            <a:pPr>
              <a:spcAft>
                <a:spcPts val="200"/>
              </a:spcAft>
            </a:pPr>
            <a:r>
              <a:rPr sz="1200" b="0" i="0">
                <a:solidFill>
                  <a:srgbClr val="16A34A"/>
                </a:solidFill>
                <a:latin typeface="Calibri"/>
              </a:rPr>
              <a:t>•  </a:t>
            </a:r>
            <a:r>
              <a:rPr sz="1200" b="0" i="0">
                <a:solidFill>
                  <a:srgbClr val="1F2937"/>
                </a:solidFill>
                <a:latin typeface="Calibri"/>
              </a:rPr>
              <a:t>Protocole de release, 23 releases, audit &amp; campagne de couverture</a:t>
            </a:r>
          </a:p>
        </p:txBody>
      </p:sp>
      <p:sp>
        <p:nvSpPr>
          <p:cNvPr id="8" name="Rounded Rectangle 7"/>
          <p:cNvSpPr/>
          <p:nvPr/>
        </p:nvSpPr>
        <p:spPr>
          <a:xfrm>
            <a:off x="6217920" y="3282696"/>
            <a:ext cx="5394960" cy="2148840"/>
          </a:xfrm>
          <a:prstGeom prst="roundRect">
            <a:avLst>
              <a:gd name="adj" fmla="val 6000"/>
            </a:avLst>
          </a:prstGeom>
          <a:solidFill>
            <a:srgbClr val="F5F5F4"/>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09728"/>
          <a:lstStyle/>
          <a:p>
            <a:pPr algn="ctr"/>
            <a:r>
              <a:rPr sz="1550" b="1" i="0">
                <a:solidFill>
                  <a:srgbClr val="14532D"/>
                </a:solidFill>
                <a:latin typeface="Calibri"/>
              </a:rPr>
              <a:t>IV — Exploitation &amp; bilan</a:t>
            </a:r>
          </a:p>
          <a:p>
            <a:pPr>
              <a:spcAft>
                <a:spcPts val="200"/>
              </a:spcAft>
            </a:pPr>
            <a:r>
              <a:rPr sz="1200" b="0" i="0">
                <a:solidFill>
                  <a:srgbClr val="16A34A"/>
                </a:solidFill>
                <a:latin typeface="Calibri"/>
              </a:rPr>
              <a:t>•  </a:t>
            </a:r>
            <a:r>
              <a:rPr sz="1200" b="0" i="0">
                <a:solidFill>
                  <a:srgbClr val="1F2937"/>
                </a:solidFill>
                <a:latin typeface="Calibri"/>
              </a:rPr>
              <a:t>Interface, déploiement, discipline d'ingénierie</a:t>
            </a:r>
          </a:p>
          <a:p>
            <a:pPr>
              <a:spcAft>
                <a:spcPts val="200"/>
              </a:spcAft>
            </a:pPr>
            <a:r>
              <a:rPr sz="1200" b="0" i="0">
                <a:solidFill>
                  <a:srgbClr val="16A34A"/>
                </a:solidFill>
                <a:latin typeface="Calibri"/>
              </a:rPr>
              <a:t>•  </a:t>
            </a:r>
            <a:r>
              <a:rPr sz="1200" b="0" i="0">
                <a:solidFill>
                  <a:srgbClr val="1F2937"/>
                </a:solidFill>
                <a:latin typeface="Calibri"/>
              </a:rPr>
              <a:t>Synthèse des intersections avec la littérature</a:t>
            </a:r>
          </a:p>
          <a:p>
            <a:pPr>
              <a:spcAft>
                <a:spcPts val="200"/>
              </a:spcAft>
            </a:pPr>
            <a:r>
              <a:rPr sz="1200" b="0" i="0">
                <a:solidFill>
                  <a:srgbClr val="16A34A"/>
                </a:solidFill>
                <a:latin typeface="Calibri"/>
              </a:rPr>
              <a:t>•  </a:t>
            </a:r>
            <a:r>
              <a:rPr sz="1200" b="0" i="0">
                <a:solidFill>
                  <a:srgbClr val="1F2937"/>
                </a:solidFill>
                <a:latin typeface="Calibri"/>
              </a:rPr>
              <a:t>Contributions, limites, généralisation à d'autres corpus sectoriels</a:t>
            </a:r>
          </a:p>
        </p:txBody>
      </p:sp>
      <p:sp>
        <p:nvSpPr>
          <p:cNvPr id="9" name="TextBox 8"/>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10" name="TextBox 9"/>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 · CONTEXTE &amp; FONDEMENTS</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Le thème — synthèse assistée, approche hybride, documents sectoriels</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383280"/>
          </a:xfrm>
          <a:prstGeom prst="rect">
            <a:avLst/>
          </a:prstGeom>
          <a:noFill/>
        </p:spPr>
        <p:txBody>
          <a:bodyPr wrap="square">
            <a:spAutoFit/>
          </a:bodyPr>
          <a:lstStyle/>
          <a:p>
            <a:pPr>
              <a:lnSpc>
                <a:spcPct val="102000"/>
              </a:lnSpc>
              <a:spcAft>
                <a:spcPts val="600"/>
              </a:spcAft>
            </a:pPr>
            <a:r>
              <a:rPr sz="1400" b="1" i="0">
                <a:solidFill>
                  <a:srgbClr val="16A34A"/>
                </a:solidFill>
                <a:latin typeface="Calibri"/>
              </a:rPr>
              <a:t>▪  </a:t>
            </a:r>
            <a:r>
              <a:rPr sz="1400" b="1" i="0">
                <a:solidFill>
                  <a:srgbClr val="1F2937"/>
                </a:solidFill>
                <a:latin typeface="Calibri"/>
              </a:rPr>
              <a:t>Problématique.</a:t>
            </a:r>
            <a:r>
              <a:rPr sz="1400" b="0" i="0">
                <a:solidFill>
                  <a:srgbClr val="1F2937"/>
                </a:solidFill>
                <a:latin typeface="Calibri"/>
              </a:rPr>
              <a:t> Les moteurs de recherche génératifs citent mal : à peine la moitié de leurs phrases sont réellement soutenues par leurs sources (Liu et al. 2023). Sur un corpus sectoriel, long, tabulaire et parfois contradictoire, chaque approximation se paie. Comment produire des synthèses dont chaque affirmation est citée, vérifiée, et honnête sur ce que le corpus ne dit pas ?</a:t>
            </a:r>
          </a:p>
          <a:p>
            <a:pPr>
              <a:lnSpc>
                <a:spcPct val="102000"/>
              </a:lnSpc>
              <a:spcAft>
                <a:spcPts val="600"/>
              </a:spcAft>
            </a:pPr>
            <a:r>
              <a:rPr sz="1400" b="1" i="0">
                <a:solidFill>
                  <a:srgbClr val="16A34A"/>
                </a:solidFill>
                <a:latin typeface="Calibri"/>
              </a:rPr>
              <a:t>▪  </a:t>
            </a:r>
            <a:r>
              <a:rPr sz="1400" b="1" i="0">
                <a:solidFill>
                  <a:srgbClr val="1F2937"/>
                </a:solidFill>
                <a:latin typeface="Calibri"/>
              </a:rPr>
              <a:t>Documents sectoriels.</a:t>
            </a:r>
            <a:r>
              <a:rPr sz="1400" b="0" i="0">
                <a:solidFill>
                  <a:srgbClr val="1F2937"/>
                </a:solidFill>
                <a:latin typeface="Calibri"/>
              </a:rPr>
              <a:t> 273 propositions de financement du Fonds vert pour le climat, soumises aux conseils B.11 (2015) à B.43 (2025), soit 41 550 pages. Un corpus de secteur a ses gabarits, ses identifiants (FP, B.xx, Add.xx) et ses tableaux financiers ; le document le plus long compte 657 pages.</a:t>
            </a:r>
          </a:p>
          <a:p>
            <a:pPr>
              <a:lnSpc>
                <a:spcPct val="102000"/>
              </a:lnSpc>
              <a:spcAft>
                <a:spcPts val="400"/>
              </a:spcAft>
            </a:pPr>
            <a:r>
              <a:rPr sz="1250" b="0" i="0">
                <a:solidFill>
                  <a:srgbClr val="6B7280"/>
                </a:solidFill>
                <a:latin typeface="Calibri"/>
              </a:rPr>
              <a:t>    –  </a:t>
            </a:r>
            <a:r>
              <a:rPr sz="1250" b="0" i="0">
                <a:solidFill>
                  <a:srgbClr val="374151"/>
                </a:solidFill>
                <a:latin typeface="Calibri"/>
              </a:rPr>
              <a:t>Le corpus se contredit lui-même : nous avons mesuré 210 conflits internes dans 120 documents. FP274, par exemple, imprime trois montants GCF différents aux pages 7, 8 et 40.</a:t>
            </a:r>
          </a:p>
          <a:p>
            <a:pPr>
              <a:lnSpc>
                <a:spcPct val="102000"/>
              </a:lnSpc>
              <a:spcAft>
                <a:spcPts val="600"/>
              </a:spcAft>
            </a:pPr>
            <a:r>
              <a:rPr sz="1400" b="1" i="0">
                <a:solidFill>
                  <a:srgbClr val="16A34A"/>
                </a:solidFill>
                <a:latin typeface="Calibri"/>
              </a:rPr>
              <a:t>▪  </a:t>
            </a:r>
            <a:r>
              <a:rPr sz="1400" b="1" i="0">
                <a:solidFill>
                  <a:srgbClr val="1F2937"/>
                </a:solidFill>
                <a:latin typeface="Calibri"/>
              </a:rPr>
              <a:t>Synthèse assistée.</a:t>
            </a:r>
            <a:r>
              <a:rPr sz="1400" b="0" i="0">
                <a:solidFill>
                  <a:srgbClr val="1F2937"/>
                </a:solidFill>
                <a:latin typeface="Calibri"/>
              </a:rPr>
              <a:t> L'utilisateur ne cherche pas seulement un fait isolé : il veut comparer des propositions, agréger par année, par pays ou par entité, obtenir des listes, poursuivre une conversation. Chaque phrase doit rester citée et vérifiable, en français comme en anglais.</a:t>
            </a:r>
          </a:p>
          <a:p>
            <a:pPr>
              <a:lnSpc>
                <a:spcPct val="102000"/>
              </a:lnSpc>
              <a:spcAft>
                <a:spcPts val="600"/>
              </a:spcAft>
            </a:pPr>
            <a:r>
              <a:rPr sz="1400" b="1" i="0">
                <a:solidFill>
                  <a:srgbClr val="16A34A"/>
                </a:solidFill>
                <a:latin typeface="Calibri"/>
              </a:rPr>
              <a:t>▪  </a:t>
            </a:r>
            <a:r>
              <a:rPr sz="1400" b="1" i="0">
                <a:solidFill>
                  <a:srgbClr val="1F2937"/>
                </a:solidFill>
                <a:latin typeface="Calibri"/>
              </a:rPr>
              <a:t>Approche hybride.</a:t>
            </a:r>
            <a:r>
              <a:rPr sz="1400" b="0" i="0">
                <a:solidFill>
                  <a:srgbClr val="1F2937"/>
                </a:solidFill>
                <a:latin typeface="Calibri"/>
              </a:rPr>
              <a:t> À chaque couche, une voie déterministe ou symbolique côtoie une voie neuronale ou générative, et c'est la mesure qui arbitre : BM25 et vecteurs denses, registre de faits et extraits, vérificateur exact et juge LLM, modèle vision-langage et couche texte du PDF.</a:t>
            </a:r>
          </a:p>
          <a:p>
            <a:pPr>
              <a:lnSpc>
                <a:spcPct val="102000"/>
              </a:lnSpc>
              <a:spcAft>
                <a:spcPts val="600"/>
              </a:spcAft>
            </a:pPr>
            <a:r>
              <a:rPr sz="1400" b="1" i="0">
                <a:solidFill>
                  <a:srgbClr val="16A34A"/>
                </a:solidFill>
                <a:latin typeface="Calibri"/>
              </a:rPr>
              <a:t>▪  </a:t>
            </a:r>
            <a:r>
              <a:rPr sz="1400" b="1" i="0">
                <a:solidFill>
                  <a:srgbClr val="1F2937"/>
                </a:solidFill>
                <a:latin typeface="Calibri"/>
              </a:rPr>
              <a:t>Résultat.</a:t>
            </a:r>
            <a:r>
              <a:rPr sz="1400" b="0" i="0">
                <a:solidFill>
                  <a:srgbClr val="1F2937"/>
                </a:solidFill>
                <a:latin typeface="Calibri"/>
              </a:rPr>
              <a:t> La plateforme est en production (fp-gcf.ssa.tg). Sur la dernière paire de releases, 97,0 % puis 97,8 % des affirmations produites sont soutenues par leurs sources, et chaque réponse est auditée par un vérificateur factuel.</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Pour la famille « questions-réponses sur documents », la littérature (Lewis et al. 2020 ; Gao et al. 2023) fait du RAG l'architecture de référence. Le projet la spécialise à un corpus sectoriel, l'hybride à chaque couche et la prolonge jusqu'à la synthèse vérifiée en production.</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51560"/>
            <a:ext cx="2377440" cy="1463040"/>
          </a:xfrm>
          <a:prstGeom prst="rect">
            <a:avLst/>
          </a:prstGeom>
          <a:noFill/>
        </p:spPr>
        <p:txBody>
          <a:bodyPr wrap="square">
            <a:spAutoFit/>
          </a:bodyPr>
          <a:lstStyle/>
          <a:p>
            <a:r>
              <a:rPr sz="8800" b="1" i="0">
                <a:solidFill>
                  <a:srgbClr val="16A34A"/>
                </a:solidFill>
                <a:latin typeface="Calibri"/>
              </a:rPr>
              <a:t>I</a:t>
            </a:r>
          </a:p>
        </p:txBody>
      </p:sp>
      <p:sp>
        <p:nvSpPr>
          <p:cNvPr id="4" name="TextBox 3"/>
          <p:cNvSpPr txBox="1"/>
          <p:nvPr/>
        </p:nvSpPr>
        <p:spPr>
          <a:xfrm>
            <a:off x="548640" y="2606040"/>
            <a:ext cx="10515600" cy="914400"/>
          </a:xfrm>
          <a:prstGeom prst="rect">
            <a:avLst/>
          </a:prstGeom>
          <a:noFill/>
        </p:spPr>
        <p:txBody>
          <a:bodyPr wrap="square">
            <a:spAutoFit/>
          </a:bodyPr>
          <a:lstStyle/>
          <a:p>
            <a:r>
              <a:rPr sz="3400" b="1" i="0">
                <a:solidFill>
                  <a:srgbClr val="FFFFFF"/>
                </a:solidFill>
                <a:latin typeface="Calibri"/>
              </a:rPr>
              <a:t>Fondements — la revue de littérature en un coup d'œil</a:t>
            </a:r>
          </a:p>
        </p:txBody>
      </p:sp>
      <p:sp>
        <p:nvSpPr>
          <p:cNvPr id="5" name="Rectangle 4"/>
          <p:cNvSpPr/>
          <p:nvPr/>
        </p:nvSpPr>
        <p:spPr>
          <a:xfrm>
            <a:off x="548640" y="3429000"/>
            <a:ext cx="2011680" cy="381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794760"/>
            <a:ext cx="10515600" cy="2194560"/>
          </a:xfrm>
          <a:prstGeom prst="rect">
            <a:avLst/>
          </a:prstGeom>
          <a:noFill/>
        </p:spPr>
        <p:txBody>
          <a:bodyPr wrap="square">
            <a:spAutoFit/>
          </a:bodyPr>
          <a:lstStyle/>
          <a:p>
            <a:pPr>
              <a:spcAft>
                <a:spcPts val="800"/>
              </a:spcAft>
            </a:pPr>
            <a:r>
              <a:rPr sz="1500" b="1" i="0">
                <a:solidFill>
                  <a:srgbClr val="16A34A"/>
                </a:solidFill>
                <a:latin typeface="Calibri"/>
              </a:rPr>
              <a:t>—  </a:t>
            </a:r>
            <a:r>
              <a:rPr sz="1500" b="0" i="0">
                <a:solidFill>
                  <a:srgbClr val="D1FAE5"/>
                </a:solidFill>
                <a:latin typeface="Calibri"/>
              </a:rPr>
              <a:t>Le paradigme RAG : récupérer avant de générer (Lewis et al. 2020)</a:t>
            </a:r>
          </a:p>
          <a:p>
            <a:pPr>
              <a:spcAft>
                <a:spcPts val="800"/>
              </a:spcAft>
            </a:pPr>
            <a:r>
              <a:rPr sz="1500" b="1" i="0">
                <a:solidFill>
                  <a:srgbClr val="16A34A"/>
                </a:solidFill>
                <a:latin typeface="Calibri"/>
              </a:rPr>
              <a:t>—  </a:t>
            </a:r>
            <a:r>
              <a:rPr sz="1500" b="0" i="0">
                <a:solidFill>
                  <a:srgbClr val="D1FAE5"/>
                </a:solidFill>
                <a:latin typeface="Calibri"/>
              </a:rPr>
              <a:t>La taxonomie Naive → Advanced → Modular (Gao et al. 2023) — et où se situe le projet</a:t>
            </a:r>
          </a:p>
          <a:p>
            <a:pPr>
              <a:spcAft>
                <a:spcPts val="800"/>
              </a:spcAft>
            </a:pPr>
            <a:r>
              <a:rPr sz="1500" b="1" i="0">
                <a:solidFill>
                  <a:srgbClr val="16A34A"/>
                </a:solidFill>
                <a:latin typeface="Calibri"/>
              </a:rPr>
              <a:t>—  </a:t>
            </a:r>
            <a:r>
              <a:rPr sz="1500" b="0" i="0">
                <a:solidFill>
                  <a:srgbClr val="D1FAE5"/>
                </a:solidFill>
                <a:latin typeface="Calibri"/>
              </a:rPr>
              <a:t>Les niveaux de requêtes L1–L4 (Zhao et al. 2024) — le cadre adopté par la plateforme</a:t>
            </a:r>
          </a:p>
          <a:p>
            <a:pPr>
              <a:spcAft>
                <a:spcPts val="800"/>
              </a:spcAft>
            </a:pPr>
            <a:r>
              <a:rPr sz="1500" b="1" i="0">
                <a:solidFill>
                  <a:srgbClr val="16A34A"/>
                </a:solidFill>
                <a:latin typeface="Calibri"/>
              </a:rPr>
              <a:t>—  </a:t>
            </a:r>
            <a:r>
              <a:rPr sz="1500" b="0" i="0">
                <a:solidFill>
                  <a:srgbClr val="D1FAE5"/>
                </a:solidFill>
                <a:latin typeface="Calibri"/>
              </a:rPr>
              <a:t>La synthèse assistée par IA : attribution, citations et vérifiabilité — et la thèse hybride, couche par couche</a:t>
            </a:r>
          </a:p>
        </p:txBody>
      </p:sp>
      <p:sp>
        <p:nvSpPr>
          <p:cNvPr id="7" name="TextBox 6"/>
          <p:cNvSpPr txBox="1"/>
          <p:nvPr/>
        </p:nvSpPr>
        <p:spPr>
          <a:xfrm>
            <a:off x="548640" y="6510528"/>
            <a:ext cx="7315200" cy="274320"/>
          </a:xfrm>
          <a:prstGeom prst="rect">
            <a:avLst/>
          </a:prstGeom>
          <a:noFill/>
        </p:spPr>
        <p:txBody>
          <a:bodyPr wrap="square">
            <a:spAutoFit/>
          </a:bodyPr>
          <a:lstStyle/>
          <a:p>
            <a:r>
              <a:rPr sz="900" b="0" i="0">
                <a:solidFill>
                  <a:srgbClr val="A7C4AF"/>
                </a:solidFill>
                <a:latin typeface="Calibri"/>
              </a:rPr>
              <a:t>Synthèse assistée par RAG · approche hybride · documents sectoriels GCF</a:t>
            </a:r>
          </a:p>
        </p:txBody>
      </p:sp>
      <p:sp>
        <p:nvSpPr>
          <p:cNvPr id="8" name="TextBox 7"/>
          <p:cNvSpPr txBox="1"/>
          <p:nvPr/>
        </p:nvSpPr>
        <p:spPr>
          <a:xfrm>
            <a:off x="11292840" y="6510528"/>
            <a:ext cx="640080" cy="274320"/>
          </a:xfrm>
          <a:prstGeom prst="rect">
            <a:avLst/>
          </a:prstGeom>
          <a:noFill/>
        </p:spPr>
        <p:txBody>
          <a:bodyPr wrap="square">
            <a:spAutoFit/>
          </a:bodyPr>
          <a:lstStyle/>
          <a:p>
            <a:pPr algn="r"/>
            <a:r>
              <a:rPr sz="900" b="0" i="0">
                <a:solidFill>
                  <a:srgbClr val="A7C4AF"/>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 · FONDEMENTS</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Le paradigme RAG et la synthèse assistée par IA</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931920"/>
          </a:xfrm>
          <a:prstGeom prst="rect">
            <a:avLst/>
          </a:prstGeom>
          <a:noFill/>
        </p:spPr>
        <p:txBody>
          <a:bodyPr wrap="square">
            <a:spAutoFit/>
          </a:bodyPr>
          <a:lstStyle/>
          <a:p>
            <a:pPr>
              <a:lnSpc>
                <a:spcPct val="102000"/>
              </a:lnSpc>
              <a:spcAft>
                <a:spcPts val="600"/>
              </a:spcAft>
            </a:pPr>
            <a:r>
              <a:rPr sz="1450" b="1" i="0">
                <a:solidFill>
                  <a:srgbClr val="16A34A"/>
                </a:solidFill>
                <a:latin typeface="Calibri"/>
              </a:rPr>
              <a:t>▪  </a:t>
            </a:r>
            <a:r>
              <a:rPr sz="1450" b="1" i="0">
                <a:solidFill>
                  <a:srgbClr val="1F2937"/>
                </a:solidFill>
                <a:latin typeface="Calibri"/>
              </a:rPr>
              <a:t>Le RAG</a:t>
            </a:r>
            <a:r>
              <a:rPr sz="1450" b="0" i="0">
                <a:solidFill>
                  <a:srgbClr val="1F2937"/>
                </a:solidFill>
                <a:latin typeface="Calibri"/>
              </a:rPr>
              <a:t> (Lewis et al. 2020 ; REALM, Guu et al. 2020) couple un récupérateur, qui cherche des passages dans un index, et un générateur, un grand modèle de langage. Les connaissances vivent dans le corpus, pas dans les poids du modèle.</a:t>
            </a:r>
          </a:p>
          <a:p>
            <a:pPr>
              <a:lnSpc>
                <a:spcPct val="102000"/>
              </a:lnSpc>
              <a:spcAft>
                <a:spcPts val="400"/>
              </a:spcAft>
            </a:pPr>
            <a:r>
              <a:rPr sz="1300" b="0" i="0">
                <a:solidFill>
                  <a:srgbClr val="6B7280"/>
                </a:solidFill>
                <a:latin typeface="Calibri"/>
              </a:rPr>
              <a:t>    –  </a:t>
            </a:r>
            <a:r>
              <a:rPr sz="1300" b="0" i="0">
                <a:solidFill>
                  <a:srgbClr val="374151"/>
                </a:solidFill>
                <a:latin typeface="Calibri"/>
              </a:rPr>
              <a:t>La récupération dense repose sur des bi-encodeurs : DPR (Karpukhin et al. 2020), Sentence-BERT (Reimers et Gurevych 2019).</a:t>
            </a:r>
          </a:p>
          <a:p>
            <a:pPr>
              <a:lnSpc>
                <a:spcPct val="102000"/>
              </a:lnSpc>
              <a:spcAft>
                <a:spcPts val="400"/>
              </a:spcAft>
            </a:pPr>
            <a:r>
              <a:rPr sz="1300" b="0" i="0">
                <a:solidFill>
                  <a:srgbClr val="6B7280"/>
                </a:solidFill>
                <a:latin typeface="Calibri"/>
              </a:rPr>
              <a:t>    –  </a:t>
            </a:r>
            <a:r>
              <a:rPr sz="1300" b="0" i="0">
                <a:solidFill>
                  <a:srgbClr val="374151"/>
                </a:solidFill>
                <a:latin typeface="Calibri"/>
              </a:rPr>
              <a:t>Trois motivations : réduire l'hallucination (Ji et al. 2023 ; Shuster et al. 2021), actualiser les connaissances sans réentraîner, et tracer chaque affirmation vers sa source.</a:t>
            </a:r>
          </a:p>
          <a:p>
            <a:pPr>
              <a:lnSpc>
                <a:spcPct val="102000"/>
              </a:lnSpc>
              <a:spcAft>
                <a:spcPts val="600"/>
              </a:spcAft>
            </a:pPr>
            <a:r>
              <a:rPr sz="1450" b="1" i="0">
                <a:solidFill>
                  <a:srgbClr val="16A34A"/>
                </a:solidFill>
                <a:latin typeface="Calibri"/>
              </a:rPr>
              <a:t>▪  </a:t>
            </a:r>
            <a:r>
              <a:rPr sz="1450" b="1" i="0">
                <a:solidFill>
                  <a:srgbClr val="1F2937"/>
                </a:solidFill>
                <a:latin typeface="Calibri"/>
              </a:rPr>
              <a:t>La synthèse assistée par IA</a:t>
            </a:r>
            <a:r>
              <a:rPr sz="1450" b="0" i="0">
                <a:solidFill>
                  <a:srgbClr val="1F2937"/>
                </a:solidFill>
                <a:latin typeface="Calibri"/>
              </a:rPr>
              <a:t> vise des réponses attribuées : WebGPT (Nakano et al. 2021), GopherCite (Menick et al. 2022), le cadre AIS (Rashkin et al. 2021).</a:t>
            </a:r>
          </a:p>
          <a:p>
            <a:pPr>
              <a:lnSpc>
                <a:spcPct val="102000"/>
              </a:lnSpc>
              <a:spcAft>
                <a:spcPts val="400"/>
              </a:spcAft>
            </a:pPr>
            <a:r>
              <a:rPr sz="1300" b="0" i="0">
                <a:solidFill>
                  <a:srgbClr val="6B7280"/>
                </a:solidFill>
                <a:latin typeface="Calibri"/>
              </a:rPr>
              <a:t>    –  </a:t>
            </a:r>
            <a:r>
              <a:rPr sz="1300" b="0" i="0">
                <a:solidFill>
                  <a:srgbClr val="374151"/>
                </a:solidFill>
                <a:latin typeface="Calibri"/>
              </a:rPr>
              <a:t>Le constat empirique est sévère : dans les moteurs génératifs, environ 52 % des phrases seulement sont pleinement soutenues par leurs citations (Liu et al. 2023).</a:t>
            </a:r>
          </a:p>
          <a:p>
            <a:pPr>
              <a:lnSpc>
                <a:spcPct val="102000"/>
              </a:lnSpc>
              <a:spcAft>
                <a:spcPts val="600"/>
              </a:spcAft>
            </a:pPr>
            <a:r>
              <a:rPr sz="1450" b="1" i="0">
                <a:solidFill>
                  <a:srgbClr val="16A34A"/>
                </a:solidFill>
                <a:latin typeface="Calibri"/>
              </a:rPr>
              <a:t>▪  </a:t>
            </a:r>
            <a:r>
              <a:rPr sz="1450" b="1" i="0">
                <a:solidFill>
                  <a:srgbClr val="1F2937"/>
                </a:solidFill>
                <a:latin typeface="Calibri"/>
              </a:rPr>
              <a:t>Pour le projet</a:t>
            </a:r>
            <a:r>
              <a:rPr sz="1450" b="0" i="0">
                <a:solidFill>
                  <a:srgbClr val="1F2937"/>
                </a:solidFill>
                <a:latin typeface="Calibri"/>
              </a:rPr>
              <a:t>, la conséquence est simple : la citation n'est pas un ornement, c'est un contrat. D'où la citation à la phrase, l'ancrage visuel et la vérification affirmation par affirmation.</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Lewis et al. 2020 · Guu et al. 2020 · Karpukhin et al. 2020 · Ji et al. 2023 · Nakano et al. 2021 · Menick et al. 2022 · Rashkin et al. 2021 · Liu et al. 2023.</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 · FONDEMENTS</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Naive → Advanced → Modular RAG : la trajectoire du projet</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271016"/>
          <a:ext cx="11091670" cy="1463040"/>
        </p:xfrm>
        <a:graphic>
          <a:graphicData uri="http://schemas.openxmlformats.org/drawingml/2006/table">
            <a:tbl>
              <a:tblPr>
                <a:tableStyleId>{5C22544A-7EE6-4342-B048-85BDC9FD1C3A}</a:tableStyleId>
              </a:tblPr>
              <a:tblGrid>
                <a:gridCol w="1674214"/>
                <a:gridCol w="3766982"/>
                <a:gridCol w="5650474"/>
              </a:tblGrid>
              <a:tr h="365760">
                <a:tc>
                  <a:txBody>
                    <a:bodyPr wrap="square"/>
                    <a:lstStyle/>
                    <a:p>
                      <a:pPr>
                        <a:lnSpc>
                          <a:spcPct val="98000"/>
                        </a:lnSpc>
                      </a:pPr>
                      <a:r>
                        <a:rPr sz="1150" b="1" i="0">
                          <a:solidFill>
                            <a:srgbClr val="FFFFFF"/>
                          </a:solidFill>
                          <a:latin typeface="Calibri"/>
                        </a:rPr>
                        <a:t>Étape (Gao et al. 2023)</a:t>
                      </a:r>
                    </a:p>
                  </a:txBody>
                  <a:tcPr marL="54864" marR="54864" marT="27432" marB="27432" anchor="ctr">
                    <a:solidFill>
                      <a:srgbClr val="166534"/>
                    </a:solidFill>
                  </a:tcPr>
                </a:tc>
                <a:tc>
                  <a:txBody>
                    <a:bodyPr wrap="square"/>
                    <a:lstStyle/>
                    <a:p>
                      <a:pPr algn="l">
                        <a:lnSpc>
                          <a:spcPct val="98000"/>
                        </a:lnSpc>
                      </a:pPr>
                      <a:r>
                        <a:rPr sz="1150" b="1" i="0">
                          <a:solidFill>
                            <a:srgbClr val="FFFFFF"/>
                          </a:solidFill>
                          <a:latin typeface="Calibri"/>
                        </a:rPr>
                        <a:t>Ce que dit la littérature</a:t>
                      </a:r>
                    </a:p>
                  </a:txBody>
                  <a:tcPr marL="54864" marR="54864" marT="27432" marB="27432" anchor="ctr">
                    <a:solidFill>
                      <a:srgbClr val="166534"/>
                    </a:solidFill>
                  </a:tcPr>
                </a:tc>
                <a:tc>
                  <a:txBody>
                    <a:bodyPr wrap="square"/>
                    <a:lstStyle/>
                    <a:p>
                      <a:pPr algn="l">
                        <a:lnSpc>
                          <a:spcPct val="98000"/>
                        </a:lnSpc>
                      </a:pPr>
                      <a:r>
                        <a:rPr sz="1150" b="1" i="0">
                          <a:solidFill>
                            <a:srgbClr val="FFFFFF"/>
                          </a:solidFill>
                          <a:latin typeface="Calibri"/>
                        </a:rPr>
                        <a:t>Dans le projet</a:t>
                      </a:r>
                    </a:p>
                  </a:txBody>
                  <a:tcPr marL="54864" marR="54864" marT="27432" marB="27432" anchor="ctr">
                    <a:solidFill>
                      <a:srgbClr val="166534"/>
                    </a:solidFill>
                  </a:tcPr>
                </a:tc>
              </a:tr>
              <a:tr h="365760">
                <a:tc>
                  <a:txBody>
                    <a:bodyPr wrap="square"/>
                    <a:lstStyle/>
                    <a:p>
                      <a:pPr>
                        <a:lnSpc>
                          <a:spcPct val="98000"/>
                        </a:lnSpc>
                      </a:pPr>
                      <a:r>
                        <a:rPr sz="1150" b="0" i="0">
                          <a:solidFill>
                            <a:srgbClr val="1F2937"/>
                          </a:solidFill>
                          <a:latin typeface="Calibri"/>
                        </a:rPr>
                        <a:t>Naive RAG</a:t>
                      </a:r>
                    </a:p>
                  </a:txBody>
                  <a:tcPr marL="54864" marR="54864" marT="27432" marB="27432" anchor="ctr">
                    <a:solidFill>
                      <a:srgbClr val="FFFFFF"/>
                    </a:solidFill>
                  </a:tcPr>
                </a:tc>
                <a:tc>
                  <a:txBody>
                    <a:bodyPr wrap="square"/>
                    <a:lstStyle/>
                    <a:p>
                      <a:pPr algn="l">
                        <a:lnSpc>
                          <a:spcPct val="98000"/>
                        </a:lnSpc>
                      </a:pPr>
                      <a:r>
                        <a:rPr sz="1150" b="0" i="0">
                          <a:solidFill>
                            <a:srgbClr val="1F2937"/>
                          </a:solidFill>
                          <a:latin typeface="Calibri"/>
                        </a:rPr>
                        <a:t>Indexer, récupérer les k meilleurs passages, générer. C'est fragile : rappel médiocre, contexte bruité, aucune garantie de fidélité.</a:t>
                      </a:r>
                    </a:p>
                  </a:txBody>
                  <a:tcPr marL="54864" marR="54864" marT="27432" marB="27432" anchor="ctr">
                    <a:solidFill>
                      <a:srgbClr val="FFFFFF"/>
                    </a:solidFill>
                  </a:tcPr>
                </a:tc>
                <a:tc>
                  <a:txBody>
                    <a:bodyPr wrap="square"/>
                    <a:lstStyle/>
                    <a:p>
                      <a:pPr algn="l">
                        <a:lnSpc>
                          <a:spcPct val="98000"/>
                        </a:lnSpc>
                      </a:pPr>
                      <a:r>
                        <a:rPr sz="1150" b="0" i="0">
                          <a:solidFill>
                            <a:srgbClr val="1F2937"/>
                          </a:solidFill>
                          <a:latin typeface="Calibri"/>
                        </a:rPr>
                        <a:t>Le prototype d'août 2024 : une chaîne LangChain classique sur Chroma, des embeddings HuggingFace, un découpage 1000/200 et Claude 3.5. Il fonctionnait, mais rien n'était vérifiable.</a:t>
                      </a:r>
                    </a:p>
                  </a:txBody>
                  <a:tcPr marL="54864" marR="54864" marT="27432" marB="27432" anchor="ctr">
                    <a:solidFill>
                      <a:srgbClr val="FFFFFF"/>
                    </a:solidFill>
                  </a:tcPr>
                </a:tc>
              </a:tr>
              <a:tr h="365760">
                <a:tc>
                  <a:txBody>
                    <a:bodyPr wrap="square"/>
                    <a:lstStyle/>
                    <a:p>
                      <a:pPr>
                        <a:lnSpc>
                          <a:spcPct val="98000"/>
                        </a:lnSpc>
                      </a:pPr>
                      <a:r>
                        <a:rPr sz="1150" b="0" i="0">
                          <a:solidFill>
                            <a:srgbClr val="1F2937"/>
                          </a:solidFill>
                          <a:latin typeface="Calibri"/>
                        </a:rPr>
                        <a:t>Advanced RAG</a:t>
                      </a:r>
                    </a:p>
                  </a:txBody>
                  <a:tcPr marL="54864" marR="54864" marT="27432" marB="27432" anchor="ctr">
                    <a:solidFill>
                      <a:srgbClr val="F5F5F4"/>
                    </a:solidFill>
                  </a:tcPr>
                </a:tc>
                <a:tc>
                  <a:txBody>
                    <a:bodyPr wrap="square"/>
                    <a:lstStyle/>
                    <a:p>
                      <a:pPr algn="l">
                        <a:lnSpc>
                          <a:spcPct val="98000"/>
                        </a:lnSpc>
                      </a:pPr>
                      <a:r>
                        <a:rPr sz="1150" b="0" i="0">
                          <a:solidFill>
                            <a:srgbClr val="1F2937"/>
                          </a:solidFill>
                          <a:latin typeface="Calibri"/>
                        </a:rPr>
                        <a:t>Optimiser avant, pendant et après la récupération : nettoyage du corpus, réécriture de la requête, recherche hybride, reclassement.</a:t>
                      </a:r>
                    </a:p>
                  </a:txBody>
                  <a:tcPr marL="54864" marR="54864" marT="27432" marB="27432" anchor="ctr">
                    <a:solidFill>
                      <a:srgbClr val="F5F5F4"/>
                    </a:solidFill>
                  </a:tcPr>
                </a:tc>
                <a:tc>
                  <a:txBody>
                    <a:bodyPr wrap="square"/>
                    <a:lstStyle/>
                    <a:p>
                      <a:pPr algn="l">
                        <a:lnSpc>
                          <a:spcPct val="98000"/>
                        </a:lnSpc>
                      </a:pPr>
                      <a:r>
                        <a:rPr sz="1150" b="0" i="0">
                          <a:solidFill>
                            <a:srgbClr val="1F2937"/>
                          </a:solidFill>
                          <a:latin typeface="Calibri"/>
                        </a:rPr>
                        <a:t>Extraction par modèle vision-langage, tokenizer d'identifiants, récupération hybride BM25 et dense fusionnée par RRF, reclassement par cross-encoder, réécriture conversationnelle.</a:t>
                      </a:r>
                    </a:p>
                  </a:txBody>
                  <a:tcPr marL="54864" marR="54864" marT="27432" marB="27432" anchor="ctr">
                    <a:solidFill>
                      <a:srgbClr val="F5F5F4"/>
                    </a:solidFill>
                  </a:tcPr>
                </a:tc>
              </a:tr>
              <a:tr h="365760">
                <a:tc>
                  <a:txBody>
                    <a:bodyPr wrap="square"/>
                    <a:lstStyle/>
                    <a:p>
                      <a:pPr>
                        <a:lnSpc>
                          <a:spcPct val="98000"/>
                        </a:lnSpc>
                      </a:pPr>
                      <a:r>
                        <a:rPr sz="1150" b="0" i="0">
                          <a:solidFill>
                            <a:srgbClr val="1F2937"/>
                          </a:solidFill>
                          <a:latin typeface="Calibri"/>
                        </a:rPr>
                        <a:t>Modular RAG</a:t>
                      </a:r>
                    </a:p>
                  </a:txBody>
                  <a:tcPr marL="54864" marR="54864" marT="27432" marB="27432" anchor="ctr">
                    <a:solidFill>
                      <a:srgbClr val="FFFFFF"/>
                    </a:solidFill>
                  </a:tcPr>
                </a:tc>
                <a:tc>
                  <a:txBody>
                    <a:bodyPr wrap="square"/>
                    <a:lstStyle/>
                    <a:p>
                      <a:pPr algn="l">
                        <a:lnSpc>
                          <a:spcPct val="98000"/>
                        </a:lnSpc>
                      </a:pPr>
                      <a:r>
                        <a:rPr sz="1150" b="0" i="0">
                          <a:solidFill>
                            <a:srgbClr val="1F2937"/>
                          </a:solidFill>
                          <a:latin typeface="Calibri"/>
                        </a:rPr>
                        <a:t>Des modules orchestrés : routage, mémoire, outils de recherche spécialisés, boucles de vérification.</a:t>
                      </a:r>
                    </a:p>
                  </a:txBody>
                  <a:tcPr marL="54864" marR="54864" marT="27432" marB="27432" anchor="ctr">
                    <a:solidFill>
                      <a:srgbClr val="FFFFFF"/>
                    </a:solidFill>
                  </a:tcPr>
                </a:tc>
                <a:tc>
                  <a:txBody>
                    <a:bodyPr wrap="square"/>
                    <a:lstStyle/>
                    <a:p>
                      <a:pPr algn="l">
                        <a:lnSpc>
                          <a:spcPct val="98000"/>
                        </a:lnSpc>
                      </a:pPr>
                      <a:r>
                        <a:rPr sz="1150" b="0" i="0">
                          <a:solidFill>
                            <a:srgbClr val="1F2937"/>
                          </a:solidFill>
                          <a:latin typeface="Calibri"/>
                        </a:rPr>
                        <a:t>Un conducteur qui choisit entre conversation et recherche, un planificateur de comparaisons, un registre de faits, des sondes de pages, un vérificateur et son juge. Chaque module a son propre commutateur.</a:t>
                      </a:r>
                    </a:p>
                  </a:txBody>
                  <a:tcPr marL="54864" marR="54864" marT="27432" marB="27432" anchor="ctr">
                    <a:solidFill>
                      <a:srgbClr val="FFFFFF"/>
                    </a:solidFill>
                  </a:tcPr>
                </a:tc>
              </a:tr>
            </a:tbl>
          </a:graphicData>
        </a:graphic>
      </p:graphicFrame>
      <p:sp>
        <p:nvSpPr>
          <p:cNvPr id="7" name="TextBox 6"/>
          <p:cNvSpPr txBox="1"/>
          <p:nvPr/>
        </p:nvSpPr>
        <p:spPr>
          <a:xfrm>
            <a:off x="548640" y="5074920"/>
            <a:ext cx="11091672" cy="548640"/>
          </a:xfrm>
          <a:prstGeom prst="rect">
            <a:avLst/>
          </a:prstGeom>
          <a:noFill/>
        </p:spPr>
        <p:txBody>
          <a:bodyPr wrap="square">
            <a:spAutoFit/>
          </a:bodyPr>
          <a:lstStyle/>
          <a:p>
            <a:r>
              <a:rPr sz="1150" b="0" i="1">
                <a:solidFill>
                  <a:srgbClr val="6B7280"/>
                </a:solidFill>
                <a:latin typeface="Calibri"/>
              </a:rPr>
              <a:t>Seul le découpage 1000/200 a survécu du prototype à la plateforme. Tout le reste a été remplacé par des composants mesurés.</a:t>
            </a:r>
          </a:p>
        </p:txBody>
      </p:sp>
      <p:sp>
        <p:nvSpPr>
          <p:cNvPr id="8" name="Rounded Rectangle 7"/>
          <p:cNvSpPr/>
          <p:nvPr/>
        </p:nvSpPr>
        <p:spPr>
          <a:xfrm>
            <a:off x="548640" y="580644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Le survey de Gao et al. 2023 décrit une évolution du domaine ; le projet l'a rejouée en accéléré, du prototype naïf de 2024 au système modulaire actuel.</a:t>
            </a:r>
          </a:p>
        </p:txBody>
      </p:sp>
      <p:sp>
        <p:nvSpPr>
          <p:cNvPr id="9" name="TextBox 8"/>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10" name="TextBox 9"/>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 · FONDEMENTS</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Les niveaux de requêtes L1–L4 — le cadre adopté</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271016"/>
          <a:ext cx="11091671" cy="1828800"/>
        </p:xfrm>
        <a:graphic>
          <a:graphicData uri="http://schemas.openxmlformats.org/drawingml/2006/table">
            <a:tbl>
              <a:tblPr>
                <a:tableStyleId>{5C22544A-7EE6-4342-B048-85BDC9FD1C3A}</a:tableStyleId>
              </a:tblPr>
              <a:tblGrid>
                <a:gridCol w="2016667"/>
                <a:gridCol w="2750001"/>
                <a:gridCol w="6325003"/>
              </a:tblGrid>
              <a:tr h="365760">
                <a:tc>
                  <a:txBody>
                    <a:bodyPr wrap="square"/>
                    <a:lstStyle/>
                    <a:p>
                      <a:pPr>
                        <a:lnSpc>
                          <a:spcPct val="98000"/>
                        </a:lnSpc>
                      </a:pPr>
                      <a:r>
                        <a:rPr sz="1100" b="1" i="0">
                          <a:solidFill>
                            <a:srgbClr val="FFFFFF"/>
                          </a:solidFill>
                          <a:latin typeface="Calibri"/>
                        </a:rPr>
                        <a:t>Niveau (Zhao et al. 2024)</a:t>
                      </a:r>
                    </a:p>
                  </a:txBody>
                  <a:tcPr marL="54864" marR="54864" marT="27432" marB="27432" anchor="ctr">
                    <a:solidFill>
                      <a:srgbClr val="166534"/>
                    </a:solidFill>
                  </a:tcPr>
                </a:tc>
                <a:tc>
                  <a:txBody>
                    <a:bodyPr wrap="square"/>
                    <a:lstStyle/>
                    <a:p>
                      <a:pPr algn="l">
                        <a:lnSpc>
                          <a:spcPct val="98000"/>
                        </a:lnSpc>
                      </a:pPr>
                      <a:r>
                        <a:rPr sz="1100" b="1" i="0">
                          <a:solidFill>
                            <a:srgbClr val="FFFFFF"/>
                          </a:solidFill>
                          <a:latin typeface="Calibri"/>
                        </a:rPr>
                        <a:t>Définition</a:t>
                      </a:r>
                    </a:p>
                  </a:txBody>
                  <a:tcPr marL="54864" marR="54864" marT="27432" marB="27432" anchor="ctr">
                    <a:solidFill>
                      <a:srgbClr val="166534"/>
                    </a:solidFill>
                  </a:tcPr>
                </a:tc>
                <a:tc>
                  <a:txBody>
                    <a:bodyPr wrap="square"/>
                    <a:lstStyle/>
                    <a:p>
                      <a:pPr algn="l">
                        <a:lnSpc>
                          <a:spcPct val="98000"/>
                        </a:lnSpc>
                      </a:pPr>
                      <a:r>
                        <a:rPr sz="1100" b="1" i="0">
                          <a:solidFill>
                            <a:srgbClr val="FFFFFF"/>
                          </a:solidFill>
                          <a:latin typeface="Calibri"/>
                        </a:rPr>
                        <a:t>Position de la plateforme (auto-évaluée, puis auditée)</a:t>
                      </a:r>
                    </a:p>
                  </a:txBody>
                  <a:tcPr marL="54864" marR="54864" marT="27432" marB="27432" anchor="ctr">
                    <a:solidFill>
                      <a:srgbClr val="166534"/>
                    </a:solidFill>
                  </a:tcPr>
                </a:tc>
              </a:tr>
              <a:tr h="365760">
                <a:tc>
                  <a:txBody>
                    <a:bodyPr wrap="square"/>
                    <a:lstStyle/>
                    <a:p>
                      <a:pPr>
                        <a:lnSpc>
                          <a:spcPct val="98000"/>
                        </a:lnSpc>
                      </a:pPr>
                      <a:r>
                        <a:rPr sz="1100" b="0" i="0">
                          <a:solidFill>
                            <a:srgbClr val="1F2937"/>
                          </a:solidFill>
                          <a:latin typeface="Calibri"/>
                        </a:rPr>
                        <a:t>L1 · faits explicites</a:t>
                      </a:r>
                    </a:p>
                  </a:txBody>
                  <a:tcPr marL="54864" marR="54864" marT="27432" marB="27432" anchor="ctr">
                    <a:solidFill>
                      <a:srgbClr val="FFFFFF"/>
                    </a:solidFill>
                  </a:tcPr>
                </a:tc>
                <a:tc>
                  <a:txBody>
                    <a:bodyPr wrap="square"/>
                    <a:lstStyle/>
                    <a:p>
                      <a:pPr algn="l">
                        <a:lnSpc>
                          <a:spcPct val="98000"/>
                        </a:lnSpc>
                      </a:pPr>
                      <a:r>
                        <a:rPr sz="1100" b="0" i="0">
                          <a:solidFill>
                            <a:srgbClr val="1F2937"/>
                          </a:solidFill>
                          <a:latin typeface="Calibri"/>
                        </a:rPr>
                        <a:t>La réponse est écrite quelque part dans le corpus.</a:t>
                      </a:r>
                    </a:p>
                  </a:txBody>
                  <a:tcPr marL="54864" marR="54864" marT="27432" marB="27432" anchor="ctr">
                    <a:solidFill>
                      <a:srgbClr val="FFFFFF"/>
                    </a:solidFill>
                  </a:tcPr>
                </a:tc>
                <a:tc>
                  <a:txBody>
                    <a:bodyPr wrap="square"/>
                    <a:lstStyle/>
                    <a:p>
                      <a:pPr algn="l">
                        <a:lnSpc>
                          <a:spcPct val="98000"/>
                        </a:lnSpc>
                      </a:pPr>
                      <a:r>
                        <a:rPr sz="1100" b="0" i="0">
                          <a:solidFill>
                            <a:srgbClr val="1F2937"/>
                          </a:solidFill>
                          <a:latin typeface="Calibri"/>
                        </a:rPr>
                        <a:t>Couvert. Récupération hybride sur 178 456 segments, registre de faits avec provenance, vérification par affirmation ; 1 195 paires (document, champ) sont servables directement.</a:t>
                      </a:r>
                    </a:p>
                  </a:txBody>
                  <a:tcPr marL="54864" marR="54864" marT="27432" marB="27432" anchor="ctr">
                    <a:solidFill>
                      <a:srgbClr val="FFFFFF"/>
                    </a:solidFill>
                  </a:tcPr>
                </a:tc>
              </a:tr>
              <a:tr h="365760">
                <a:tc>
                  <a:txBody>
                    <a:bodyPr wrap="square"/>
                    <a:lstStyle/>
                    <a:p>
                      <a:pPr>
                        <a:lnSpc>
                          <a:spcPct val="98000"/>
                        </a:lnSpc>
                      </a:pPr>
                      <a:r>
                        <a:rPr sz="1100" b="0" i="0">
                          <a:solidFill>
                            <a:srgbClr val="1F2937"/>
                          </a:solidFill>
                          <a:latin typeface="Calibri"/>
                        </a:rPr>
                        <a:t>L2 · faits implicites</a:t>
                      </a:r>
                    </a:p>
                  </a:txBody>
                  <a:tcPr marL="54864" marR="54864" marT="27432" marB="27432" anchor="ctr">
                    <a:solidFill>
                      <a:srgbClr val="F5F5F4"/>
                    </a:solidFill>
                  </a:tcPr>
                </a:tc>
                <a:tc>
                  <a:txBody>
                    <a:bodyPr wrap="square"/>
                    <a:lstStyle/>
                    <a:p>
                      <a:pPr algn="l">
                        <a:lnSpc>
                          <a:spcPct val="98000"/>
                        </a:lnSpc>
                      </a:pPr>
                      <a:r>
                        <a:rPr sz="1100" b="0" i="0">
                          <a:solidFill>
                            <a:srgbClr val="1F2937"/>
                          </a:solidFill>
                          <a:latin typeface="Calibri"/>
                        </a:rPr>
                        <a:t>Il faut combiner plusieurs passages ou plusieurs documents.</a:t>
                      </a:r>
                    </a:p>
                  </a:txBody>
                  <a:tcPr marL="54864" marR="54864" marT="27432" marB="27432" anchor="ctr">
                    <a:solidFill>
                      <a:srgbClr val="F5F5F4"/>
                    </a:solidFill>
                  </a:tcPr>
                </a:tc>
                <a:tc>
                  <a:txBody>
                    <a:bodyPr wrap="square"/>
                    <a:lstStyle/>
                    <a:p>
                      <a:pPr algn="l">
                        <a:lnSpc>
                          <a:spcPct val="98000"/>
                        </a:lnSpc>
                      </a:pPr>
                      <a:r>
                        <a:rPr sz="1100" b="0" i="0">
                          <a:solidFill>
                            <a:srgbClr val="1F2937"/>
                          </a:solidFill>
                          <a:latin typeface="Calibri"/>
                        </a:rPr>
                        <a:t>Couvert. Décomposition avec quotas par document, matrices document × champ, index inverses par pays, entité et conseil, agrégats calculés plutôt qu'échantillonnés. La classe « agrégat » passe de 91,5 % à 95,2 % sur la paire R23.</a:t>
                      </a:r>
                    </a:p>
                  </a:txBody>
                  <a:tcPr marL="54864" marR="54864" marT="27432" marB="27432" anchor="ctr">
                    <a:solidFill>
                      <a:srgbClr val="F5F5F4"/>
                    </a:solidFill>
                  </a:tcPr>
                </a:tc>
              </a:tr>
              <a:tr h="365760">
                <a:tc>
                  <a:txBody>
                    <a:bodyPr wrap="square"/>
                    <a:lstStyle/>
                    <a:p>
                      <a:pPr>
                        <a:lnSpc>
                          <a:spcPct val="98000"/>
                        </a:lnSpc>
                      </a:pPr>
                      <a:r>
                        <a:rPr sz="1100" b="0" i="0">
                          <a:solidFill>
                            <a:srgbClr val="1F2937"/>
                          </a:solidFill>
                          <a:latin typeface="Calibri"/>
                        </a:rPr>
                        <a:t>L3 · rationales interprétables</a:t>
                      </a:r>
                    </a:p>
                  </a:txBody>
                  <a:tcPr marL="54864" marR="54864" marT="27432" marB="27432" anchor="ctr">
                    <a:solidFill>
                      <a:srgbClr val="FFFFFF"/>
                    </a:solidFill>
                  </a:tcPr>
                </a:tc>
                <a:tc>
                  <a:txBody>
                    <a:bodyPr wrap="square"/>
                    <a:lstStyle/>
                    <a:p>
                      <a:pPr algn="l">
                        <a:lnSpc>
                          <a:spcPct val="98000"/>
                        </a:lnSpc>
                      </a:pPr>
                      <a:r>
                        <a:rPr sz="1100" b="0" i="0">
                          <a:solidFill>
                            <a:srgbClr val="1F2937"/>
                          </a:solidFill>
                          <a:latin typeface="Calibri"/>
                        </a:rPr>
                        <a:t>Appliquer des règles ou des procédures documentées.</a:t>
                      </a:r>
                    </a:p>
                  </a:txBody>
                  <a:tcPr marL="54864" marR="54864" marT="27432" marB="27432" anchor="ctr">
                    <a:solidFill>
                      <a:srgbClr val="FFFFFF"/>
                    </a:solidFill>
                  </a:tcPr>
                </a:tc>
                <a:tc>
                  <a:txBody>
                    <a:bodyPr wrap="square"/>
                    <a:lstStyle/>
                    <a:p>
                      <a:pPr algn="l">
                        <a:lnSpc>
                          <a:spcPct val="98000"/>
                        </a:lnSpc>
                      </a:pPr>
                      <a:r>
                        <a:rPr sz="1100" b="0" i="0">
                          <a:solidFill>
                            <a:srgbClr val="1F2937"/>
                          </a:solidFill>
                          <a:latin typeface="Calibri"/>
                        </a:rPr>
                        <a:t>Couvert dans le corpus des propositions : la classe « procédure » obtient 83 sur 84 sur la paire R23. L'élargissement aux politiques du GCF (phase 5a) attend l'acquisition des PDF.</a:t>
                      </a:r>
                    </a:p>
                  </a:txBody>
                  <a:tcPr marL="54864" marR="54864" marT="27432" marB="27432" anchor="ctr">
                    <a:solidFill>
                      <a:srgbClr val="FFFFFF"/>
                    </a:solidFill>
                  </a:tcPr>
                </a:tc>
              </a:tr>
              <a:tr h="365760">
                <a:tc>
                  <a:txBody>
                    <a:bodyPr wrap="square"/>
                    <a:lstStyle/>
                    <a:p>
                      <a:pPr>
                        <a:lnSpc>
                          <a:spcPct val="98000"/>
                        </a:lnSpc>
                      </a:pPr>
                      <a:r>
                        <a:rPr sz="1100" b="0" i="0">
                          <a:solidFill>
                            <a:srgbClr val="1F2937"/>
                          </a:solidFill>
                          <a:latin typeface="Calibri"/>
                        </a:rPr>
                        <a:t>L4 · rationales cachées</a:t>
                      </a:r>
                    </a:p>
                  </a:txBody>
                  <a:tcPr marL="54864" marR="54864" marT="27432" marB="27432" anchor="ctr">
                    <a:solidFill>
                      <a:srgbClr val="F5F5F4"/>
                    </a:solidFill>
                  </a:tcPr>
                </a:tc>
                <a:tc>
                  <a:txBody>
                    <a:bodyPr wrap="square"/>
                    <a:lstStyle/>
                    <a:p>
                      <a:pPr algn="l">
                        <a:lnSpc>
                          <a:spcPct val="98000"/>
                        </a:lnSpc>
                      </a:pPr>
                      <a:r>
                        <a:rPr sz="1100" b="0" i="0">
                          <a:solidFill>
                            <a:srgbClr val="1F2937"/>
                          </a:solidFill>
                          <a:latin typeface="Calibri"/>
                        </a:rPr>
                        <a:t>Un raisonnement d'expert qui n'est pas écrit dans le corpus.</a:t>
                      </a:r>
                    </a:p>
                  </a:txBody>
                  <a:tcPr marL="54864" marR="54864" marT="27432" marB="27432" anchor="ctr">
                    <a:solidFill>
                      <a:srgbClr val="F5F5F4"/>
                    </a:solidFill>
                  </a:tcPr>
                </a:tc>
                <a:tc>
                  <a:txBody>
                    <a:bodyPr wrap="square"/>
                    <a:lstStyle/>
                    <a:p>
                      <a:pPr algn="l">
                        <a:lnSpc>
                          <a:spcPct val="98000"/>
                        </a:lnSpc>
                      </a:pPr>
                      <a:r>
                        <a:rPr sz="1100" b="0" i="0">
                          <a:solidFill>
                            <a:srgbClr val="1F2937"/>
                          </a:solidFill>
                          <a:latin typeface="Calibri"/>
                        </a:rPr>
                        <a:t>Hors périmètre, et assumé comme tel : documenté plutôt que simulé.</a:t>
                      </a:r>
                    </a:p>
                  </a:txBody>
                  <a:tcPr marL="54864" marR="54864" marT="27432" marB="27432" anchor="ctr">
                    <a:solidFill>
                      <a:srgbClr val="F5F5F4"/>
                    </a:solidFill>
                  </a:tcPr>
                </a:tc>
              </a:tr>
            </a:tbl>
          </a:graphicData>
        </a:graphic>
      </p:graphicFrame>
      <p:sp>
        <p:nvSpPr>
          <p:cNvPr id="7" name="Rounded Rectangle 6"/>
          <p:cNvSpPr/>
          <p:nvPr/>
        </p:nvSpPr>
        <p:spPr>
          <a:xfrm>
            <a:off x="548640" y="580644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Zhao et al. 2024 (arXiv:2409.14924). Le dépôt cartographie explicitement ses mécanismes sur cette grille ; l'audit de couverture a ensuite vérifié que « couvert » avait un dénominateur.</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 · FONDEMENTS</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La thèse — une approche hybride à chaque couche, arbitrée par la mesure</a:t>
            </a:r>
          </a:p>
        </p:txBody>
      </p:sp>
      <p:sp>
        <p:nvSpPr>
          <p:cNvPr id="5" name="Rectangle 4"/>
          <p:cNvSpPr/>
          <p:nvPr/>
        </p:nvSpPr>
        <p:spPr>
          <a:xfrm>
            <a:off x="548640" y="1042415"/>
            <a:ext cx="1463040" cy="3657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7" name="PageNumber"/>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8</a:t>
            </a:r>
          </a:p>
        </p:txBody>
      </p:sp>
      <p:graphicFrame>
        <p:nvGraphicFramePr>
          <p:cNvPr id="8" name="Table 7"/>
          <p:cNvGraphicFramePr>
            <a:graphicFrameLocks noGrp="1"/>
          </p:cNvGraphicFramePr>
          <p:nvPr/>
        </p:nvGraphicFramePr>
        <p:xfrm>
          <a:off x="548640" y="1243584"/>
          <a:ext cx="11091672" cy="3072384"/>
        </p:xfrm>
        <a:graphic>
          <a:graphicData uri="http://schemas.openxmlformats.org/drawingml/2006/table">
            <a:tbl>
              <a:tblPr>
                <a:tableStyleId>{5C22544A-7EE6-4342-B048-85BDC9FD1C3A}</a:tableStyleId>
              </a:tblPr>
              <a:tblGrid>
                <a:gridCol w="1188720"/>
                <a:gridCol w="3337560"/>
                <a:gridCol w="2971800"/>
                <a:gridCol w="3593592"/>
              </a:tblGrid>
              <a:tr h="384048">
                <a:tc>
                  <a:txBody>
                    <a:bodyPr wrap="square"/>
                    <a:lstStyle/>
                    <a:p>
                      <a:pPr algn="l">
                        <a:lnSpc>
                          <a:spcPct val="98000"/>
                        </a:lnSpc>
                      </a:pPr>
                      <a:r>
                        <a:rPr sz="1000" b="1" i="0">
                          <a:solidFill>
                            <a:srgbClr val="FFFFFF"/>
                          </a:solidFill>
                          <a:latin typeface="Calibri"/>
                        </a:rPr>
                        <a:t>Couche</a:t>
                      </a:r>
                    </a:p>
                  </a:txBody>
                  <a:tcPr marL="54864" marR="54864" marT="27432" marB="27432" anchor="ctr">
                    <a:solidFill>
                      <a:srgbClr val="166534"/>
                    </a:solidFill>
                  </a:tcPr>
                </a:tc>
                <a:tc>
                  <a:txBody>
                    <a:bodyPr wrap="square"/>
                    <a:lstStyle/>
                    <a:p>
                      <a:pPr algn="l">
                        <a:lnSpc>
                          <a:spcPct val="98000"/>
                        </a:lnSpc>
                      </a:pPr>
                      <a:r>
                        <a:rPr sz="1000" b="1" i="0">
                          <a:solidFill>
                            <a:srgbClr val="FFFFFF"/>
                          </a:solidFill>
                          <a:latin typeface="Calibri"/>
                        </a:rPr>
                        <a:t>Voie déterministe / symbolique / locale</a:t>
                      </a:r>
                    </a:p>
                  </a:txBody>
                  <a:tcPr marL="54864" marR="54864" marT="27432" marB="27432" anchor="ctr">
                    <a:solidFill>
                      <a:srgbClr val="166534"/>
                    </a:solidFill>
                  </a:tcPr>
                </a:tc>
                <a:tc>
                  <a:txBody>
                    <a:bodyPr wrap="square"/>
                    <a:lstStyle/>
                    <a:p>
                      <a:pPr algn="l">
                        <a:lnSpc>
                          <a:spcPct val="98000"/>
                        </a:lnSpc>
                      </a:pPr>
                      <a:r>
                        <a:rPr sz="1000" b="1" i="0">
                          <a:solidFill>
                            <a:srgbClr val="FFFFFF"/>
                          </a:solidFill>
                          <a:latin typeface="Calibri"/>
                        </a:rPr>
                        <a:t>Voie neuronale / générative / API</a:t>
                      </a:r>
                    </a:p>
                  </a:txBody>
                  <a:tcPr marL="54864" marR="54864" marT="27432" marB="27432" anchor="ctr">
                    <a:solidFill>
                      <a:srgbClr val="166534"/>
                    </a:solidFill>
                  </a:tcPr>
                </a:tc>
                <a:tc>
                  <a:txBody>
                    <a:bodyPr wrap="square"/>
                    <a:lstStyle/>
                    <a:p>
                      <a:pPr algn="l">
                        <a:lnSpc>
                          <a:spcPct val="98000"/>
                        </a:lnSpc>
                      </a:pPr>
                      <a:r>
                        <a:rPr sz="1000" b="1" i="0">
                          <a:solidFill>
                            <a:srgbClr val="FFFFFF"/>
                          </a:solidFill>
                          <a:latin typeface="Calibri"/>
                        </a:rPr>
                        <a:t>Arbitrage mesuré</a:t>
                      </a:r>
                    </a:p>
                  </a:txBody>
                  <a:tcPr marL="54864" marR="54864" marT="27432" marB="27432" anchor="ctr">
                    <a:solidFill>
                      <a:srgbClr val="166534"/>
                    </a:solidFill>
                  </a:tcPr>
                </a:tc>
              </a:tr>
              <a:tr h="384048">
                <a:tc>
                  <a:txBody>
                    <a:bodyPr wrap="square"/>
                    <a:lstStyle/>
                    <a:p>
                      <a:pPr algn="l">
                        <a:lnSpc>
                          <a:spcPct val="98000"/>
                        </a:lnSpc>
                      </a:pPr>
                      <a:r>
                        <a:rPr sz="950" b="0" i="0">
                          <a:solidFill>
                            <a:srgbClr val="1F2937"/>
                          </a:solidFill>
                          <a:latin typeface="Calibri"/>
                        </a:rPr>
                        <a:t>Extraction</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La couche texte du PDF sert d'indice de transcription et fournit la géométrie de la page, sans OCR.</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Un modèle vision-langage local (Qwen2.5-VL-7B) lit l'image de la page en 2,0 mégapixels.</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Texte identique à l'octet entre 6,0 et 2,0 mégapixels ; confiance d'ancrage de 0,96 à 1,00 ; repli sur la page entière sous 0,3.</a:t>
                      </a:r>
                    </a:p>
                  </a:txBody>
                  <a:tcPr marL="54864" marR="54864" marT="27432" marB="27432" anchor="ctr">
                    <a:solidFill>
                      <a:srgbClr val="FFFFFF"/>
                    </a:solidFill>
                  </a:tcPr>
                </a:tc>
              </a:tr>
              <a:tr h="384048">
                <a:tc>
                  <a:txBody>
                    <a:bodyPr wrap="square"/>
                    <a:lstStyle/>
                    <a:p>
                      <a:pPr algn="l">
                        <a:lnSpc>
                          <a:spcPct val="98000"/>
                        </a:lnSpc>
                      </a:pPr>
                      <a:r>
                        <a:rPr sz="950" b="0" i="0">
                          <a:solidFill>
                            <a:srgbClr val="1F2937"/>
                          </a:solidFill>
                          <a:latin typeface="Calibri"/>
                        </a:rPr>
                        <a:t>Récupération</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BM25 dans SQLite FTS5, avec un tokenizer dédié aux identifiants.</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Vecteurs denses all-mpnet-base-v2 dans FAISS, en similarité cosinus.</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Fusion RRF (k = 60), poids lexical doublé sur les identifiants : le rappel des requêtes à identifiant passe de 6 % à 100 %. Le reclassement est neutre au niveau des réponses.</a:t>
                      </a:r>
                    </a:p>
                  </a:txBody>
                  <a:tcPr marL="54864" marR="54864" marT="27432" marB="27432" anchor="ctr">
                    <a:solidFill>
                      <a:srgbClr val="F5F5F4"/>
                    </a:solidFill>
                  </a:tcPr>
                </a:tc>
              </a:tr>
              <a:tr h="384048">
                <a:tc>
                  <a:txBody>
                    <a:bodyPr wrap="square"/>
                    <a:lstStyle/>
                    <a:p>
                      <a:pPr algn="l">
                        <a:lnSpc>
                          <a:spcPct val="98000"/>
                        </a:lnSpc>
                      </a:pPr>
                      <a:r>
                        <a:rPr sz="950" b="0" i="0">
                          <a:solidFill>
                            <a:srgbClr val="1F2937"/>
                          </a:solidFill>
                          <a:latin typeface="Calibri"/>
                        </a:rPr>
                        <a:t>Connaissance</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Un registre de faits avec provenance : 3 785 candidats, 210 conflits, 191 corrections ratifiées.</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Des extraits récupérés, étiquetés par document et par score.</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La ligne du registre l'emporte sur la cellule récupérée ; les conflits sont imprimés avec leurs deux valeurs, jamais tranchés.</a:t>
                      </a:r>
                    </a:p>
                  </a:txBody>
                  <a:tcPr marL="54864" marR="54864" marT="27432" marB="27432" anchor="ctr">
                    <a:solidFill>
                      <a:srgbClr val="FFFFFF"/>
                    </a:solidFill>
                  </a:tcPr>
                </a:tc>
              </a:tr>
              <a:tr h="384048">
                <a:tc>
                  <a:txBody>
                    <a:bodyPr wrap="square"/>
                    <a:lstStyle/>
                    <a:p>
                      <a:pPr algn="l">
                        <a:lnSpc>
                          <a:spcPct val="98000"/>
                        </a:lnSpc>
                      </a:pPr>
                      <a:r>
                        <a:rPr sz="950" b="0" i="0">
                          <a:solidFill>
                            <a:srgbClr val="1F2937"/>
                          </a:solidFill>
                          <a:latin typeface="Calibri"/>
                        </a:rPr>
                        <a:t>Requête</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Expressions régulières FR/EN, garde sur les identifiants absents, planificateur de comparaisons, hypothèse du monde clos.</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Un conducteur gpt-5.2 : un appel JSON, une à six requêtes, pronoms résolus.</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Dans le doute, on récupère ; la garde répond avant tout appel de génération.</a:t>
                      </a:r>
                    </a:p>
                  </a:txBody>
                  <a:tcPr marL="54864" marR="54864" marT="27432" marB="27432" anchor="ctr">
                    <a:solidFill>
                      <a:srgbClr val="F5F5F4"/>
                    </a:solidFill>
                  </a:tcPr>
                </a:tc>
              </a:tr>
              <a:tr h="384048">
                <a:tc>
                  <a:txBody>
                    <a:bodyPr wrap="square"/>
                    <a:lstStyle/>
                    <a:p>
                      <a:pPr algn="l">
                        <a:lnSpc>
                          <a:spcPct val="98000"/>
                        </a:lnSpc>
                      </a:pPr>
                      <a:r>
                        <a:rPr sz="950" b="0" i="0">
                          <a:solidFill>
                            <a:srgbClr val="1F2937"/>
                          </a:solidFill>
                          <a:latin typeface="Calibri"/>
                        </a:rPr>
                        <a:t>Génération</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Des notes déterministes (registre, année, pays, entité, couverture) et des règles de copie et de non-sommation.</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gpt-5.2 sur un prompt assemblé par blocs, sous un budget de 5 000 caractères.</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Citer ou nuancer ; le fait demandé d'abord, le contexte cité ensuite.</a:t>
                      </a:r>
                    </a:p>
                  </a:txBody>
                  <a:tcPr marL="54864" marR="54864" marT="27432" marB="27432" anchor="ctr">
                    <a:solidFill>
                      <a:srgbClr val="FFFFFF"/>
                    </a:solidFill>
                  </a:tcPr>
                </a:tc>
              </a:tr>
              <a:tr h="384048">
                <a:tc>
                  <a:txBody>
                    <a:bodyPr wrap="square"/>
                    <a:lstStyle/>
                    <a:p>
                      <a:pPr algn="l">
                        <a:lnSpc>
                          <a:spcPct val="98000"/>
                        </a:lnSpc>
                      </a:pPr>
                      <a:r>
                        <a:rPr sz="950" b="0" i="0">
                          <a:solidFill>
                            <a:srgbClr val="1F2937"/>
                          </a:solidFill>
                          <a:latin typeface="Calibri"/>
                        </a:rPr>
                        <a:t>Vérification</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Des matcheurs exacts : montants avec devise et échelle, entités, années, arithmétique bornée.</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Un juge LLM qui ne peut que promouvoir : un appel au plus, douze affirmations au plus.</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Zéro fabrication sur 28 promotions ; sans le juge, 21 réponses sur 66 seraient mal étiquetées.</a:t>
                      </a:r>
                    </a:p>
                  </a:txBody>
                  <a:tcPr marL="54864" marR="54864" marT="27432" marB="27432" anchor="ctr">
                    <a:solidFill>
                      <a:srgbClr val="F5F5F4"/>
                    </a:solidFill>
                  </a:tcPr>
                </a:tc>
              </a:tr>
              <a:tr h="384048">
                <a:tc>
                  <a:txBody>
                    <a:bodyPr wrap="square"/>
                    <a:lstStyle/>
                    <a:p>
                      <a:pPr algn="l">
                        <a:lnSpc>
                          <a:spcPct val="98000"/>
                        </a:lnSpc>
                      </a:pPr>
                      <a:r>
                        <a:rPr sz="950" b="0" i="0">
                          <a:solidFill>
                            <a:srgbClr val="1F2937"/>
                          </a:solidFill>
                          <a:latin typeface="Calibri"/>
                        </a:rPr>
                        <a:t>Évaluation</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Un gold humain constitué en aveugle, des portes en nombres entiers, cinq bras de scoring.</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Des releases sur API épinglées (température 0, graine fixe), en paires de même configuration.</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La bande de bruit de ±2 à 3 points est publiée avant toute revendication de progrès.</a:t>
                      </a:r>
                    </a:p>
                  </a:txBody>
                  <a:tcPr marL="54864" marR="54864" marT="27432" marB="27432" anchor="ctr">
                    <a:solidFill>
                      <a:srgbClr val="FFFFFF"/>
                    </a:solidFill>
                  </a:tcPr>
                </a:tc>
              </a:tr>
            </a:tbl>
          </a:graphicData>
        </a:graphic>
      </p:graphicFrame>
      <p:sp>
        <p:nvSpPr>
          <p:cNvPr id="9" name="TextBox 8"/>
          <p:cNvSpPr txBox="1"/>
          <p:nvPr/>
        </p:nvSpPr>
        <p:spPr>
          <a:xfrm>
            <a:off x="548640" y="4892040"/>
            <a:ext cx="11091672" cy="640080"/>
          </a:xfrm>
          <a:prstGeom prst="rect">
            <a:avLst/>
          </a:prstGeom>
          <a:noFill/>
        </p:spPr>
        <p:txBody>
          <a:bodyPr wrap="square">
            <a:spAutoFit/>
          </a:bodyPr>
          <a:lstStyle/>
          <a:p>
            <a:r>
              <a:rPr sz="1150" b="1" i="0">
                <a:solidFill>
                  <a:srgbClr val="1F2937"/>
                </a:solidFill>
                <a:latin typeface="Calibri"/>
              </a:rPr>
              <a:t>Notre principe</a:t>
            </a:r>
            <a:r>
              <a:rPr sz="1150" b="0" i="0">
                <a:solidFill>
                  <a:srgbClr val="1F2937"/>
                </a:solidFill>
                <a:latin typeface="Calibri"/>
              </a:rPr>
              <a:t> : le déterministe d'abord, le neuronal en complément, et toujours vérifié. Quand les deux voies divergent, c'est un signal, pas un bruit : deux extracteurs en désaccord sur un chiffre, c'est le signe le moins cher qu'un des deux l'a inventé.</a:t>
            </a:r>
          </a:p>
        </p:txBody>
      </p:sp>
      <p:sp>
        <p:nvSpPr>
          <p:cNvPr id="10" name="Rounded Rectangle 9"/>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64008" bIns="64008"/>
          <a:lstStyle/>
          <a:p>
            <a:pPr algn="ctr">
              <a:lnSpc>
                <a:spcPct val="100000"/>
              </a:lnSpc>
            </a:pPr>
            <a:r>
              <a:rPr sz="1050" b="1" i="0">
                <a:solidFill>
                  <a:srgbClr val="0C4A6E"/>
                </a:solidFill>
                <a:latin typeface="Calibri"/>
              </a:rPr>
              <a:t>LITTÉRATURE — </a:t>
            </a:r>
            <a:r>
              <a:rPr sz="1050" b="0" i="0">
                <a:solidFill>
                  <a:srgbClr val="0C4A6E"/>
                </a:solidFill>
                <a:latin typeface="Calibri"/>
              </a:rPr>
              <a:t>Dans la littérature, l'hybride désigne la fusion lexical + dense (Robertson et Zaragoza 2009 ; Karpukhin 2020 ; Cormack 2009). La plateforme généralise le motif à toutes les couches, dans un esprit neuro-symbolique, avec un juge LLM borné (Zheng 2023) et une architecture modulaire (Gao 2023).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51560"/>
            <a:ext cx="2377440" cy="1463040"/>
          </a:xfrm>
          <a:prstGeom prst="rect">
            <a:avLst/>
          </a:prstGeom>
          <a:noFill/>
        </p:spPr>
        <p:txBody>
          <a:bodyPr wrap="square">
            <a:spAutoFit/>
          </a:bodyPr>
          <a:lstStyle/>
          <a:p>
            <a:r>
              <a:rPr sz="8800" b="1" i="0">
                <a:solidFill>
                  <a:srgbClr val="16A34A"/>
                </a:solidFill>
                <a:latin typeface="Calibri"/>
              </a:rPr>
              <a:t>II</a:t>
            </a:r>
          </a:p>
        </p:txBody>
      </p:sp>
      <p:sp>
        <p:nvSpPr>
          <p:cNvPr id="4" name="TextBox 3"/>
          <p:cNvSpPr txBox="1"/>
          <p:nvPr/>
        </p:nvSpPr>
        <p:spPr>
          <a:xfrm>
            <a:off x="548640" y="2606040"/>
            <a:ext cx="10515600" cy="914400"/>
          </a:xfrm>
          <a:prstGeom prst="rect">
            <a:avLst/>
          </a:prstGeom>
          <a:noFill/>
        </p:spPr>
        <p:txBody>
          <a:bodyPr wrap="square">
            <a:spAutoFit/>
          </a:bodyPr>
          <a:lstStyle/>
          <a:p>
            <a:r>
              <a:rPr sz="3400" b="1" i="0">
                <a:solidFill>
                  <a:srgbClr val="FFFFFF"/>
                </a:solidFill>
                <a:latin typeface="Calibri"/>
              </a:rPr>
              <a:t>La plateforme hybride — de la page PDF à la synthèse citée</a:t>
            </a:r>
          </a:p>
        </p:txBody>
      </p:sp>
      <p:sp>
        <p:nvSpPr>
          <p:cNvPr id="5" name="Rectangle 4"/>
          <p:cNvSpPr/>
          <p:nvPr/>
        </p:nvSpPr>
        <p:spPr>
          <a:xfrm>
            <a:off x="548640" y="3429000"/>
            <a:ext cx="2011680" cy="381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794760"/>
            <a:ext cx="10515600" cy="2194560"/>
          </a:xfrm>
          <a:prstGeom prst="rect">
            <a:avLst/>
          </a:prstGeom>
          <a:noFill/>
        </p:spPr>
        <p:txBody>
          <a:bodyPr wrap="square">
            <a:spAutoFit/>
          </a:bodyPr>
          <a:lstStyle/>
          <a:p>
            <a:pPr>
              <a:spcAft>
                <a:spcPts val="800"/>
              </a:spcAft>
            </a:pPr>
            <a:r>
              <a:rPr sz="1500" b="1" i="0">
                <a:solidFill>
                  <a:srgbClr val="16A34A"/>
                </a:solidFill>
                <a:latin typeface="Calibri"/>
              </a:rPr>
              <a:t>—  </a:t>
            </a:r>
            <a:r>
              <a:rPr sz="1500" b="0" i="0">
                <a:solidFill>
                  <a:srgbClr val="D1FAE5"/>
                </a:solidFill>
                <a:latin typeface="Calibri"/>
              </a:rPr>
              <a:t>Pipeline hors ligne : extraction par modèle vision-langage, ancrage visuel, découpage, index hybride et registre de faits</a:t>
            </a:r>
          </a:p>
          <a:p>
            <a:pPr>
              <a:spcAft>
                <a:spcPts val="800"/>
              </a:spcAft>
            </a:pPr>
            <a:r>
              <a:rPr sz="1500" b="1" i="0">
                <a:solidFill>
                  <a:srgbClr val="16A34A"/>
                </a:solidFill>
                <a:latin typeface="Calibri"/>
              </a:rPr>
              <a:t>—  </a:t>
            </a:r>
            <a:r>
              <a:rPr sz="1500" b="0" i="0">
                <a:solidFill>
                  <a:srgbClr val="D1FAE5"/>
                </a:solidFill>
                <a:latin typeface="Calibri"/>
              </a:rPr>
              <a:t>Pipeline en ligne : conducteur, récupération, notes, génération, vérification</a:t>
            </a:r>
          </a:p>
          <a:p>
            <a:pPr>
              <a:spcAft>
                <a:spcPts val="800"/>
              </a:spcAft>
            </a:pPr>
            <a:r>
              <a:rPr sz="1500" b="1" i="0">
                <a:solidFill>
                  <a:srgbClr val="16A34A"/>
                </a:solidFill>
                <a:latin typeface="Calibri"/>
              </a:rPr>
              <a:t>—  </a:t>
            </a:r>
            <a:r>
              <a:rPr sz="1500" b="0" i="0">
                <a:solidFill>
                  <a:srgbClr val="D1FAE5"/>
                </a:solidFill>
                <a:latin typeface="Calibri"/>
              </a:rPr>
              <a:t>Les formes de synthèse servies, puis chaque composant : sa mesure, son commutateur, sa dégradation gracieuse</a:t>
            </a:r>
          </a:p>
        </p:txBody>
      </p:sp>
      <p:sp>
        <p:nvSpPr>
          <p:cNvPr id="7" name="TextBox 6"/>
          <p:cNvSpPr txBox="1"/>
          <p:nvPr/>
        </p:nvSpPr>
        <p:spPr>
          <a:xfrm>
            <a:off x="548640" y="6510528"/>
            <a:ext cx="7315200" cy="274320"/>
          </a:xfrm>
          <a:prstGeom prst="rect">
            <a:avLst/>
          </a:prstGeom>
          <a:noFill/>
        </p:spPr>
        <p:txBody>
          <a:bodyPr wrap="square">
            <a:spAutoFit/>
          </a:bodyPr>
          <a:lstStyle/>
          <a:p>
            <a:r>
              <a:rPr sz="900" b="0" i="0">
                <a:solidFill>
                  <a:srgbClr val="A7C4AF"/>
                </a:solidFill>
                <a:latin typeface="Calibri"/>
              </a:rPr>
              <a:t>Synthèse assistée par RAG · approche hybride · documents sectoriels GCF</a:t>
            </a:r>
          </a:p>
        </p:txBody>
      </p:sp>
      <p:sp>
        <p:nvSpPr>
          <p:cNvPr id="8" name="TextBox 7"/>
          <p:cNvSpPr txBox="1"/>
          <p:nvPr/>
        </p:nvSpPr>
        <p:spPr>
          <a:xfrm>
            <a:off x="11292840" y="6510528"/>
            <a:ext cx="640080" cy="274320"/>
          </a:xfrm>
          <a:prstGeom prst="rect">
            <a:avLst/>
          </a:prstGeom>
          <a:noFill/>
        </p:spPr>
        <p:txBody>
          <a:bodyPr wrap="square">
            <a:spAutoFit/>
          </a:bodyPr>
          <a:lstStyle/>
          <a:p>
            <a:pPr algn="r"/>
            <a:r>
              <a:rPr sz="900" b="0" i="0">
                <a:solidFill>
                  <a:srgbClr val="A7C4AF"/>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 · LA PLATEFORME</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Architecture d'ensemble — deux voies à chaque étage</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07008"/>
            <a:ext cx="2743200" cy="274320"/>
          </a:xfrm>
          <a:prstGeom prst="rect">
            <a:avLst/>
          </a:prstGeom>
          <a:noFill/>
        </p:spPr>
        <p:txBody>
          <a:bodyPr wrap="square">
            <a:spAutoFit/>
          </a:bodyPr>
          <a:lstStyle/>
          <a:p>
            <a:r>
              <a:rPr sz="1100" b="1" i="0">
                <a:solidFill>
                  <a:srgbClr val="0F766E"/>
                </a:solidFill>
                <a:latin typeface="Calibri"/>
              </a:rPr>
              <a:t>HORS LIGNE — ingestion du corpus</a:t>
            </a:r>
          </a:p>
        </p:txBody>
      </p:sp>
      <p:sp>
        <p:nvSpPr>
          <p:cNvPr id="7" name="Rounded Rectangle 6"/>
          <p:cNvSpPr/>
          <p:nvPr/>
        </p:nvSpPr>
        <p:spPr>
          <a:xfrm>
            <a:off x="548640" y="1499616"/>
            <a:ext cx="1680972" cy="777240"/>
          </a:xfrm>
          <a:prstGeom prst="roundRect">
            <a:avLst>
              <a:gd name="adj" fmla="val 10000"/>
            </a:avLst>
          </a:prstGeom>
          <a:solidFill>
            <a:srgbClr val="F0FDF4"/>
          </a:solidFill>
          <a:ln w="95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lnSpc>
                <a:spcPct val="95000"/>
              </a:lnSpc>
            </a:pPr>
            <a:r>
              <a:rPr sz="1000" b="0" i="0">
                <a:solidFill>
                  <a:srgbClr val="14532D"/>
                </a:solidFill>
                <a:latin typeface="Calibri"/>
              </a:rPr>
              <a:t>273 PDFs GCF_x000B_(41 550 pages)</a:t>
            </a:r>
          </a:p>
        </p:txBody>
      </p:sp>
      <p:sp>
        <p:nvSpPr>
          <p:cNvPr id="8" name="Right Arrow 7"/>
          <p:cNvSpPr/>
          <p:nvPr/>
        </p:nvSpPr>
        <p:spPr>
          <a:xfrm>
            <a:off x="2229612" y="1819656"/>
            <a:ext cx="201168" cy="13716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430780" y="1499616"/>
            <a:ext cx="1680972" cy="777240"/>
          </a:xfrm>
          <a:prstGeom prst="roundRect">
            <a:avLst>
              <a:gd name="adj" fmla="val 10000"/>
            </a:avLst>
          </a:prstGeom>
          <a:solidFill>
            <a:srgbClr val="F0FDF4"/>
          </a:solidFill>
          <a:ln w="95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lnSpc>
                <a:spcPct val="95000"/>
              </a:lnSpc>
            </a:pPr>
            <a:r>
              <a:rPr sz="1000" b="0" i="0">
                <a:solidFill>
                  <a:srgbClr val="14532D"/>
                </a:solidFill>
                <a:latin typeface="Calibri"/>
              </a:rPr>
              <a:t>Rendu 2,0 MP_x000B_+ cache JPEG</a:t>
            </a:r>
          </a:p>
        </p:txBody>
      </p:sp>
      <p:sp>
        <p:nvSpPr>
          <p:cNvPr id="10" name="Right Arrow 9"/>
          <p:cNvSpPr/>
          <p:nvPr/>
        </p:nvSpPr>
        <p:spPr>
          <a:xfrm>
            <a:off x="4111752" y="1819656"/>
            <a:ext cx="201168" cy="13716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12920" y="1499616"/>
            <a:ext cx="1680972" cy="777240"/>
          </a:xfrm>
          <a:prstGeom prst="roundRect">
            <a:avLst>
              <a:gd name="adj" fmla="val 10000"/>
            </a:avLst>
          </a:prstGeom>
          <a:solidFill>
            <a:srgbClr val="F0FDF4"/>
          </a:solidFill>
          <a:ln w="95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lnSpc>
                <a:spcPct val="95000"/>
              </a:lnSpc>
            </a:pPr>
            <a:r>
              <a:rPr sz="1000" b="0" i="0">
                <a:solidFill>
                  <a:srgbClr val="14532D"/>
                </a:solidFill>
                <a:latin typeface="Calibri"/>
              </a:rPr>
              <a:t>VLM local Qwen-VL_x000B_(LM Studio)</a:t>
            </a:r>
          </a:p>
        </p:txBody>
      </p:sp>
      <p:sp>
        <p:nvSpPr>
          <p:cNvPr id="12" name="Right Arrow 11"/>
          <p:cNvSpPr/>
          <p:nvPr/>
        </p:nvSpPr>
        <p:spPr>
          <a:xfrm>
            <a:off x="5993892" y="1819656"/>
            <a:ext cx="201168" cy="13716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95060" y="1499616"/>
            <a:ext cx="1680972" cy="777240"/>
          </a:xfrm>
          <a:prstGeom prst="roundRect">
            <a:avLst>
              <a:gd name="adj" fmla="val 10000"/>
            </a:avLst>
          </a:prstGeom>
          <a:solidFill>
            <a:srgbClr val="F0FDF4"/>
          </a:solidFill>
          <a:ln w="95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lnSpc>
                <a:spcPct val="95000"/>
              </a:lnSpc>
            </a:pPr>
            <a:r>
              <a:rPr sz="1000" b="0" i="0">
                <a:solidFill>
                  <a:srgbClr val="14532D"/>
                </a:solidFill>
                <a:latin typeface="Calibri"/>
              </a:rPr>
              <a:t>Markdown / page_x000B_+ géométrie (boxes)</a:t>
            </a:r>
          </a:p>
        </p:txBody>
      </p:sp>
      <p:sp>
        <p:nvSpPr>
          <p:cNvPr id="14" name="Right Arrow 13"/>
          <p:cNvSpPr/>
          <p:nvPr/>
        </p:nvSpPr>
        <p:spPr>
          <a:xfrm>
            <a:off x="7876032" y="1819656"/>
            <a:ext cx="201168" cy="13716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77200" y="1499616"/>
            <a:ext cx="1680972" cy="777240"/>
          </a:xfrm>
          <a:prstGeom prst="roundRect">
            <a:avLst>
              <a:gd name="adj" fmla="val 10000"/>
            </a:avLst>
          </a:prstGeom>
          <a:solidFill>
            <a:srgbClr val="F0FDF4"/>
          </a:solidFill>
          <a:ln w="95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lnSpc>
                <a:spcPct val="95000"/>
              </a:lnSpc>
            </a:pPr>
            <a:r>
              <a:rPr sz="1000" b="0" i="0">
                <a:solidFill>
                  <a:srgbClr val="14532D"/>
                </a:solidFill>
                <a:latin typeface="Calibri"/>
              </a:rPr>
              <a:t>Chunks sectionnés_x000B_(1000 / 200)</a:t>
            </a:r>
          </a:p>
        </p:txBody>
      </p:sp>
      <p:sp>
        <p:nvSpPr>
          <p:cNvPr id="16" name="Right Arrow 15"/>
          <p:cNvSpPr/>
          <p:nvPr/>
        </p:nvSpPr>
        <p:spPr>
          <a:xfrm>
            <a:off x="9758172" y="1819656"/>
            <a:ext cx="201168" cy="13716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959340" y="1499616"/>
            <a:ext cx="1680972" cy="777240"/>
          </a:xfrm>
          <a:prstGeom prst="roundRect">
            <a:avLst>
              <a:gd name="adj" fmla="val 10000"/>
            </a:avLst>
          </a:prstGeom>
          <a:solidFill>
            <a:srgbClr val="F0FDF4"/>
          </a:solidFill>
          <a:ln w="95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lnSpc>
                <a:spcPct val="95000"/>
              </a:lnSpc>
            </a:pPr>
            <a:r>
              <a:rPr sz="1000" b="0" i="0">
                <a:solidFill>
                  <a:srgbClr val="14532D"/>
                </a:solidFill>
                <a:latin typeface="Calibri"/>
              </a:rPr>
              <a:t>FAISS + BM25_x000B_+ Registre v2</a:t>
            </a:r>
          </a:p>
        </p:txBody>
      </p:sp>
      <p:sp>
        <p:nvSpPr>
          <p:cNvPr id="18" name="TextBox 17"/>
          <p:cNvSpPr txBox="1"/>
          <p:nvPr/>
        </p:nvSpPr>
        <p:spPr>
          <a:xfrm>
            <a:off x="548640" y="2523744"/>
            <a:ext cx="3108960" cy="274320"/>
          </a:xfrm>
          <a:prstGeom prst="rect">
            <a:avLst/>
          </a:prstGeom>
          <a:noFill/>
        </p:spPr>
        <p:txBody>
          <a:bodyPr wrap="square">
            <a:spAutoFit/>
          </a:bodyPr>
          <a:lstStyle/>
          <a:p>
            <a:r>
              <a:rPr sz="1100" b="1" i="0">
                <a:solidFill>
                  <a:srgbClr val="0F766E"/>
                </a:solidFill>
                <a:latin typeface="Calibri"/>
              </a:rPr>
              <a:t>EN LIGNE — un tour de conversation</a:t>
            </a:r>
          </a:p>
        </p:txBody>
      </p:sp>
      <p:sp>
        <p:nvSpPr>
          <p:cNvPr id="19" name="Rounded Rectangle 18"/>
          <p:cNvSpPr/>
          <p:nvPr/>
        </p:nvSpPr>
        <p:spPr>
          <a:xfrm>
            <a:off x="548640" y="2798064"/>
            <a:ext cx="1412094" cy="777240"/>
          </a:xfrm>
          <a:prstGeom prst="roundRect">
            <a:avLst>
              <a:gd name="adj" fmla="val 10000"/>
            </a:avLst>
          </a:prstGeom>
          <a:solidFill>
            <a:srgbClr val="ECFDF5"/>
          </a:solidFill>
          <a:ln w="95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lnSpc>
                <a:spcPct val="95000"/>
              </a:lnSpc>
            </a:pPr>
            <a:r>
              <a:rPr sz="950" b="0" i="0">
                <a:solidFill>
                  <a:srgbClr val="14532D"/>
                </a:solidFill>
                <a:latin typeface="Calibri"/>
              </a:rPr>
              <a:t>Question_x000B_FR / EN</a:t>
            </a:r>
          </a:p>
        </p:txBody>
      </p:sp>
      <p:sp>
        <p:nvSpPr>
          <p:cNvPr id="20" name="Right Arrow 19"/>
          <p:cNvSpPr/>
          <p:nvPr/>
        </p:nvSpPr>
        <p:spPr>
          <a:xfrm>
            <a:off x="1960734" y="3118104"/>
            <a:ext cx="201168" cy="13716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161902" y="2798064"/>
            <a:ext cx="1412094" cy="777240"/>
          </a:xfrm>
          <a:prstGeom prst="roundRect">
            <a:avLst>
              <a:gd name="adj" fmla="val 10000"/>
            </a:avLst>
          </a:prstGeom>
          <a:solidFill>
            <a:srgbClr val="ECFDF5"/>
          </a:solidFill>
          <a:ln w="95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lnSpc>
                <a:spcPct val="95000"/>
              </a:lnSpc>
            </a:pPr>
            <a:r>
              <a:rPr sz="950" b="0" i="0">
                <a:solidFill>
                  <a:srgbClr val="14532D"/>
                </a:solidFill>
                <a:latin typeface="Calibri"/>
              </a:rPr>
              <a:t>Conducteur /_x000B_Planificateur</a:t>
            </a:r>
          </a:p>
        </p:txBody>
      </p:sp>
      <p:sp>
        <p:nvSpPr>
          <p:cNvPr id="22" name="Right Arrow 21"/>
          <p:cNvSpPr/>
          <p:nvPr/>
        </p:nvSpPr>
        <p:spPr>
          <a:xfrm>
            <a:off x="3573996" y="3118104"/>
            <a:ext cx="201168" cy="13716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775164" y="2798064"/>
            <a:ext cx="1412094" cy="777240"/>
          </a:xfrm>
          <a:prstGeom prst="roundRect">
            <a:avLst>
              <a:gd name="adj" fmla="val 10000"/>
            </a:avLst>
          </a:prstGeom>
          <a:solidFill>
            <a:srgbClr val="ECFDF5"/>
          </a:solidFill>
          <a:ln w="95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lnSpc>
                <a:spcPct val="95000"/>
              </a:lnSpc>
            </a:pPr>
            <a:r>
              <a:rPr sz="950" b="0" i="0">
                <a:solidFill>
                  <a:srgbClr val="14532D"/>
                </a:solidFill>
                <a:latin typeface="Calibri"/>
              </a:rPr>
              <a:t>Hybride RRF_x000B_+ rerank + quotas</a:t>
            </a:r>
          </a:p>
        </p:txBody>
      </p:sp>
      <p:sp>
        <p:nvSpPr>
          <p:cNvPr id="24" name="Right Arrow 23"/>
          <p:cNvSpPr/>
          <p:nvPr/>
        </p:nvSpPr>
        <p:spPr>
          <a:xfrm>
            <a:off x="5187258" y="3118104"/>
            <a:ext cx="201168" cy="13716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388426" y="2798064"/>
            <a:ext cx="1412094" cy="777240"/>
          </a:xfrm>
          <a:prstGeom prst="roundRect">
            <a:avLst>
              <a:gd name="adj" fmla="val 10000"/>
            </a:avLst>
          </a:prstGeom>
          <a:solidFill>
            <a:srgbClr val="ECFDF5"/>
          </a:solidFill>
          <a:ln w="95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lnSpc>
                <a:spcPct val="95000"/>
              </a:lnSpc>
            </a:pPr>
            <a:r>
              <a:rPr sz="950" b="0" i="0">
                <a:solidFill>
                  <a:srgbClr val="14532D"/>
                </a:solidFill>
                <a:latin typeface="Calibri"/>
              </a:rPr>
              <a:t>Notes : registre,_x000B_année, couverture</a:t>
            </a:r>
          </a:p>
        </p:txBody>
      </p:sp>
      <p:sp>
        <p:nvSpPr>
          <p:cNvPr id="26" name="Right Arrow 25"/>
          <p:cNvSpPr/>
          <p:nvPr/>
        </p:nvSpPr>
        <p:spPr>
          <a:xfrm>
            <a:off x="6800520" y="3118104"/>
            <a:ext cx="201168" cy="13716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001688" y="2798064"/>
            <a:ext cx="1412094" cy="777240"/>
          </a:xfrm>
          <a:prstGeom prst="roundRect">
            <a:avLst>
              <a:gd name="adj" fmla="val 10000"/>
            </a:avLst>
          </a:prstGeom>
          <a:solidFill>
            <a:srgbClr val="ECFDF5"/>
          </a:solidFill>
          <a:ln w="95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lnSpc>
                <a:spcPct val="95000"/>
              </a:lnSpc>
            </a:pPr>
            <a:r>
              <a:rPr sz="950" b="0" i="0">
                <a:solidFill>
                  <a:srgbClr val="14532D"/>
                </a:solidFill>
                <a:latin typeface="Calibri"/>
              </a:rPr>
              <a:t>gpt-5.2_x000B_(prompt assemblé)</a:t>
            </a:r>
          </a:p>
        </p:txBody>
      </p:sp>
      <p:sp>
        <p:nvSpPr>
          <p:cNvPr id="28" name="Right Arrow 27"/>
          <p:cNvSpPr/>
          <p:nvPr/>
        </p:nvSpPr>
        <p:spPr>
          <a:xfrm>
            <a:off x="8413782" y="3118104"/>
            <a:ext cx="201168" cy="13716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614950" y="2798064"/>
            <a:ext cx="1412094" cy="777240"/>
          </a:xfrm>
          <a:prstGeom prst="roundRect">
            <a:avLst>
              <a:gd name="adj" fmla="val 10000"/>
            </a:avLst>
          </a:prstGeom>
          <a:solidFill>
            <a:srgbClr val="ECFDF5"/>
          </a:solidFill>
          <a:ln w="95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lnSpc>
                <a:spcPct val="95000"/>
              </a:lnSpc>
            </a:pPr>
            <a:r>
              <a:rPr sz="950" b="0" i="0">
                <a:solidFill>
                  <a:srgbClr val="14532D"/>
                </a:solidFill>
                <a:latin typeface="Calibri"/>
              </a:rPr>
              <a:t>Vérificateur_x000B_+ juge LLM</a:t>
            </a:r>
          </a:p>
        </p:txBody>
      </p:sp>
      <p:sp>
        <p:nvSpPr>
          <p:cNvPr id="30" name="Right Arrow 29"/>
          <p:cNvSpPr/>
          <p:nvPr/>
        </p:nvSpPr>
        <p:spPr>
          <a:xfrm>
            <a:off x="10027044" y="3118104"/>
            <a:ext cx="201168" cy="13716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228212" y="2798064"/>
            <a:ext cx="1412094" cy="777240"/>
          </a:xfrm>
          <a:prstGeom prst="roundRect">
            <a:avLst>
              <a:gd name="adj" fmla="val 10000"/>
            </a:avLst>
          </a:prstGeom>
          <a:solidFill>
            <a:srgbClr val="ECFDF5"/>
          </a:solidFill>
          <a:ln w="95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lnSpc>
                <a:spcPct val="95000"/>
              </a:lnSpc>
            </a:pPr>
            <a:r>
              <a:rPr sz="950" b="0" i="0">
                <a:solidFill>
                  <a:srgbClr val="14532D"/>
                </a:solidFill>
                <a:latin typeface="Calibri"/>
              </a:rPr>
              <a:t>Chainlit : réponse citée_x000B_+ preuves visuelles</a:t>
            </a:r>
          </a:p>
        </p:txBody>
      </p:sp>
      <p:sp>
        <p:nvSpPr>
          <p:cNvPr id="32" name="Down Arrow 31"/>
          <p:cNvSpPr/>
          <p:nvPr/>
        </p:nvSpPr>
        <p:spPr>
          <a:xfrm>
            <a:off x="10561320" y="2295144"/>
            <a:ext cx="182880" cy="484632"/>
          </a:xfrm>
          <a:prstGeom prst="down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48640" y="3831336"/>
            <a:ext cx="1757172" cy="713232"/>
          </a:xfrm>
          <a:prstGeom prst="roundRect">
            <a:avLst>
              <a:gd name="adj" fmla="val 1200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bIns="18288"/>
          <a:lstStyle/>
          <a:p>
            <a:pPr algn="ctr"/>
            <a:r>
              <a:rPr sz="1500" b="1" i="0">
                <a:solidFill>
                  <a:srgbClr val="14532D"/>
                </a:solidFill>
                <a:latin typeface="Calibri"/>
              </a:rPr>
              <a:t>178 456</a:t>
            </a:r>
          </a:p>
          <a:p>
            <a:pPr algn="ctr"/>
            <a:r>
              <a:rPr sz="900" b="0" i="0">
                <a:solidFill>
                  <a:srgbClr val="6B7280"/>
                </a:solidFill>
                <a:latin typeface="Calibri"/>
              </a:rPr>
              <a:t>chunks (17 196 tableaux)</a:t>
            </a:r>
          </a:p>
        </p:txBody>
      </p:sp>
      <p:sp>
        <p:nvSpPr>
          <p:cNvPr id="34" name="Rounded Rectangle 33"/>
          <p:cNvSpPr/>
          <p:nvPr/>
        </p:nvSpPr>
        <p:spPr>
          <a:xfrm>
            <a:off x="2415540" y="3831336"/>
            <a:ext cx="1757172" cy="713232"/>
          </a:xfrm>
          <a:prstGeom prst="roundRect">
            <a:avLst>
              <a:gd name="adj" fmla="val 1200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bIns="18288"/>
          <a:lstStyle/>
          <a:p>
            <a:pPr algn="ctr"/>
            <a:r>
              <a:rPr sz="1500" b="1" i="0">
                <a:solidFill>
                  <a:srgbClr val="14532D"/>
                </a:solidFill>
                <a:latin typeface="Calibri"/>
              </a:rPr>
              <a:t>65 ms</a:t>
            </a:r>
          </a:p>
          <a:p>
            <a:pPr algn="ctr"/>
            <a:r>
              <a:rPr sz="900" b="0" i="0">
                <a:solidFill>
                  <a:srgbClr val="6B7280"/>
                </a:solidFill>
                <a:latin typeface="Calibri"/>
              </a:rPr>
              <a:t>récupération hybride</a:t>
            </a:r>
          </a:p>
        </p:txBody>
      </p:sp>
      <p:sp>
        <p:nvSpPr>
          <p:cNvPr id="35" name="Rounded Rectangle 34"/>
          <p:cNvSpPr/>
          <p:nvPr/>
        </p:nvSpPr>
        <p:spPr>
          <a:xfrm>
            <a:off x="4282440" y="3831336"/>
            <a:ext cx="1757172" cy="713232"/>
          </a:xfrm>
          <a:prstGeom prst="roundRect">
            <a:avLst>
              <a:gd name="adj" fmla="val 1200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bIns="18288"/>
          <a:lstStyle/>
          <a:p>
            <a:pPr algn="ctr"/>
            <a:r>
              <a:rPr sz="1500" b="1" i="0">
                <a:solidFill>
                  <a:srgbClr val="14532D"/>
                </a:solidFill>
                <a:latin typeface="Calibri"/>
              </a:rPr>
              <a:t>p50 ≈ 3,9 s</a:t>
            </a:r>
          </a:p>
          <a:p>
            <a:pPr algn="ctr"/>
            <a:r>
              <a:rPr sz="900" b="0" i="0">
                <a:solidFill>
                  <a:srgbClr val="6B7280"/>
                </a:solidFill>
                <a:latin typeface="Calibri"/>
              </a:rPr>
              <a:t>réponse complète</a:t>
            </a:r>
          </a:p>
        </p:txBody>
      </p:sp>
      <p:sp>
        <p:nvSpPr>
          <p:cNvPr id="36" name="Rounded Rectangle 35"/>
          <p:cNvSpPr/>
          <p:nvPr/>
        </p:nvSpPr>
        <p:spPr>
          <a:xfrm>
            <a:off x="6149340" y="3831336"/>
            <a:ext cx="1757172" cy="713232"/>
          </a:xfrm>
          <a:prstGeom prst="roundRect">
            <a:avLst>
              <a:gd name="adj" fmla="val 1200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bIns="18288"/>
          <a:lstStyle/>
          <a:p>
            <a:pPr algn="ctr"/>
            <a:r>
              <a:rPr sz="1500" b="1" i="0">
                <a:solidFill>
                  <a:srgbClr val="14532D"/>
                </a:solidFill>
                <a:latin typeface="Calibri"/>
              </a:rPr>
              <a:t>≈ 0,006 $</a:t>
            </a:r>
          </a:p>
          <a:p>
            <a:pPr algn="ctr"/>
            <a:r>
              <a:rPr sz="900" b="0" i="0">
                <a:solidFill>
                  <a:srgbClr val="6B7280"/>
                </a:solidFill>
                <a:latin typeface="Calibri"/>
              </a:rPr>
              <a:t>coût / question</a:t>
            </a:r>
          </a:p>
        </p:txBody>
      </p:sp>
      <p:sp>
        <p:nvSpPr>
          <p:cNvPr id="37" name="Rounded Rectangle 36"/>
          <p:cNvSpPr/>
          <p:nvPr/>
        </p:nvSpPr>
        <p:spPr>
          <a:xfrm>
            <a:off x="8016240" y="3831336"/>
            <a:ext cx="1757172" cy="713232"/>
          </a:xfrm>
          <a:prstGeom prst="roundRect">
            <a:avLst>
              <a:gd name="adj" fmla="val 1200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bIns="18288"/>
          <a:lstStyle/>
          <a:p>
            <a:pPr algn="ctr"/>
            <a:r>
              <a:rPr sz="1500" b="1" i="0">
                <a:solidFill>
                  <a:srgbClr val="14532D"/>
                </a:solidFill>
                <a:latin typeface="Calibri"/>
              </a:rPr>
              <a:t>3 appels max</a:t>
            </a:r>
          </a:p>
          <a:p>
            <a:pPr algn="ctr"/>
            <a:r>
              <a:rPr sz="900" b="0" i="0">
                <a:solidFill>
                  <a:srgbClr val="6B7280"/>
                </a:solidFill>
                <a:latin typeface="Calibri"/>
              </a:rPr>
              <a:t>LLM par tour</a:t>
            </a:r>
          </a:p>
        </p:txBody>
      </p:sp>
      <p:sp>
        <p:nvSpPr>
          <p:cNvPr id="38" name="Rounded Rectangle 37"/>
          <p:cNvSpPr/>
          <p:nvPr/>
        </p:nvSpPr>
        <p:spPr>
          <a:xfrm>
            <a:off x="9883140" y="3831336"/>
            <a:ext cx="1757172" cy="713232"/>
          </a:xfrm>
          <a:prstGeom prst="roundRect">
            <a:avLst>
              <a:gd name="adj" fmla="val 1200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bIns="18288"/>
          <a:lstStyle/>
          <a:p>
            <a:pPr algn="ctr"/>
            <a:r>
              <a:rPr sz="1500" b="1" i="0">
                <a:solidFill>
                  <a:srgbClr val="14532D"/>
                </a:solidFill>
                <a:latin typeface="Calibri"/>
              </a:rPr>
              <a:t>100 %</a:t>
            </a:r>
          </a:p>
          <a:p>
            <a:pPr algn="ctr"/>
            <a:r>
              <a:rPr sz="900" b="0" i="0">
                <a:solidFill>
                  <a:srgbClr val="6B7280"/>
                </a:solidFill>
                <a:latin typeface="Calibri"/>
              </a:rPr>
              <a:t>rejouable par couche</a:t>
            </a:r>
          </a:p>
        </p:txBody>
      </p:sp>
      <p:sp>
        <p:nvSpPr>
          <p:cNvPr id="39" name="TextBox 38"/>
          <p:cNvSpPr txBox="1"/>
          <p:nvPr/>
        </p:nvSpPr>
        <p:spPr>
          <a:xfrm>
            <a:off x="548640" y="4681728"/>
            <a:ext cx="11091672" cy="502920"/>
          </a:xfrm>
          <a:prstGeom prst="rect">
            <a:avLst/>
          </a:prstGeom>
          <a:noFill/>
        </p:spPr>
        <p:txBody>
          <a:bodyPr wrap="square">
            <a:spAutoFit/>
          </a:bodyPr>
          <a:lstStyle/>
          <a:p>
            <a:r>
              <a:rPr sz="1100" b="0" i="1">
                <a:solidFill>
                  <a:srgbClr val="6B7280"/>
                </a:solidFill>
                <a:latin typeface="Calibri"/>
              </a:rPr>
              <a:t>Une seule source de vérité par constante, dans la configuration. Chaque couche est derrière un commutateur d'environnement, et chaque enrichissement peut se dégrader sans jamais bloquer la réponse.</a:t>
            </a:r>
          </a:p>
        </p:txBody>
      </p:sp>
      <p:sp>
        <p:nvSpPr>
          <p:cNvPr id="40" name="TextBox 39"/>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41" name="TextBox 40"/>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 · LA PLATEFORME</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 Synthèse assistée » — les formes de réponse servies et mesurées</a:t>
            </a:r>
          </a:p>
        </p:txBody>
      </p:sp>
      <p:sp>
        <p:nvSpPr>
          <p:cNvPr id="5" name="Rectangle 4"/>
          <p:cNvSpPr/>
          <p:nvPr/>
        </p:nvSpPr>
        <p:spPr>
          <a:xfrm>
            <a:off x="548640" y="1042415"/>
            <a:ext cx="1463040" cy="3657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7" name="PageNumber"/>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11</a:t>
            </a:r>
          </a:p>
        </p:txBody>
      </p:sp>
      <p:graphicFrame>
        <p:nvGraphicFramePr>
          <p:cNvPr id="8" name="Table 7"/>
          <p:cNvGraphicFramePr>
            <a:graphicFrameLocks noGrp="1"/>
          </p:cNvGraphicFramePr>
          <p:nvPr/>
        </p:nvGraphicFramePr>
        <p:xfrm>
          <a:off x="548640" y="1243584"/>
          <a:ext cx="11091671" cy="3291840"/>
        </p:xfrm>
        <a:graphic>
          <a:graphicData uri="http://schemas.openxmlformats.org/drawingml/2006/table">
            <a:tbl>
              <a:tblPr>
                <a:tableStyleId>{5C22544A-7EE6-4342-B048-85BDC9FD1C3A}</a:tableStyleId>
              </a:tblPr>
              <a:tblGrid>
                <a:gridCol w="1737360"/>
                <a:gridCol w="2926080"/>
                <a:gridCol w="1874519"/>
                <a:gridCol w="4553712"/>
              </a:tblGrid>
              <a:tr h="329184">
                <a:tc>
                  <a:txBody>
                    <a:bodyPr wrap="square"/>
                    <a:lstStyle/>
                    <a:p>
                      <a:pPr algn="l">
                        <a:lnSpc>
                          <a:spcPct val="98000"/>
                        </a:lnSpc>
                      </a:pPr>
                      <a:r>
                        <a:rPr sz="1000" b="1" i="0">
                          <a:solidFill>
                            <a:srgbClr val="FFFFFF"/>
                          </a:solidFill>
                          <a:latin typeface="Calibri"/>
                        </a:rPr>
                        <a:t>Forme de synthèse</a:t>
                      </a:r>
                    </a:p>
                  </a:txBody>
                  <a:tcPr marL="54864" marR="54864" marT="27432" marB="27432" anchor="ctr">
                    <a:solidFill>
                      <a:srgbClr val="166534"/>
                    </a:solidFill>
                  </a:tcPr>
                </a:tc>
                <a:tc>
                  <a:txBody>
                    <a:bodyPr wrap="square"/>
                    <a:lstStyle/>
                    <a:p>
                      <a:pPr algn="l">
                        <a:lnSpc>
                          <a:spcPct val="98000"/>
                        </a:lnSpc>
                      </a:pPr>
                      <a:r>
                        <a:rPr sz="1000" b="1" i="0">
                          <a:solidFill>
                            <a:srgbClr val="FFFFFF"/>
                          </a:solidFill>
                          <a:latin typeface="Calibri"/>
                        </a:rPr>
                        <a:t>Mécanisme</a:t>
                      </a:r>
                    </a:p>
                  </a:txBody>
                  <a:tcPr marL="54864" marR="54864" marT="27432" marB="27432" anchor="ctr">
                    <a:solidFill>
                      <a:srgbClr val="166534"/>
                    </a:solidFill>
                  </a:tcPr>
                </a:tc>
                <a:tc>
                  <a:txBody>
                    <a:bodyPr wrap="square"/>
                    <a:lstStyle/>
                    <a:p>
                      <a:pPr algn="l">
                        <a:lnSpc>
                          <a:spcPct val="98000"/>
                        </a:lnSpc>
                      </a:pPr>
                      <a:r>
                        <a:rPr sz="1000" b="1" i="0">
                          <a:solidFill>
                            <a:srgbClr val="FFFFFF"/>
                          </a:solidFill>
                          <a:latin typeface="Calibri"/>
                        </a:rPr>
                        <a:t>Classe gold (cas)</a:t>
                      </a:r>
                    </a:p>
                  </a:txBody>
                  <a:tcPr marL="54864" marR="54864" marT="27432" marB="27432" anchor="ctr">
                    <a:solidFill>
                      <a:srgbClr val="166534"/>
                    </a:solidFill>
                  </a:tcPr>
                </a:tc>
                <a:tc>
                  <a:txBody>
                    <a:bodyPr wrap="square"/>
                    <a:lstStyle/>
                    <a:p>
                      <a:pPr algn="l">
                        <a:lnSpc>
                          <a:spcPct val="98000"/>
                        </a:lnSpc>
                      </a:pPr>
                      <a:r>
                        <a:rPr sz="1000" b="1" i="0">
                          <a:solidFill>
                            <a:srgbClr val="FFFFFF"/>
                          </a:solidFill>
                          <a:latin typeface="Calibri"/>
                        </a:rPr>
                        <a:t>Exemple réel du gold</a:t>
                      </a:r>
                    </a:p>
                  </a:txBody>
                  <a:tcPr marL="54864" marR="54864" marT="27432" marB="27432" anchor="ctr">
                    <a:solidFill>
                      <a:srgbClr val="166534"/>
                    </a:solidFill>
                  </a:tcPr>
                </a:tc>
              </a:tr>
              <a:tr h="329184">
                <a:tc>
                  <a:txBody>
                    <a:bodyPr wrap="square"/>
                    <a:lstStyle/>
                    <a:p>
                      <a:pPr algn="l">
                        <a:lnSpc>
                          <a:spcPct val="98000"/>
                        </a:lnSpc>
                      </a:pPr>
                      <a:r>
                        <a:rPr sz="950" b="0" i="0">
                          <a:solidFill>
                            <a:srgbClr val="1F2937"/>
                          </a:solidFill>
                          <a:latin typeface="Calibri"/>
                        </a:rPr>
                        <a:t>Un fait cité, puis son contexte</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registre de faits, puis deux ou trois phrases de contexte citées</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identifier 45 · compact-id 4 · board-code 7</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 Quel financement GCF demande FP151 ? » : 18,5 M USD [p. 5], puis deux ou trois phrases citées</a:t>
                      </a:r>
                    </a:p>
                  </a:txBody>
                  <a:tcPr marL="54864" marR="54864" marT="27432" marB="27432" anchor="ctr">
                    <a:solidFill>
                      <a:srgbClr val="FFFFFF"/>
                    </a:solidFill>
                  </a:tcPr>
                </a:tc>
              </a:tr>
              <a:tr h="329184">
                <a:tc>
                  <a:txBody>
                    <a:bodyPr wrap="square"/>
                    <a:lstStyle/>
                    <a:p>
                      <a:pPr algn="l">
                        <a:lnSpc>
                          <a:spcPct val="98000"/>
                        </a:lnSpc>
                      </a:pPr>
                      <a:r>
                        <a:rPr sz="950" b="0" i="0">
                          <a:solidFill>
                            <a:srgbClr val="1F2937"/>
                          </a:solidFill>
                          <a:latin typeface="Calibri"/>
                        </a:rPr>
                        <a:t>Comparaison multi-documents</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décomposition par entité, puis matrice document × champ</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comparison 12</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 Which is larger, FP214 or FP274? » : une ligne par document, un statut par cellule, et jamais de classement entre devises différentes</a:t>
                      </a:r>
                    </a:p>
                  </a:txBody>
                  <a:tcPr marL="54864" marR="54864" marT="27432" marB="27432" anchor="ctr">
                    <a:solidFill>
                      <a:srgbClr val="F5F5F4"/>
                    </a:solidFill>
                  </a:tcPr>
                </a:tc>
              </a:tr>
              <a:tr h="329184">
                <a:tc>
                  <a:txBody>
                    <a:bodyPr wrap="square"/>
                    <a:lstStyle/>
                    <a:p>
                      <a:pPr algn="l">
                        <a:lnSpc>
                          <a:spcPct val="98000"/>
                        </a:lnSpc>
                      </a:pPr>
                      <a:r>
                        <a:rPr sz="950" b="0" i="0">
                          <a:solidFill>
                            <a:srgbClr val="1F2937"/>
                          </a:solidFill>
                          <a:latin typeface="Calibri"/>
                        </a:rPr>
                        <a:t>Agrégats et index inverses</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index par année, par pays et par entité ; listes tronquées en le disant</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aggregate 21</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 Which 2020 proposal requested the largest GCF funding? » ; « 41 propositions citent l'UNDP », l'en-tête étant lui-même cité</a:t>
                      </a:r>
                    </a:p>
                  </a:txBody>
                  <a:tcPr marL="54864" marR="54864" marT="27432" marB="27432" anchor="ctr">
                    <a:solidFill>
                      <a:srgbClr val="FFFFFF"/>
                    </a:solidFill>
                  </a:tcPr>
                </a:tc>
              </a:tr>
              <a:tr h="329184">
                <a:tc>
                  <a:txBody>
                    <a:bodyPr wrap="square"/>
                    <a:lstStyle/>
                    <a:p>
                      <a:pPr algn="l">
                        <a:lnSpc>
                          <a:spcPct val="98000"/>
                        </a:lnSpc>
                      </a:pPr>
                      <a:r>
                        <a:rPr sz="950" b="0" i="0">
                          <a:solidFill>
                            <a:srgbClr val="1F2937"/>
                          </a:solidFill>
                          <a:latin typeface="Calibri"/>
                        </a:rPr>
                        <a:t>Contradictions du corpus</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registre de faits : les conflits sont rendus avec leurs deux valeurs et leurs pages</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conflict 9</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 Are the GCF figures in FP274 consistent? » : non, trois montants aux pages 7, 8 et 40, jamais tranchés</a:t>
                      </a:r>
                    </a:p>
                  </a:txBody>
                  <a:tcPr marL="54864" marR="54864" marT="27432" marB="27432" anchor="ctr">
                    <a:solidFill>
                      <a:srgbClr val="F5F5F4"/>
                    </a:solidFill>
                  </a:tcPr>
                </a:tc>
              </a:tr>
              <a:tr h="329184">
                <a:tc>
                  <a:txBody>
                    <a:bodyPr wrap="square"/>
                    <a:lstStyle/>
                    <a:p>
                      <a:pPr algn="l">
                        <a:lnSpc>
                          <a:spcPct val="98000"/>
                        </a:lnSpc>
                      </a:pPr>
                      <a:r>
                        <a:rPr sz="950" b="0" i="0">
                          <a:solidFill>
                            <a:srgbClr val="1F2937"/>
                          </a:solidFill>
                          <a:latin typeface="Calibri"/>
                        </a:rPr>
                        <a:t>Découverte thématique</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récupération hybride avec diversité de pages</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discovery 11</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 Which proposal supports climate-smart rice farming in Thailand? » : un échantillon cité, aucun superlatif sur l'ensemble du corpus</a:t>
                      </a:r>
                    </a:p>
                  </a:txBody>
                  <a:tcPr marL="54864" marR="54864" marT="27432" marB="27432" anchor="ctr">
                    <a:solidFill>
                      <a:srgbClr val="FFFFFF"/>
                    </a:solidFill>
                  </a:tcPr>
                </a:tc>
              </a:tr>
              <a:tr h="329184">
                <a:tc>
                  <a:txBody>
                    <a:bodyPr wrap="square"/>
                    <a:lstStyle/>
                    <a:p>
                      <a:pPr algn="l">
                        <a:lnSpc>
                          <a:spcPct val="98000"/>
                        </a:lnSpc>
                      </a:pPr>
                      <a:r>
                        <a:rPr sz="950" b="0" i="0">
                          <a:solidFill>
                            <a:srgbClr val="1F2937"/>
                          </a:solidFill>
                          <a:latin typeface="Calibri"/>
                        </a:rPr>
                        <a:t>Procédures (L3)</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la classe « procédure », sur le corpus des propositions</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procedure 8</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 How will FP271 be monitored and evaluated? » ; l'élargissement aux politiques du GCF est la phase 5a</a:t>
                      </a:r>
                    </a:p>
                  </a:txBody>
                  <a:tcPr marL="54864" marR="54864" marT="27432" marB="27432" anchor="ctr">
                    <a:solidFill>
                      <a:srgbClr val="F5F5F4"/>
                    </a:solidFill>
                  </a:tcPr>
                </a:tc>
              </a:tr>
              <a:tr h="329184">
                <a:tc>
                  <a:txBody>
                    <a:bodyPr wrap="square"/>
                    <a:lstStyle/>
                    <a:p>
                      <a:pPr algn="l">
                        <a:lnSpc>
                          <a:spcPct val="98000"/>
                        </a:lnSpc>
                      </a:pPr>
                      <a:r>
                        <a:rPr sz="950" b="0" i="0">
                          <a:solidFill>
                            <a:srgbClr val="1F2937"/>
                          </a:solidFill>
                          <a:latin typeface="Calibri"/>
                        </a:rPr>
                        <a:t>Suivi conversationnel</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conducteur et mémoire de conversation</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followup 15</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 And how much GCF funding does it request? » : l'identifiant est résolu depuis la mémoire du fil</a:t>
                      </a:r>
                    </a:p>
                  </a:txBody>
                  <a:tcPr marL="54864" marR="54864" marT="27432" marB="27432" anchor="ctr">
                    <a:solidFill>
                      <a:srgbClr val="FFFFFF"/>
                    </a:solidFill>
                  </a:tcPr>
                </a:tc>
              </a:tr>
              <a:tr h="329184">
                <a:tc>
                  <a:txBody>
                    <a:bodyPr wrap="square"/>
                    <a:lstStyle/>
                    <a:p>
                      <a:pPr algn="l">
                        <a:lnSpc>
                          <a:spcPct val="98000"/>
                        </a:lnSpc>
                      </a:pPr>
                      <a:r>
                        <a:rPr sz="950" b="0" i="0">
                          <a:solidFill>
                            <a:srgbClr val="1F2937"/>
                          </a:solidFill>
                          <a:latin typeface="Calibri"/>
                        </a:rPr>
                        <a:t>Refus honnête</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garde sur les identifiants absents, périmètre fermé, monde clos</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abstain 8</a:t>
                      </a:r>
                    </a:p>
                  </a:txBody>
                  <a:tcPr marL="54864" marR="54864" marT="27432" marB="27432" anchor="ctr">
                    <a:solidFill>
                      <a:srgbClr val="F5F5F4"/>
                    </a:solidFill>
                  </a:tcPr>
                </a:tc>
                <a:tc>
                  <a:txBody>
                    <a:bodyPr wrap="square"/>
                    <a:lstStyle/>
                    <a:p>
                      <a:pPr algn="l">
                        <a:lnSpc>
                          <a:spcPct val="98000"/>
                        </a:lnSpc>
                      </a:pPr>
                      <a:r>
                        <a:rPr sz="950" b="0" i="0">
                          <a:solidFill>
                            <a:srgbClr val="1F2937"/>
                          </a:solidFill>
                          <a:latin typeface="Calibri"/>
                        </a:rPr>
                        <a:t>« What does FP999 fund? » : « FP999 n'existe pas dans ce corpus (273 documents) »</a:t>
                      </a:r>
                    </a:p>
                  </a:txBody>
                  <a:tcPr marL="54864" marR="54864" marT="27432" marB="27432" anchor="ctr">
                    <a:solidFill>
                      <a:srgbClr val="F5F5F4"/>
                    </a:solidFill>
                  </a:tcPr>
                </a:tc>
              </a:tr>
              <a:tr h="329184">
                <a:tc>
                  <a:txBody>
                    <a:bodyPr wrap="square"/>
                    <a:lstStyle/>
                    <a:p>
                      <a:pPr algn="l">
                        <a:lnSpc>
                          <a:spcPct val="98000"/>
                        </a:lnSpc>
                      </a:pPr>
                      <a:r>
                        <a:rPr sz="950" b="0" i="0">
                          <a:solidFill>
                            <a:srgbClr val="1F2937"/>
                          </a:solidFill>
                          <a:latin typeface="Calibri"/>
                        </a:rPr>
                        <a:t>Robustesse linguistique</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détection de la langue par le code, seconde sonde avec la formulation d'origine</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french 17 · noisy 8</a:t>
                      </a:r>
                    </a:p>
                  </a:txBody>
                  <a:tcPr marL="54864" marR="54864" marT="27432" marB="27432" anchor="ctr">
                    <a:solidFill>
                      <a:srgbClr val="FFFFFF"/>
                    </a:solidFill>
                  </a:tcPr>
                </a:tc>
                <a:tc>
                  <a:txBody>
                    <a:bodyPr wrap="square"/>
                    <a:lstStyle/>
                    <a:p>
                      <a:pPr algn="l">
                        <a:lnSpc>
                          <a:spcPct val="98000"/>
                        </a:lnSpc>
                      </a:pPr>
                      <a:r>
                        <a:rPr sz="950" b="0" i="0">
                          <a:solidFill>
                            <a:srgbClr val="1F2937"/>
                          </a:solidFill>
                          <a:latin typeface="Calibri"/>
                        </a:rPr>
                        <a:t>« wat is teh gcf finacing for fp274? » : la page preuve est retrouvée, et la réponse vient dans la langue de la question</a:t>
                      </a:r>
                    </a:p>
                  </a:txBody>
                  <a:tcPr marL="54864" marR="54864" marT="27432" marB="27432" anchor="ctr">
                    <a:solidFill>
                      <a:srgbClr val="FFFFFF"/>
                    </a:solidFill>
                  </a:tcPr>
                </a:tc>
              </a:tr>
            </a:tbl>
          </a:graphicData>
        </a:graphic>
      </p:graphicFrame>
      <p:sp>
        <p:nvSpPr>
          <p:cNvPr id="9" name="TextBox 8"/>
          <p:cNvSpPr txBox="1"/>
          <p:nvPr/>
        </p:nvSpPr>
        <p:spPr>
          <a:xfrm>
            <a:off x="548640" y="5074920"/>
            <a:ext cx="11091672" cy="548640"/>
          </a:xfrm>
          <a:prstGeom prst="rect">
            <a:avLst/>
          </a:prstGeom>
          <a:noFill/>
        </p:spPr>
        <p:txBody>
          <a:bodyPr wrap="square">
            <a:spAutoFit/>
          </a:bodyPr>
          <a:lstStyle/>
          <a:p>
            <a:r>
              <a:rPr sz="1150" b="1" i="0">
                <a:solidFill>
                  <a:srgbClr val="1F2937"/>
                </a:solidFill>
                <a:latin typeface="Calibri"/>
              </a:rPr>
              <a:t>165 cas gold, douze classes de comportement, en français et en anglais.</a:t>
            </a:r>
            <a:r>
              <a:rPr sz="1150" b="0" i="0">
                <a:solidFill>
                  <a:srgbClr val="1F2937"/>
                </a:solidFill>
                <a:latin typeface="Calibri"/>
              </a:rPr>
              <a:t> Chaque forme de synthèse a sa classe, son dénominateur et sa porte : la synthèse est mesurée, pas seulement démontrée.</a:t>
            </a:r>
          </a:p>
        </p:txBody>
      </p:sp>
      <p:sp>
        <p:nvSpPr>
          <p:cNvPr id="10" name="Rounded Rectangle 9"/>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64008" bIns="64008"/>
          <a:lstStyle/>
          <a:p>
            <a:pPr algn="ctr">
              <a:lnSpc>
                <a:spcPct val="100000"/>
              </a:lnSpc>
            </a:pPr>
            <a:r>
              <a:rPr sz="1050" b="1" i="0">
                <a:solidFill>
                  <a:srgbClr val="0C4A6E"/>
                </a:solidFill>
                <a:latin typeface="Calibri"/>
              </a:rPr>
              <a:t>LITTÉRATURE — </a:t>
            </a:r>
            <a:r>
              <a:rPr sz="1050" b="0" i="0">
                <a:solidFill>
                  <a:srgbClr val="0C4A6E"/>
                </a:solidFill>
                <a:latin typeface="Calibri"/>
              </a:rPr>
              <a:t>La synthèse assistée prolonge la génération attribuée (Rashkin 2021 ; Menick 2022 ; ALCE 2023) vers le multi-document, par décomposition (Press 2022), et vers les agrégats, par un magasin symbolique. Chaque forme se place sur la grille L1–L4 de Zhao et al. 2024.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 · LA PLATEFORME</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Le corpus sectoriel — acquisition, propriétés exploitées, portabilité</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840480"/>
          </a:xfrm>
          <a:prstGeom prst="rect">
            <a:avLst/>
          </a:prstGeom>
          <a:noFill/>
        </p:spPr>
        <p:txBody>
          <a:bodyPr wrap="square">
            <a:spAutoFit/>
          </a:bodyPr>
          <a:lstStyle/>
          <a:p>
            <a:pPr>
              <a:lnSpc>
                <a:spcPct val="102000"/>
              </a:lnSpc>
              <a:spcAft>
                <a:spcPts val="600"/>
              </a:spcAft>
            </a:pPr>
            <a:r>
              <a:rPr sz="1450" b="1" i="0">
                <a:solidFill>
                  <a:srgbClr val="16A34A"/>
                </a:solidFill>
                <a:latin typeface="Calibri"/>
              </a:rPr>
              <a:t>▪  </a:t>
            </a:r>
            <a:r>
              <a:rPr sz="1450" b="1" i="0">
                <a:solidFill>
                  <a:srgbClr val="1F2937"/>
                </a:solidFill>
                <a:latin typeface="Calibri"/>
              </a:rPr>
              <a:t>Acquisition.</a:t>
            </a:r>
            <a:r>
              <a:rPr sz="1450" b="0" i="0">
                <a:solidFill>
                  <a:srgbClr val="1F2937"/>
                </a:solidFill>
                <a:latin typeface="Calibri"/>
              </a:rPr>
              <a:t> Le portail du GCF a été moissonné par des notebooks dédiés, qui produisent des tableaux de suivi et téléchargent les paquets de propositions. Les PDF sont l'entrée irremplaçable du contrat de données.</a:t>
            </a:r>
          </a:p>
          <a:p>
            <a:pPr>
              <a:lnSpc>
                <a:spcPct val="102000"/>
              </a:lnSpc>
              <a:spcAft>
                <a:spcPts val="600"/>
              </a:spcAft>
            </a:pPr>
            <a:r>
              <a:rPr sz="1450" b="1" i="0">
                <a:solidFill>
                  <a:srgbClr val="16A34A"/>
                </a:solidFill>
                <a:latin typeface="Calibri"/>
              </a:rPr>
              <a:t>▪  </a:t>
            </a:r>
            <a:r>
              <a:rPr sz="1450" b="1" i="0">
                <a:solidFill>
                  <a:srgbClr val="1F2937"/>
                </a:solidFill>
                <a:latin typeface="Calibri"/>
              </a:rPr>
              <a:t>273 propositions de financement</a:t>
            </a:r>
            <a:r>
              <a:rPr sz="1450" b="0" i="0">
                <a:solidFill>
                  <a:srgbClr val="1F2937"/>
                </a:solidFill>
                <a:latin typeface="Calibri"/>
              </a:rPr>
              <a:t>, une par document, des conseils B.11 (2015) à B.43 (2025), pour 41 550 pages.</a:t>
            </a:r>
          </a:p>
          <a:p>
            <a:pPr>
              <a:lnSpc>
                <a:spcPct val="102000"/>
              </a:lnSpc>
              <a:spcAft>
                <a:spcPts val="400"/>
              </a:spcAft>
            </a:pPr>
            <a:r>
              <a:rPr sz="1300" b="0" i="0">
                <a:solidFill>
                  <a:srgbClr val="6B7280"/>
                </a:solidFill>
                <a:latin typeface="Calibri"/>
              </a:rPr>
              <a:t>    –  </a:t>
            </a:r>
            <a:r>
              <a:rPr sz="1300" b="0" i="0">
                <a:solidFill>
                  <a:srgbClr val="374151"/>
                </a:solidFill>
                <a:latin typeface="Calibri"/>
              </a:rPr>
              <a:t>Répartition par année : 2015 : 8 · 2016 : 28 · 2017 : 21 · 2018 : 39 · 2019 : 25 · 2020 : 30 · 2021 : 28 · 2022 : 17 · 2023 : 27 · 2024 : 29 · 2025 : 21.</a:t>
            </a:r>
          </a:p>
          <a:p>
            <a:pPr>
              <a:lnSpc>
                <a:spcPct val="102000"/>
              </a:lnSpc>
              <a:spcAft>
                <a:spcPts val="600"/>
              </a:spcAft>
            </a:pPr>
            <a:r>
              <a:rPr sz="1450" b="1" i="0">
                <a:solidFill>
                  <a:srgbClr val="16A34A"/>
                </a:solidFill>
                <a:latin typeface="Calibri"/>
              </a:rPr>
              <a:t>▪  </a:t>
            </a:r>
            <a:r>
              <a:rPr sz="1450" b="1" i="0">
                <a:solidFill>
                  <a:srgbClr val="1F2937"/>
                </a:solidFill>
                <a:latin typeface="Calibri"/>
              </a:rPr>
              <a:t>Contrat de régénération.</a:t>
            </a:r>
            <a:r>
              <a:rPr sz="1450" b="0" i="0">
                <a:solidFill>
                  <a:srgbClr val="1F2937"/>
                </a:solidFill>
                <a:latin typeface="Calibri"/>
              </a:rPr>
              <a:t> Chaque couche dérivée se reconstruit par une commande nommée, du cache de pages (environ 3 s par PDF) à l'extraction et à l'index.</a:t>
            </a:r>
          </a:p>
          <a:p>
            <a:pPr>
              <a:lnSpc>
                <a:spcPct val="102000"/>
              </a:lnSpc>
              <a:spcAft>
                <a:spcPts val="400"/>
              </a:spcAft>
            </a:pPr>
            <a:r>
              <a:rPr sz="1300" b="0" i="0">
                <a:solidFill>
                  <a:srgbClr val="6B7280"/>
                </a:solidFill>
                <a:latin typeface="Calibri"/>
              </a:rPr>
              <a:t>    –  </a:t>
            </a:r>
            <a:r>
              <a:rPr sz="1300" b="0" i="0">
                <a:solidFill>
                  <a:srgbClr val="374151"/>
                </a:solidFill>
                <a:latin typeface="Calibri"/>
              </a:rPr>
              <a:t>Le monde est clos : comme le registre couvre tout le corpus, une absence devient une preuve. « FP999 n'existe pas dans ce corpus » est un fait citable.</a:t>
            </a:r>
          </a:p>
          <a:p>
            <a:pPr>
              <a:lnSpc>
                <a:spcPct val="102000"/>
              </a:lnSpc>
              <a:spcAft>
                <a:spcPts val="600"/>
              </a:spcAft>
            </a:pPr>
            <a:r>
              <a:rPr sz="1450" b="1" i="0">
                <a:solidFill>
                  <a:srgbClr val="16A34A"/>
                </a:solidFill>
                <a:latin typeface="Calibri"/>
              </a:rPr>
              <a:t>▪  </a:t>
            </a:r>
            <a:r>
              <a:rPr sz="1450" b="1" i="0">
                <a:solidFill>
                  <a:srgbClr val="1F2937"/>
                </a:solidFill>
                <a:latin typeface="Calibri"/>
              </a:rPr>
              <a:t>La table de correspondance</a:t>
            </a:r>
            <a:r>
              <a:rPr sz="1450" b="0" i="0">
                <a:solidFill>
                  <a:srgbClr val="1F2937"/>
                </a:solidFill>
                <a:latin typeface="Calibri"/>
              </a:rPr>
              <a:t> entre conseils et années a été vérifiée contre la date en première page de 271 documents ; B.12 et B.17 sont interpolés.</a:t>
            </a:r>
          </a:p>
          <a:p>
            <a:pPr>
              <a:lnSpc>
                <a:spcPct val="102000"/>
              </a:lnSpc>
              <a:spcAft>
                <a:spcPts val="600"/>
              </a:spcAft>
            </a:pPr>
            <a:r>
              <a:rPr sz="1450" b="1" i="0">
                <a:solidFill>
                  <a:srgbClr val="16A34A"/>
                </a:solidFill>
                <a:latin typeface="Calibri"/>
              </a:rPr>
              <a:t>▪  </a:t>
            </a:r>
            <a:r>
              <a:rPr sz="1450" b="1" i="0">
                <a:solidFill>
                  <a:srgbClr val="1F2937"/>
                </a:solidFill>
                <a:latin typeface="Calibri"/>
              </a:rPr>
              <a:t>Où vit la connaissance du secteur.</a:t>
            </a:r>
            <a:r>
              <a:rPr sz="1450" b="0" i="0">
                <a:solidFill>
                  <a:srgbClr val="1F2937"/>
                </a:solidFill>
                <a:latin typeface="Calibri"/>
              </a:rPr>
              <a:t> Dans les gabarits du registre (18 champs), la grammaire des identifiants FP / B.xx / Add.xx, partagée par le tokenizer, le vérificateur et le prompt, la table conseils-années, les alias d'entités et le bloc de base du prompt. L'extraction, le découpage, l'index, l'ancrage visuel et le protocole de mesure ne dépendent pas du secteur.</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L'hypothèse du monde clos est rare dans les benchmarks RAG ouverts. Elle permet ici des refus honnêtes et certifiables, l'abstention étant mesurée dans une classe de test dédiée : un enjeu central de la littérature sur l'hallucination.</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 · LA PLATEFORME</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Extraction (1/2) — le banc d'essai des méthodes</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840480"/>
          </a:xfrm>
          <a:prstGeom prst="rect">
            <a:avLst/>
          </a:prstGeom>
          <a:noFill/>
        </p:spPr>
        <p:txBody>
          <a:bodyPr wrap="square">
            <a:spAutoFit/>
          </a:bodyPr>
          <a:lstStyle/>
          <a:p>
            <a:pPr>
              <a:lnSpc>
                <a:spcPct val="102000"/>
              </a:lnSpc>
              <a:spcAft>
                <a:spcPts val="600"/>
              </a:spcAft>
            </a:pPr>
            <a:r>
              <a:rPr sz="1450" b="1" i="0">
                <a:solidFill>
                  <a:srgbClr val="16A34A"/>
                </a:solidFill>
                <a:latin typeface="Calibri"/>
              </a:rPr>
              <a:t>▪  </a:t>
            </a:r>
            <a:r>
              <a:rPr sz="1450" b="1" i="0">
                <a:solidFill>
                  <a:srgbClr val="1F2937"/>
                </a:solidFill>
                <a:latin typeface="Calibri"/>
              </a:rPr>
              <a:t>Douze méthodes</a:t>
            </a:r>
            <a:r>
              <a:rPr sz="1450" b="0" i="0">
                <a:solidFill>
                  <a:srgbClr val="1F2937"/>
                </a:solidFill>
                <a:latin typeface="Calibri"/>
              </a:rPr>
              <a:t> ont été comparées sur le même corpus : des parseurs classiques (pypdf, PyMuPDF, pdfplumber), Docling, des LLM en API (GPT-4o-mini, o4-mini) et six modèles vision-langage locaux servis par LM Studio.</a:t>
            </a:r>
          </a:p>
          <a:p>
            <a:pPr>
              <a:lnSpc>
                <a:spcPct val="102000"/>
              </a:lnSpc>
              <a:spcAft>
                <a:spcPts val="400"/>
              </a:spcAft>
            </a:pPr>
            <a:r>
              <a:rPr sz="1300" b="0" i="0">
                <a:solidFill>
                  <a:srgbClr val="6B7280"/>
                </a:solidFill>
                <a:latin typeface="Calibri"/>
              </a:rPr>
              <a:t>    –  </a:t>
            </a:r>
            <a:r>
              <a:rPr sz="1300" b="0" i="0">
                <a:solidFill>
                  <a:srgbClr val="374151"/>
                </a:solidFill>
                <a:latin typeface="Calibri"/>
              </a:rPr>
              <a:t>Modèles testés : Qwen2.5-VL-7B, Qwen3-VL-8B, Pixtral-12B, olmOCR-2-7B, Granite Vision 3.2, GLM-4.6V-flash.</a:t>
            </a:r>
          </a:p>
          <a:p>
            <a:pPr>
              <a:lnSpc>
                <a:spcPct val="102000"/>
              </a:lnSpc>
              <a:spcAft>
                <a:spcPts val="600"/>
              </a:spcAft>
            </a:pPr>
            <a:r>
              <a:rPr sz="1450" b="1" i="0">
                <a:solidFill>
                  <a:srgbClr val="16A34A"/>
                </a:solidFill>
                <a:latin typeface="Calibri"/>
              </a:rPr>
              <a:t>▪  </a:t>
            </a:r>
            <a:r>
              <a:rPr sz="1450" b="1" i="0">
                <a:solidFill>
                  <a:srgbClr val="1F2937"/>
                </a:solidFill>
                <a:latin typeface="Calibri"/>
              </a:rPr>
              <a:t>Le choix</a:t>
            </a:r>
            <a:r>
              <a:rPr sz="1450" b="0" i="0">
                <a:solidFill>
                  <a:srgbClr val="1F2937"/>
                </a:solidFill>
                <a:latin typeface="Calibri"/>
              </a:rPr>
              <a:t> s'est porté sur un modèle vision-langage local : il respecte les tableaux (chaque table sort en markdown avec son en-tête), ne coûte rien par page, garde les données sur place et offre un débit maîtrisé.</a:t>
            </a:r>
          </a:p>
          <a:p>
            <a:pPr>
              <a:lnSpc>
                <a:spcPct val="102000"/>
              </a:lnSpc>
              <a:spcAft>
                <a:spcPts val="600"/>
              </a:spcAft>
            </a:pPr>
            <a:r>
              <a:rPr sz="1450" b="1" i="0">
                <a:solidFill>
                  <a:srgbClr val="16A34A"/>
                </a:solidFill>
                <a:latin typeface="Calibri"/>
              </a:rPr>
              <a:t>▪  </a:t>
            </a:r>
            <a:r>
              <a:rPr sz="1450" b="1" i="0">
                <a:solidFill>
                  <a:srgbClr val="1F2937"/>
                </a:solidFill>
                <a:latin typeface="Calibri"/>
              </a:rPr>
              <a:t>Le rendu des pages</a:t>
            </a:r>
            <a:r>
              <a:rPr sz="1450" b="0" i="0">
                <a:solidFill>
                  <a:srgbClr val="1F2937"/>
                </a:solidFill>
                <a:latin typeface="Calibri"/>
              </a:rPr>
              <a:t> a été mesuré contre le serveur réel : 17,9 s par page en PNG 6,0 mégapixels, 8,1 s en JPEG 2,0 mégapixels, 7,7 s en 1,1 mégapixel, pour un texte identique à l'octet et un prompt réduit de 3 846 à 2 570 tokens.</a:t>
            </a:r>
          </a:p>
          <a:p>
            <a:pPr>
              <a:lnSpc>
                <a:spcPct val="102000"/>
              </a:lnSpc>
              <a:spcAft>
                <a:spcPts val="400"/>
              </a:spcAft>
            </a:pPr>
            <a:r>
              <a:rPr sz="1300" b="0" i="0">
                <a:solidFill>
                  <a:srgbClr val="6B7280"/>
                </a:solidFill>
                <a:latin typeface="Calibri"/>
              </a:rPr>
              <a:t>    –  </a:t>
            </a:r>
            <a:r>
              <a:rPr sz="1300" b="0" i="0">
                <a:solidFill>
                  <a:srgbClr val="374151"/>
                </a:solidFill>
                <a:latin typeface="Calibri"/>
              </a:rPr>
              <a:t>L'héritage à 250 DPI payait 2,2 fois la latence pour des pixels inutilisés. La leçon vaut pour tout le projet : mesurer chaque étage, ne rien supposer.</a:t>
            </a:r>
          </a:p>
          <a:p>
            <a:pPr>
              <a:lnSpc>
                <a:spcPct val="102000"/>
              </a:lnSpc>
              <a:spcAft>
                <a:spcPts val="600"/>
              </a:spcAft>
            </a:pPr>
            <a:r>
              <a:rPr sz="1450" b="1" i="0">
                <a:solidFill>
                  <a:srgbClr val="16A34A"/>
                </a:solidFill>
                <a:latin typeface="Calibri"/>
              </a:rPr>
              <a:t>▪  </a:t>
            </a:r>
            <a:r>
              <a:rPr sz="1450" b="1" i="0">
                <a:solidFill>
                  <a:srgbClr val="1F2937"/>
                </a:solidFill>
                <a:latin typeface="Calibri"/>
              </a:rPr>
              <a:t>Le corpus servi</a:t>
            </a:r>
            <a:r>
              <a:rPr sz="1450" b="0" i="0">
                <a:solidFill>
                  <a:srgbClr val="1F2937"/>
                </a:solidFill>
                <a:latin typeface="Calibri"/>
              </a:rPr>
              <a:t> a été extrait par Qwen2.5-VL-7B ; Qwen3-VL-8B est configuré pour les prochaines extractions.</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Kim et al. 2022 (Donut), Blecher et al. 2023 (Nougat), olmOCR 2025 : la compréhension de documents sans OCR par des modèles vision-langage. Ici, le choix a été tranché par un banc d'essai local, pas par l'outillage disponible.</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 · LA PLATEFORME</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Extraction (2/2) — le pipeline VLM industrialisé</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886200"/>
          </a:xfrm>
          <a:prstGeom prst="rect">
            <a:avLst/>
          </a:prstGeom>
          <a:noFill/>
        </p:spPr>
        <p:txBody>
          <a:bodyPr wrap="square">
            <a:spAutoFit/>
          </a:bodyPr>
          <a:lstStyle/>
          <a:p>
            <a:pPr>
              <a:lnSpc>
                <a:spcPct val="102000"/>
              </a:lnSpc>
              <a:spcAft>
                <a:spcPts val="600"/>
              </a:spcAft>
            </a:pPr>
            <a:r>
              <a:rPr sz="1400" b="1" i="0">
                <a:solidFill>
                  <a:srgbClr val="16A34A"/>
                </a:solidFill>
                <a:latin typeface="Calibri"/>
              </a:rPr>
              <a:t>▪  </a:t>
            </a:r>
            <a:r>
              <a:rPr sz="1400" b="1" i="0">
                <a:solidFill>
                  <a:srgbClr val="1F2937"/>
                </a:solidFill>
                <a:latin typeface="Calibri"/>
              </a:rPr>
              <a:t>Le contrat de sortie</a:t>
            </a:r>
            <a:r>
              <a:rPr sz="1400" b="0" i="0">
                <a:solidFill>
                  <a:srgbClr val="1F2937"/>
                </a:solidFill>
                <a:latin typeface="Calibri"/>
              </a:rPr>
              <a:t> est fixé par le prompt système : un markdown fidèle, des tables avec en-têtes, des figures rendues par leur légende, et la mention exacte « [blank page] » pour les pages vides.</a:t>
            </a:r>
          </a:p>
          <a:p>
            <a:pPr>
              <a:lnSpc>
                <a:spcPct val="102000"/>
              </a:lnSpc>
              <a:spcAft>
                <a:spcPts val="600"/>
              </a:spcAft>
            </a:pPr>
            <a:r>
              <a:rPr sz="1400" b="1" i="0">
                <a:solidFill>
                  <a:srgbClr val="16A34A"/>
                </a:solidFill>
                <a:latin typeface="Calibri"/>
              </a:rPr>
              <a:t>▪  </a:t>
            </a:r>
            <a:r>
              <a:rPr sz="1400" b="1" i="0">
                <a:solidFill>
                  <a:srgbClr val="1F2937"/>
                </a:solidFill>
                <a:latin typeface="Calibri"/>
              </a:rPr>
              <a:t>La robustesse a été mesurée</a:t>
            </a:r>
            <a:r>
              <a:rPr sz="1400" b="0" i="0">
                <a:solidFill>
                  <a:srgbClr val="1F2937"/>
                </a:solidFill>
                <a:latin typeface="Calibri"/>
              </a:rPr>
              <a:t>, pas supposée.</a:t>
            </a:r>
          </a:p>
          <a:p>
            <a:pPr>
              <a:lnSpc>
                <a:spcPct val="102000"/>
              </a:lnSpc>
              <a:spcAft>
                <a:spcPts val="400"/>
              </a:spcAft>
            </a:pPr>
            <a:r>
              <a:rPr sz="1250" b="0" i="0">
                <a:solidFill>
                  <a:srgbClr val="6B7280"/>
                </a:solidFill>
                <a:latin typeface="Calibri"/>
              </a:rPr>
              <a:t>    –  </a:t>
            </a:r>
            <a:r>
              <a:rPr sz="1250" b="0" i="0">
                <a:solidFill>
                  <a:srgbClr val="374151"/>
                </a:solidFill>
                <a:latin typeface="Calibri"/>
              </a:rPr>
              <a:t>Deux requêtes multimodales simultanées tuent le processus du modèle (reproduit deux fois). D'où une seule requête à la fois, une quarantaine de 45 s et un disjoncteur après vingt échecs consécutifs.</a:t>
            </a:r>
          </a:p>
          <a:p>
            <a:pPr>
              <a:lnSpc>
                <a:spcPct val="102000"/>
              </a:lnSpc>
              <a:spcAft>
                <a:spcPts val="400"/>
              </a:spcAft>
            </a:pPr>
            <a:r>
              <a:rPr sz="1250" b="0" i="0">
                <a:solidFill>
                  <a:srgbClr val="6B7280"/>
                </a:solidFill>
                <a:latin typeface="Calibri"/>
              </a:rPr>
              <a:t>    –  </a:t>
            </a:r>
            <a:r>
              <a:rPr sz="1250" b="0" i="0">
                <a:solidFill>
                  <a:srgbClr val="374151"/>
                </a:solidFill>
                <a:latin typeface="Calibri"/>
              </a:rPr>
              <a:t>Un détecteur repère les sorties dégénérées, c'est-à-dire les boucles de répétition ; le budget double en cas de troncature ; le nombre de tentatives est plafonné.</a:t>
            </a:r>
          </a:p>
          <a:p>
            <a:pPr>
              <a:lnSpc>
                <a:spcPct val="102000"/>
              </a:lnSpc>
              <a:spcAft>
                <a:spcPts val="600"/>
              </a:spcAft>
            </a:pPr>
            <a:r>
              <a:rPr sz="1400" b="1" i="0">
                <a:solidFill>
                  <a:srgbClr val="16A34A"/>
                </a:solidFill>
                <a:latin typeface="Calibri"/>
              </a:rPr>
              <a:t>▪  </a:t>
            </a:r>
            <a:r>
              <a:rPr sz="1400" b="1" i="0">
                <a:solidFill>
                  <a:srgbClr val="1F2937"/>
                </a:solidFill>
                <a:latin typeface="Calibri"/>
              </a:rPr>
              <a:t>La reprise se fait par page</a:t>
            </a:r>
            <a:r>
              <a:rPr sz="1400" b="0" i="0">
                <a:solidFill>
                  <a:srgbClr val="1F2937"/>
                </a:solidFill>
                <a:latin typeface="Calibri"/>
              </a:rPr>
              <a:t>, jamais par document : un fichier markdown par page, et une fusion conditionnée à la complétude. La vérification au lancement a rattrapé un document déclaré « terminé » avec 240 pages sur 243.</a:t>
            </a:r>
          </a:p>
          <a:p>
            <a:pPr>
              <a:lnSpc>
                <a:spcPct val="102000"/>
              </a:lnSpc>
              <a:spcAft>
                <a:spcPts val="400"/>
              </a:spcAft>
            </a:pPr>
            <a:r>
              <a:rPr sz="1250" b="0" i="0">
                <a:solidFill>
                  <a:srgbClr val="6B7280"/>
                </a:solidFill>
                <a:latin typeface="Calibri"/>
              </a:rPr>
              <a:t>    –  </a:t>
            </a:r>
            <a:r>
              <a:rPr sz="1250" b="0" i="0">
                <a:solidFill>
                  <a:srgbClr val="374151"/>
                </a:solidFill>
                <a:latin typeface="Calibri"/>
              </a:rPr>
              <a:t>Un journal d'état par modèle enregistre les pages réussies, partielles ou à rejouer. Le disque est la vérité, le journal est l'histoire.</a:t>
            </a:r>
          </a:p>
          <a:p>
            <a:pPr>
              <a:lnSpc>
                <a:spcPct val="102000"/>
              </a:lnSpc>
              <a:spcAft>
                <a:spcPts val="600"/>
              </a:spcAft>
            </a:pPr>
            <a:r>
              <a:rPr sz="1400" b="1" i="0">
                <a:solidFill>
                  <a:srgbClr val="16A34A"/>
                </a:solidFill>
                <a:latin typeface="Calibri"/>
              </a:rPr>
              <a:t>▪  </a:t>
            </a:r>
            <a:r>
              <a:rPr sz="1400" b="1" i="0">
                <a:solidFill>
                  <a:srgbClr val="1F2937"/>
                </a:solidFill>
                <a:latin typeface="Calibri"/>
              </a:rPr>
              <a:t>La couche texte du PDF</a:t>
            </a:r>
            <a:r>
              <a:rPr sz="1400" b="0" i="0">
                <a:solidFill>
                  <a:srgbClr val="1F2937"/>
                </a:solidFill>
                <a:latin typeface="Calibri"/>
              </a:rPr>
              <a:t>, quand elle existe, est réinjectée comme indice de transcription : le modèle lit l'image, l'indice réduit les erreurs de chiffres.</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Barnett et al. 2024 (« Seven Failure Points ») : la majorité des défaillances d'un système RAG naissent à l'ingestion. D'où la sérialisation prouvée, le disjoncteur, la reprise par page et la vérification de complétude au lancement.</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 · LA PLATEFORME</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Ancrage visuel — des réponses qui pointent des pixels</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840480"/>
          </a:xfrm>
          <a:prstGeom prst="rect">
            <a:avLst/>
          </a:prstGeom>
          <a:noFill/>
        </p:spPr>
        <p:txBody>
          <a:bodyPr wrap="square">
            <a:spAutoFit/>
          </a:bodyPr>
          <a:lstStyle/>
          <a:p>
            <a:pPr>
              <a:lnSpc>
                <a:spcPct val="102000"/>
              </a:lnSpc>
              <a:spcAft>
                <a:spcPts val="600"/>
              </a:spcAft>
            </a:pPr>
            <a:r>
              <a:rPr sz="1450" b="1" i="0">
                <a:solidFill>
                  <a:srgbClr val="16A34A"/>
                </a:solidFill>
                <a:latin typeface="Calibri"/>
              </a:rPr>
              <a:t>▪  </a:t>
            </a:r>
            <a:r>
              <a:rPr sz="1450" b="1" i="0">
                <a:solidFill>
                  <a:srgbClr val="1F2937"/>
                </a:solidFill>
                <a:latin typeface="Calibri"/>
              </a:rPr>
              <a:t>Pour chaque page</a:t>
            </a:r>
            <a:r>
              <a:rPr sz="1450" b="0" i="0">
                <a:solidFill>
                  <a:srgbClr val="1F2937"/>
                </a:solidFill>
                <a:latin typeface="Calibri"/>
              </a:rPr>
              <a:t>, un fichier de géométrie décrit les lignes, les tableaux et les figures en coordonnées pixel de l'image cachée. Ces données viennent de la couche texte native du PDF, sans OCR.</a:t>
            </a:r>
          </a:p>
          <a:p>
            <a:pPr>
              <a:lnSpc>
                <a:spcPct val="102000"/>
              </a:lnSpc>
              <a:spcAft>
                <a:spcPts val="400"/>
              </a:spcAft>
            </a:pPr>
            <a:r>
              <a:rPr sz="1300" b="0" i="0">
                <a:solidFill>
                  <a:srgbClr val="6B7280"/>
                </a:solidFill>
                <a:latin typeface="Calibri"/>
              </a:rPr>
              <a:t>    –  </a:t>
            </a:r>
            <a:r>
              <a:rPr sz="1300" b="0" i="0">
                <a:solidFill>
                  <a:srgbClr val="374151"/>
                </a:solidFill>
                <a:latin typeface="Calibri"/>
              </a:rPr>
              <a:t>Un remplissage unique sur les 273 PDF : environ 41 500 fichiers, 262 Mo, 63 minutes, pour 100 % des pages suivies.</a:t>
            </a:r>
          </a:p>
          <a:p>
            <a:pPr>
              <a:lnSpc>
                <a:spcPct val="102000"/>
              </a:lnSpc>
              <a:spcAft>
                <a:spcPts val="600"/>
              </a:spcAft>
            </a:pPr>
            <a:r>
              <a:rPr sz="1450" b="1" i="0">
                <a:solidFill>
                  <a:srgbClr val="16A34A"/>
                </a:solidFill>
                <a:latin typeface="Calibri"/>
              </a:rPr>
              <a:t>▪  </a:t>
            </a:r>
            <a:r>
              <a:rPr sz="1450" b="1" i="0">
                <a:solidFill>
                  <a:srgbClr val="1F2937"/>
                </a:solidFill>
                <a:latin typeface="Calibri"/>
              </a:rPr>
              <a:t>L'alignement flou</a:t>
            </a:r>
            <a:r>
              <a:rPr sz="1450" b="0" i="0">
                <a:solidFill>
                  <a:srgbClr val="1F2937"/>
                </a:solidFill>
                <a:latin typeface="Calibri"/>
              </a:rPr>
              <a:t> entre le markdown du modèle et la couche texte du PDF transforme un extrait cité en rectangle surligné sur l'image de la page : vert pour les lignes, bleu pour les tableaux.</a:t>
            </a:r>
          </a:p>
          <a:p>
            <a:pPr>
              <a:lnSpc>
                <a:spcPct val="102000"/>
              </a:lnSpc>
              <a:spcAft>
                <a:spcPts val="400"/>
              </a:spcAft>
            </a:pPr>
            <a:r>
              <a:rPr sz="1300" b="0" i="0">
                <a:solidFill>
                  <a:srgbClr val="6B7280"/>
                </a:solidFill>
                <a:latin typeface="Calibri"/>
              </a:rPr>
              <a:t>    –  </a:t>
            </a:r>
            <a:r>
              <a:rPr sz="1300" b="0" i="0">
                <a:solidFill>
                  <a:srgbClr val="374151"/>
                </a:solidFill>
                <a:latin typeface="Calibri"/>
              </a:rPr>
              <a:t>La confiance mesurée en production va de 0,96 à 1,00 sur la prose. Sous 0,3, le système se replie honnêtement sur la citation de la page entière.</a:t>
            </a:r>
          </a:p>
          <a:p>
            <a:pPr>
              <a:lnSpc>
                <a:spcPct val="102000"/>
              </a:lnSpc>
              <a:spcAft>
                <a:spcPts val="600"/>
              </a:spcAft>
            </a:pPr>
            <a:r>
              <a:rPr sz="1450" b="1" i="0">
                <a:solidFill>
                  <a:srgbClr val="16A34A"/>
                </a:solidFill>
                <a:latin typeface="Calibri"/>
              </a:rPr>
              <a:t>▪  </a:t>
            </a:r>
            <a:r>
              <a:rPr sz="1450" b="1" i="0">
                <a:solidFill>
                  <a:srgbClr val="1F2937"/>
                </a:solidFill>
                <a:latin typeface="Calibri"/>
              </a:rPr>
              <a:t>Dans l'interface</a:t>
            </a:r>
            <a:r>
              <a:rPr sz="1450" b="0" i="0">
                <a:solidFill>
                  <a:srgbClr val="1F2937"/>
                </a:solidFill>
                <a:latin typeface="Calibri"/>
              </a:rPr>
              <a:t>, jusqu'à trois instantanés de pages preuves accompagnent chaque réponse ; le surlignage est mis en cache par empreinte de rectangle.</a:t>
            </a:r>
          </a:p>
          <a:p>
            <a:pPr>
              <a:lnSpc>
                <a:spcPct val="102000"/>
              </a:lnSpc>
              <a:spcAft>
                <a:spcPts val="600"/>
              </a:spcAft>
            </a:pPr>
            <a:r>
              <a:rPr sz="1450" b="1" i="0">
                <a:solidFill>
                  <a:srgbClr val="16A34A"/>
                </a:solidFill>
                <a:latin typeface="Calibri"/>
              </a:rPr>
              <a:t>▪  </a:t>
            </a:r>
            <a:r>
              <a:rPr sz="1450" b="1" i="0">
                <a:solidFill>
                  <a:srgbClr val="1F2937"/>
                </a:solidFill>
                <a:latin typeface="Calibri"/>
              </a:rPr>
              <a:t>Deux bugs de géométrie</a:t>
            </a:r>
            <a:r>
              <a:rPr sz="1450" b="0" i="0">
                <a:solidFill>
                  <a:srgbClr val="1F2937"/>
                </a:solidFill>
                <a:latin typeface="Calibri"/>
              </a:rPr>
              <a:t> ont été attrapés à l'œil : les points de suite des sommaires, et une figure rejetée comme quadrillage. La preuve visuelle est aussi un instrument de débogage.</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Rashkin et al. 2021 (AIS) et Bohnet et al. 2022 (Attributed QA) définissent l'attribution au niveau du document ou du passage. La plateforme la pousse jusqu'au pixel de la page citée.</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 · LA PLATEFORME</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Chunking et indexation</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886200"/>
          </a:xfrm>
          <a:prstGeom prst="rect">
            <a:avLst/>
          </a:prstGeom>
          <a:noFill/>
        </p:spPr>
        <p:txBody>
          <a:bodyPr wrap="square">
            <a:spAutoFit/>
          </a:bodyPr>
          <a:lstStyle/>
          <a:p>
            <a:pPr>
              <a:lnSpc>
                <a:spcPct val="102000"/>
              </a:lnSpc>
              <a:spcAft>
                <a:spcPts val="600"/>
              </a:spcAft>
            </a:pPr>
            <a:r>
              <a:rPr sz="1400" b="1" i="0">
                <a:solidFill>
                  <a:srgbClr val="16A34A"/>
                </a:solidFill>
                <a:latin typeface="Calibri"/>
              </a:rPr>
              <a:t>▪  </a:t>
            </a:r>
            <a:r>
              <a:rPr sz="1400" b="1" i="0">
                <a:solidFill>
                  <a:srgbClr val="1F2937"/>
                </a:solidFill>
                <a:latin typeface="Calibri"/>
              </a:rPr>
              <a:t>Le découpage suit la structure</a:t>
            </a:r>
            <a:r>
              <a:rPr sz="1400" b="0" i="0">
                <a:solidFill>
                  <a:srgbClr val="1F2937"/>
                </a:solidFill>
                <a:latin typeface="Calibri"/>
              </a:rPr>
              <a:t> : par page, avec une pile de sections. Les identifiants imprimés comme « C.2.1 » l'emportent sur la profondeur des titres markdown, car le modèle dérive d'une page à l'autre.</a:t>
            </a:r>
          </a:p>
          <a:p>
            <a:pPr>
              <a:lnSpc>
                <a:spcPct val="102000"/>
              </a:lnSpc>
              <a:spcAft>
                <a:spcPts val="400"/>
              </a:spcAft>
            </a:pPr>
            <a:r>
              <a:rPr sz="1250" b="0" i="0">
                <a:solidFill>
                  <a:srgbClr val="6B7280"/>
                </a:solidFill>
                <a:latin typeface="Calibri"/>
              </a:rPr>
              <a:t>    –  </a:t>
            </a:r>
            <a:r>
              <a:rPr sz="1250" b="0" i="0">
                <a:solidFill>
                  <a:srgbClr val="374151"/>
                </a:solidFill>
                <a:latin typeface="Calibri"/>
              </a:rPr>
              <a:t>Une table qui tient dans deux fois la taille d'un segment reste entière : coupée en deux, elle perd son en-tête et cesse d'être interrogeable. Taille 1000, recouvrement 200.</a:t>
            </a:r>
          </a:p>
          <a:p>
            <a:pPr>
              <a:lnSpc>
                <a:spcPct val="102000"/>
              </a:lnSpc>
              <a:spcAft>
                <a:spcPts val="600"/>
              </a:spcAft>
            </a:pPr>
            <a:r>
              <a:rPr sz="1400" b="1" i="0">
                <a:solidFill>
                  <a:srgbClr val="16A34A"/>
                </a:solidFill>
                <a:latin typeface="Calibri"/>
              </a:rPr>
              <a:t>▪  </a:t>
            </a:r>
            <a:r>
              <a:rPr sz="1400" b="1" i="0">
                <a:solidFill>
                  <a:srgbClr val="1F2937"/>
                </a:solidFill>
                <a:latin typeface="Calibri"/>
              </a:rPr>
              <a:t>Deux textes pour une même source</a:t>
            </a:r>
            <a:r>
              <a:rPr sz="1400" b="0" i="0">
                <a:solidFill>
                  <a:srgbClr val="1F2937"/>
                </a:solidFill>
                <a:latin typeface="Calibri"/>
              </a:rPr>
              <a:t> : le texte montré au modèle et à l'ancrage n'est pas le texte indexé. Le préfixe de section dans le texte indexé s'est révélé nuisible pour all-mpnet, et a été désactivé.</a:t>
            </a:r>
          </a:p>
          <a:p>
            <a:pPr>
              <a:lnSpc>
                <a:spcPct val="102000"/>
              </a:lnSpc>
              <a:spcAft>
                <a:spcPts val="600"/>
              </a:spcAft>
            </a:pPr>
            <a:r>
              <a:rPr sz="1400" b="1" i="0">
                <a:solidFill>
                  <a:srgbClr val="16A34A"/>
                </a:solidFill>
                <a:latin typeface="Calibri"/>
              </a:rPr>
              <a:t>▪  </a:t>
            </a:r>
            <a:r>
              <a:rPr sz="1400" b="1" i="0">
                <a:solidFill>
                  <a:srgbClr val="1F2937"/>
                </a:solidFill>
                <a:latin typeface="Calibri"/>
              </a:rPr>
              <a:t>L'index</a:t>
            </a:r>
            <a:r>
              <a:rPr sz="1400" b="0" i="0">
                <a:solidFill>
                  <a:srgbClr val="1F2937"/>
                </a:solidFill>
                <a:latin typeface="Calibri"/>
              </a:rPr>
              <a:t> : FAISS sur vecteurs normalisés (similarité cosinus), all-mpnet-base-v2 en 768 dimensions ; des métadonnées en JSON, jamais de pickle ; 11 577 doublons exacts dédupliqués, essentiellement des réimpressions d'annexes.</a:t>
            </a:r>
          </a:p>
          <a:p>
            <a:pPr>
              <a:lnSpc>
                <a:spcPct val="102000"/>
              </a:lnSpc>
              <a:spcAft>
                <a:spcPts val="400"/>
              </a:spcAft>
            </a:pPr>
            <a:r>
              <a:rPr sz="1250" b="0" i="0">
                <a:solidFill>
                  <a:srgbClr val="6B7280"/>
                </a:solidFill>
                <a:latin typeface="Calibri"/>
              </a:rPr>
              <a:t>    –  </a:t>
            </a:r>
            <a:r>
              <a:rPr sz="1250" b="0" i="0">
                <a:solidFill>
                  <a:srgbClr val="374151"/>
                </a:solidFill>
                <a:latin typeface="Calibri"/>
              </a:rPr>
              <a:t>Aujourd'hui : 178 456 segments, dont 17 196 tableaux et 125 430 avec un chemin de section, pour un index de 548 Mo.</a:t>
            </a:r>
          </a:p>
          <a:p>
            <a:pPr>
              <a:lnSpc>
                <a:spcPct val="102000"/>
              </a:lnSpc>
              <a:spcAft>
                <a:spcPts val="600"/>
              </a:spcAft>
            </a:pPr>
            <a:r>
              <a:rPr sz="1400" b="1" i="0">
                <a:solidFill>
                  <a:srgbClr val="16A34A"/>
                </a:solidFill>
                <a:latin typeface="Calibri"/>
              </a:rPr>
              <a:t>▪  </a:t>
            </a:r>
            <a:r>
              <a:rPr sz="1400" b="1" i="0">
                <a:solidFill>
                  <a:srgbClr val="1F2937"/>
                </a:solidFill>
                <a:latin typeface="Calibri"/>
              </a:rPr>
              <a:t>L'embedding sur GPU</a:t>
            </a:r>
            <a:r>
              <a:rPr sz="1400" b="0" i="0">
                <a:solidFill>
                  <a:srgbClr val="1F2937"/>
                </a:solidFill>
                <a:latin typeface="Calibri"/>
              </a:rPr>
              <a:t> a été mesuré : 11 minutes sur une RTX 4080 (206 segments par seconde) pour un index de 186 802 segments, là où le CPU dépassait deux heures. Une roue torch CUDA mal appariée provoquait un repli CPU silencieux.</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Reimers et Gurevych 2019 (Sentence-BERT) ; Gao et al. 2023. La granularité du découpage est un compromis connu. Ici, chaque choix (taille, préfixe de section, atomicité des tables) a été tranché par un A/B, pas par convention.</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 · LA PLATEFORME</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Récupération hybride — le cas d'école : BM25 + dense, fusionnés puis raffinés</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886200"/>
          </a:xfrm>
          <a:prstGeom prst="rect">
            <a:avLst/>
          </a:prstGeom>
          <a:noFill/>
        </p:spPr>
        <p:txBody>
          <a:bodyPr wrap="square">
            <a:spAutoFit/>
          </a:bodyPr>
          <a:lstStyle/>
          <a:p>
            <a:pPr>
              <a:lnSpc>
                <a:spcPct val="102000"/>
              </a:lnSpc>
              <a:spcAft>
                <a:spcPts val="600"/>
              </a:spcAft>
            </a:pPr>
            <a:r>
              <a:rPr sz="1400" b="1" i="0">
                <a:solidFill>
                  <a:srgbClr val="16A34A"/>
                </a:solidFill>
                <a:latin typeface="Calibri"/>
              </a:rPr>
              <a:t>▪  </a:t>
            </a:r>
            <a:r>
              <a:rPr sz="1400" b="1" i="0">
                <a:solidFill>
                  <a:srgbClr val="1F2937"/>
                </a:solidFill>
                <a:latin typeface="Calibri"/>
              </a:rPr>
              <a:t>Pourquoi hybride.</a:t>
            </a:r>
            <a:r>
              <a:rPr sz="1400" b="0" i="0">
                <a:solidFill>
                  <a:srgbClr val="1F2937"/>
                </a:solidFill>
                <a:latin typeface="Calibri"/>
              </a:rPr>
              <a:t> Les embeddings sont aveugles aux identifiants (FP273, B.42, Add.17). Avec le canal lexical, le rappel des requêtes à identifiant passe de 6 % à 100 %.</a:t>
            </a:r>
          </a:p>
          <a:p>
            <a:pPr>
              <a:lnSpc>
                <a:spcPct val="102000"/>
              </a:lnSpc>
              <a:spcAft>
                <a:spcPts val="400"/>
              </a:spcAft>
            </a:pPr>
            <a:r>
              <a:rPr sz="1250" b="0" i="0">
                <a:solidFill>
                  <a:srgbClr val="6B7280"/>
                </a:solidFill>
                <a:latin typeface="Calibri"/>
              </a:rPr>
              <a:t>    –  </a:t>
            </a:r>
            <a:r>
              <a:rPr sz="1250" b="0" i="0">
                <a:solidFill>
                  <a:srgbClr val="374151"/>
                </a:solidFill>
                <a:latin typeface="Calibri"/>
              </a:rPr>
              <a:t>BM25 tourne dans SQLite FTS5, sur disque et sans dépendance. Un tokenizer dédié normalise « b.42 » en « b42 », « FP 274 » en « fp274 », et réconcilie fp86 et fp086.</a:t>
            </a:r>
          </a:p>
          <a:p>
            <a:pPr>
              <a:lnSpc>
                <a:spcPct val="102000"/>
              </a:lnSpc>
              <a:spcAft>
                <a:spcPts val="600"/>
              </a:spcAft>
            </a:pPr>
            <a:r>
              <a:rPr sz="1400" b="1" i="0">
                <a:solidFill>
                  <a:srgbClr val="16A34A"/>
                </a:solidFill>
                <a:latin typeface="Calibri"/>
              </a:rPr>
              <a:t>▪  </a:t>
            </a:r>
            <a:r>
              <a:rPr sz="1400" b="1" i="0">
                <a:solidFill>
                  <a:srgbClr val="1F2937"/>
                </a:solidFill>
                <a:latin typeface="Calibri"/>
              </a:rPr>
              <a:t>La fusion RRF</a:t>
            </a:r>
            <a:r>
              <a:rPr sz="1400" b="0" i="0">
                <a:solidFill>
                  <a:srgbClr val="1F2937"/>
                </a:solidFill>
                <a:latin typeface="Calibri"/>
              </a:rPr>
              <a:t> (k = 60) double le poids lexical quand la requête porte un identifiant. Suivent la déduplication, le reclassement par cross-encoder (ms-marco-MiniLM-L-6-v2), un quota par document, une diversité de pages, puis le top-k.</a:t>
            </a:r>
          </a:p>
          <a:p>
            <a:pPr>
              <a:lnSpc>
                <a:spcPct val="102000"/>
              </a:lnSpc>
              <a:spcAft>
                <a:spcPts val="600"/>
              </a:spcAft>
            </a:pPr>
            <a:r>
              <a:rPr sz="1400" b="1" i="0">
                <a:solidFill>
                  <a:srgbClr val="16A34A"/>
                </a:solidFill>
                <a:latin typeface="Calibri"/>
              </a:rPr>
              <a:t>▪  </a:t>
            </a:r>
            <a:r>
              <a:rPr sz="1400" b="1" i="0">
                <a:solidFill>
                  <a:srgbClr val="1F2937"/>
                </a:solidFill>
                <a:latin typeface="Calibri"/>
              </a:rPr>
              <a:t>Mesuré</a:t>
            </a:r>
            <a:r>
              <a:rPr sz="1400" b="0" i="0">
                <a:solidFill>
                  <a:srgbClr val="1F2937"/>
                </a:solidFill>
                <a:latin typeface="Calibri"/>
              </a:rPr>
              <a:t> sur une fixture de 62 cas : le rappel à 5 passe de 88 % à 96 % avec les réglages par défaut, et le rappel à 10 atteint 98 % avec le reclassement. Au niveau des réponses, l'A/B du reclassement est neutre (+1,3 point de support, −1,0 point d'ancrage, sous la bande de bruit) : il est gardé pour le rappel, pas pour le support.</a:t>
            </a:r>
          </a:p>
          <a:p>
            <a:pPr>
              <a:lnSpc>
                <a:spcPct val="102000"/>
              </a:lnSpc>
              <a:spcAft>
                <a:spcPts val="400"/>
              </a:spcAft>
            </a:pPr>
            <a:r>
              <a:rPr sz="1250" b="0" i="0">
                <a:solidFill>
                  <a:srgbClr val="6B7280"/>
                </a:solidFill>
                <a:latin typeface="Calibri"/>
              </a:rPr>
              <a:t>    –  </a:t>
            </a:r>
            <a:r>
              <a:rPr sz="1250" b="0" i="0">
                <a:solidFill>
                  <a:srgbClr val="374151"/>
                </a:solidFill>
                <a:latin typeface="Calibri"/>
              </a:rPr>
              <a:t>La formulation brute de l'utilisateur vote aussi. Sur trois questions, à périmètre de document fixé, la page preuve était absente avec la seule réécriture ; elle revient aux rangs 9, 6 et 2 grâce au texte d'origine.</a:t>
            </a:r>
          </a:p>
          <a:p>
            <a:pPr>
              <a:lnSpc>
                <a:spcPct val="102000"/>
              </a:lnSpc>
              <a:spcAft>
                <a:spcPts val="600"/>
              </a:spcAft>
            </a:pPr>
            <a:r>
              <a:rPr sz="1400" b="1" i="0">
                <a:solidFill>
                  <a:srgbClr val="16A34A"/>
                </a:solidFill>
                <a:latin typeface="Calibri"/>
              </a:rPr>
              <a:t>▪  </a:t>
            </a:r>
            <a:r>
              <a:rPr sz="1400" b="1" i="0">
                <a:solidFill>
                  <a:srgbClr val="1F2937"/>
                </a:solidFill>
                <a:latin typeface="Calibri"/>
              </a:rPr>
              <a:t>La sonde de pages</a:t>
            </a:r>
            <a:r>
              <a:rPr sz="1400" b="0" i="0">
                <a:solidFill>
                  <a:srgbClr val="1F2937"/>
                </a:solidFill>
                <a:latin typeface="Calibri"/>
              </a:rPr>
              <a:t> ajoute une requête « cette page de ce document ». Elle sert les pages de conflit du registre : 14 sur 14 sont retrouvées, contre 8 sur 14 pendant cinq releases.</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Robertson et Zaragoza 2009 (BM25), Karpukhin et al. 2020 (DPR), Cormack et al. 2009 (RRF), Nogueira et Cho 2019 (reclassement neuronal) : l'état de l'art hybride, chaque brique validée par une mesure locale.</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 · LA PLATEFORME</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Compréhension de la requête — conducteur et décomposition</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840480"/>
          </a:xfrm>
          <a:prstGeom prst="rect">
            <a:avLst/>
          </a:prstGeom>
          <a:noFill/>
        </p:spPr>
        <p:txBody>
          <a:bodyPr wrap="square">
            <a:spAutoFit/>
          </a:bodyPr>
          <a:lstStyle/>
          <a:p>
            <a:pPr>
              <a:lnSpc>
                <a:spcPct val="102000"/>
              </a:lnSpc>
              <a:spcAft>
                <a:spcPts val="600"/>
              </a:spcAft>
            </a:pPr>
            <a:r>
              <a:rPr sz="1450" b="1" i="0">
                <a:solidFill>
                  <a:srgbClr val="16A34A"/>
                </a:solidFill>
                <a:latin typeface="Calibri"/>
              </a:rPr>
              <a:t>▪  </a:t>
            </a:r>
            <a:r>
              <a:rPr sz="1450" b="1" i="0">
                <a:solidFill>
                  <a:srgbClr val="1F2937"/>
                </a:solidFill>
                <a:latin typeface="Calibri"/>
              </a:rPr>
              <a:t>Le conducteur</a:t>
            </a:r>
            <a:r>
              <a:rPr sz="1450" b="0" i="0">
                <a:solidFill>
                  <a:srgbClr val="1F2937"/>
                </a:solidFill>
                <a:latin typeface="Calibri"/>
              </a:rPr>
              <a:t> tient en un appel JSON de 300 tokens. Il décide entre conversation et recherche, émet une à six requêtes en anglais et résout les pronoms, selon quatre règles ordonnées. Dans le doute, il récupère.</a:t>
            </a:r>
          </a:p>
          <a:p>
            <a:pPr>
              <a:lnSpc>
                <a:spcPct val="102000"/>
              </a:lnSpc>
              <a:spcAft>
                <a:spcPts val="400"/>
              </a:spcAft>
            </a:pPr>
            <a:r>
              <a:rPr sz="1300" b="0" i="0">
                <a:solidFill>
                  <a:srgbClr val="6B7280"/>
                </a:solidFill>
                <a:latin typeface="Calibri"/>
              </a:rPr>
              <a:t>    –  </a:t>
            </a:r>
            <a:r>
              <a:rPr sz="1300" b="0" i="0">
                <a:solidFill>
                  <a:srgbClr val="374151"/>
                </a:solidFill>
                <a:latin typeface="Calibri"/>
              </a:rPr>
              <a:t>Il voit les six derniers messages, tronqués, et la mémoire des documents discutés. La troncature d'historique qui « mangeait » les citations a été un bug, corrigé et couvert par un test.</a:t>
            </a:r>
          </a:p>
          <a:p>
            <a:pPr>
              <a:lnSpc>
                <a:spcPct val="102000"/>
              </a:lnSpc>
              <a:spcAft>
                <a:spcPts val="600"/>
              </a:spcAft>
            </a:pPr>
            <a:r>
              <a:rPr sz="1450" b="1" i="0">
                <a:solidFill>
                  <a:srgbClr val="16A34A"/>
                </a:solidFill>
                <a:latin typeface="Calibri"/>
              </a:rPr>
              <a:t>▪  </a:t>
            </a:r>
            <a:r>
              <a:rPr sz="1450" b="1" i="0">
                <a:solidFill>
                  <a:srgbClr val="1F2937"/>
                </a:solidFill>
                <a:latin typeface="Calibri"/>
              </a:rPr>
              <a:t>Pour les questions multi-documents</a:t>
            </a:r>
            <a:r>
              <a:rPr sz="1450" b="0" i="0">
                <a:solidFill>
                  <a:srgbClr val="1F2937"/>
                </a:solidFill>
                <a:latin typeface="Calibri"/>
              </a:rPr>
              <a:t>, une requête par entité, étiquetée par document, avec un quota de récupération par document et une fusion en tourniquet plafonnée à quinze extraits.</a:t>
            </a:r>
          </a:p>
          <a:p>
            <a:pPr>
              <a:lnSpc>
                <a:spcPct val="102000"/>
              </a:lnSpc>
              <a:spcAft>
                <a:spcPts val="400"/>
              </a:spcAft>
            </a:pPr>
            <a:r>
              <a:rPr sz="1300" b="0" i="0">
                <a:solidFill>
                  <a:srgbClr val="6B7280"/>
                </a:solidFill>
                <a:latin typeface="Calibri"/>
              </a:rPr>
              <a:t>    –  </a:t>
            </a:r>
            <a:r>
              <a:rPr sz="1300" b="0" i="0">
                <a:solidFill>
                  <a:srgbClr val="374151"/>
                </a:solidFill>
                <a:latin typeface="Calibri"/>
              </a:rPr>
              <a:t>Effet mesuré : les comparaisons citent quatre ou cinq documents au lieu d'un seul. « Quel est le plus gros budget ? » n'est plus servi par un seul document.</a:t>
            </a:r>
          </a:p>
          <a:p>
            <a:pPr>
              <a:lnSpc>
                <a:spcPct val="102000"/>
              </a:lnSpc>
              <a:spcAft>
                <a:spcPts val="600"/>
              </a:spcAft>
            </a:pPr>
            <a:r>
              <a:rPr sz="1450" b="1" i="0">
                <a:solidFill>
                  <a:srgbClr val="16A34A"/>
                </a:solidFill>
                <a:latin typeface="Calibri"/>
              </a:rPr>
              <a:t>▪  </a:t>
            </a:r>
            <a:r>
              <a:rPr sz="1450" b="1" i="0">
                <a:solidFill>
                  <a:srgbClr val="1F2937"/>
                </a:solidFill>
                <a:latin typeface="Calibri"/>
              </a:rPr>
              <a:t>La garde sur les identifiants absents</a:t>
            </a:r>
            <a:r>
              <a:rPr sz="1450" b="0" i="0">
                <a:solidFill>
                  <a:srgbClr val="1F2937"/>
                </a:solidFill>
                <a:latin typeface="Calibri"/>
              </a:rPr>
              <a:t> : tout identifiant inconnu du registre reçoit une réponse déterministe, « FP999 n'existe pas dans ce corpus (273 documents) », avant tout appel de génération.</a:t>
            </a:r>
          </a:p>
          <a:p>
            <a:pPr>
              <a:lnSpc>
                <a:spcPct val="102000"/>
              </a:lnSpc>
              <a:spcAft>
                <a:spcPts val="600"/>
              </a:spcAft>
            </a:pPr>
            <a:r>
              <a:rPr sz="1450" b="1" i="0">
                <a:solidFill>
                  <a:srgbClr val="16A34A"/>
                </a:solidFill>
                <a:latin typeface="Calibri"/>
              </a:rPr>
              <a:t>▪  </a:t>
            </a:r>
            <a:r>
              <a:rPr sz="1450" b="1" i="0">
                <a:solidFill>
                  <a:srgbClr val="1F2937"/>
                </a:solidFill>
                <a:latin typeface="Calibri"/>
              </a:rPr>
              <a:t>En mode conversation</a:t>
            </a:r>
            <a:r>
              <a:rPr sz="1450" b="0" i="0">
                <a:solidFill>
                  <a:srgbClr val="1F2937"/>
                </a:solidFill>
                <a:latin typeface="Calibri"/>
              </a:rPr>
              <a:t>, le périmètre est fermé : recettes, actualité ou code reçoivent un refus poli. Le système reste un outil documentaire.</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Press et al. 2022 (Self-Ask) et la réécriture conversationnelle par condensation d'historique : décomposer la question plutôt qu'espérer qu'une seule requête serve plusieurs documents. C'est l'intersection directe avec le QA multi-sauts.</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 · LA PLATEFORME</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Le registre de faits — la moitié symbolique</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794760"/>
          </a:xfrm>
          <a:prstGeom prst="rect">
            <a:avLst/>
          </a:prstGeom>
          <a:noFill/>
        </p:spPr>
        <p:txBody>
          <a:bodyPr wrap="square">
            <a:spAutoFit/>
          </a:bodyPr>
          <a:lstStyle/>
          <a:p>
            <a:pPr>
              <a:lnSpc>
                <a:spcPct val="102000"/>
              </a:lnSpc>
              <a:spcAft>
                <a:spcPts val="600"/>
              </a:spcAft>
            </a:pPr>
            <a:r>
              <a:rPr sz="1400" b="1" i="0">
                <a:solidFill>
                  <a:srgbClr val="16A34A"/>
                </a:solidFill>
                <a:latin typeface="Calibri"/>
              </a:rPr>
              <a:t>▪  </a:t>
            </a:r>
            <a:r>
              <a:rPr sz="1400" b="1" i="0">
                <a:solidFill>
                  <a:srgbClr val="1F2937"/>
                </a:solidFill>
                <a:latin typeface="Calibri"/>
              </a:rPr>
              <a:t>Pour chaque document</a:t>
            </a:r>
            <a:r>
              <a:rPr sz="1400" b="0" i="0">
                <a:solidFill>
                  <a:srgbClr val="1F2937"/>
                </a:solidFill>
                <a:latin typeface="Calibri"/>
              </a:rPr>
              <a:t>, le registre conserve des candidats de faits avec leur provenance : texte brut, valeur normalisée, devise, page, section, et un statut, canonique ou en conflit. Soit 3 785 candidats pour 273 documents.</a:t>
            </a:r>
          </a:p>
          <a:p>
            <a:pPr>
              <a:lnSpc>
                <a:spcPct val="102000"/>
              </a:lnSpc>
              <a:spcAft>
                <a:spcPts val="400"/>
              </a:spcAft>
            </a:pPr>
            <a:r>
              <a:rPr sz="1250" b="0" i="0">
                <a:solidFill>
                  <a:srgbClr val="6B7280"/>
                </a:solidFill>
                <a:latin typeface="Calibri"/>
              </a:rPr>
              <a:t>    –  </a:t>
            </a:r>
            <a:r>
              <a:rPr sz="1250" b="0" i="0">
                <a:solidFill>
                  <a:srgbClr val="374151"/>
                </a:solidFill>
                <a:latin typeface="Calibri"/>
              </a:rPr>
              <a:t>Construction : une passe déterministe par gabarits (18 s sur tout le corpus), puis un repli LLM plafonné où chaque chaîne doit être une sous-chaîne littérale de sa page citée, et enfin des décisions ratifiées : 191 corrections, 51 absences confirmées.</a:t>
            </a:r>
          </a:p>
          <a:p>
            <a:pPr>
              <a:lnSpc>
                <a:spcPct val="102000"/>
              </a:lnSpc>
              <a:spcAft>
                <a:spcPts val="400"/>
              </a:spcAft>
            </a:pPr>
            <a:r>
              <a:rPr sz="1250" b="0" i="0">
                <a:solidFill>
                  <a:srgbClr val="6B7280"/>
                </a:solidFill>
                <a:latin typeface="Calibri"/>
              </a:rPr>
              <a:t>    –  </a:t>
            </a:r>
            <a:r>
              <a:rPr sz="1250" b="0" i="0">
                <a:solidFill>
                  <a:srgbClr val="374151"/>
                </a:solidFill>
                <a:latin typeface="Calibri"/>
              </a:rPr>
              <a:t>Une vérification croisée entre extracteurs, modèle vision-langage contre PyMuPDF : deux extracteurs en désaccord sur un chiffre, c'est le signal le moins cher qu'un des deux l'a inventé.</a:t>
            </a:r>
          </a:p>
          <a:p>
            <a:pPr>
              <a:lnSpc>
                <a:spcPct val="102000"/>
              </a:lnSpc>
              <a:spcAft>
                <a:spcPts val="600"/>
              </a:spcAft>
            </a:pPr>
            <a:r>
              <a:rPr sz="1400" b="1" i="0">
                <a:solidFill>
                  <a:srgbClr val="16A34A"/>
                </a:solidFill>
                <a:latin typeface="Calibri"/>
              </a:rPr>
              <a:t>▪  </a:t>
            </a:r>
            <a:r>
              <a:rPr sz="1400" b="1" i="0">
                <a:solidFill>
                  <a:srgbClr val="1F2937"/>
                </a:solidFill>
                <a:latin typeface="Calibri"/>
              </a:rPr>
              <a:t>210 conflits internes</a:t>
            </a:r>
            <a:r>
              <a:rPr sz="1400" b="0" i="0">
                <a:solidFill>
                  <a:srgbClr val="1F2937"/>
                </a:solidFill>
                <a:latin typeface="Calibri"/>
              </a:rPr>
              <a:t> ont été détectés dans 120 documents. Ils ne sont jamais tranchés en silence : la note imprime les deux valeurs avec leurs pages.</a:t>
            </a:r>
          </a:p>
          <a:p>
            <a:pPr>
              <a:lnSpc>
                <a:spcPct val="102000"/>
              </a:lnSpc>
              <a:spcAft>
                <a:spcPts val="600"/>
              </a:spcAft>
            </a:pPr>
            <a:r>
              <a:rPr sz="1400" b="1" i="0">
                <a:solidFill>
                  <a:srgbClr val="16A34A"/>
                </a:solidFill>
                <a:latin typeface="Calibri"/>
              </a:rPr>
              <a:t>▪  </a:t>
            </a:r>
            <a:r>
              <a:rPr sz="1400" b="1" i="0">
                <a:solidFill>
                  <a:srgbClr val="1F2937"/>
                </a:solidFill>
                <a:latin typeface="Calibri"/>
              </a:rPr>
              <a:t>Au service de chaque tour</a:t>
            </a:r>
            <a:r>
              <a:rPr sz="1400" b="0" i="0">
                <a:solidFill>
                  <a:srgbClr val="1F2937"/>
                </a:solidFill>
                <a:latin typeface="Calibri"/>
              </a:rPr>
              <a:t> : des notes déclenchées par les identifiants, les années, les pays, les entités et les extrema ; des listes tronquées qui le disent (« 5 sur 44, liste tronquée ») ; des index inverses, où 126 graphies se ramènent à 70 entités canoniques.</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Un RAG modulaire avec magasin structuré (Gao et al. 2023), dans un esprit neuro-symbolique : le déterministe d'abord, le LLM en repli vérifié, et une provenance de niveau base de données, rare dans les systèmes RAG publiés.</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 · LA PLATEFORME</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Le planificateur de comparaisons — matrices document × champ</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840480"/>
          </a:xfrm>
          <a:prstGeom prst="rect">
            <a:avLst/>
          </a:prstGeom>
          <a:noFill/>
        </p:spPr>
        <p:txBody>
          <a:bodyPr wrap="square">
            <a:spAutoFit/>
          </a:bodyPr>
          <a:lstStyle/>
          <a:p>
            <a:pPr>
              <a:lnSpc>
                <a:spcPct val="102000"/>
              </a:lnSpc>
              <a:spcAft>
                <a:spcPts val="600"/>
              </a:spcAft>
            </a:pPr>
            <a:r>
              <a:rPr sz="1450" b="1" i="0">
                <a:solidFill>
                  <a:srgbClr val="16A34A"/>
                </a:solidFill>
                <a:latin typeface="Calibri"/>
              </a:rPr>
              <a:t>▪  </a:t>
            </a:r>
            <a:r>
              <a:rPr sz="1450" b="1" i="0">
                <a:solidFill>
                  <a:srgbClr val="1F2937"/>
                </a:solidFill>
                <a:latin typeface="Calibri"/>
              </a:rPr>
              <a:t>Déclenchement</a:t>
            </a:r>
            <a:r>
              <a:rPr sz="1450" b="0" i="0">
                <a:solidFill>
                  <a:srgbClr val="1F2937"/>
                </a:solidFill>
                <a:latin typeface="Calibri"/>
              </a:rPr>
              <a:t> : au moins deux identifiants et une intention comparative, détectée par expressions régulières en français et en anglais. Les questions simples restent au conducteur.</a:t>
            </a:r>
          </a:p>
          <a:p>
            <a:pPr>
              <a:lnSpc>
                <a:spcPct val="102000"/>
              </a:lnSpc>
              <a:spcAft>
                <a:spcPts val="600"/>
              </a:spcAft>
            </a:pPr>
            <a:r>
              <a:rPr sz="1450" b="1" i="0">
                <a:solidFill>
                  <a:srgbClr val="16A34A"/>
                </a:solidFill>
                <a:latin typeface="Calibri"/>
              </a:rPr>
              <a:t>▪  </a:t>
            </a:r>
            <a:r>
              <a:rPr sz="1450" b="1" i="0">
                <a:solidFill>
                  <a:srgbClr val="1F2937"/>
                </a:solidFill>
                <a:latin typeface="Calibri"/>
              </a:rPr>
              <a:t>La matrice de preuves</a:t>
            </a:r>
            <a:r>
              <a:rPr sz="1450" b="0" i="0">
                <a:solidFill>
                  <a:srgbClr val="1F2937"/>
                </a:solidFill>
                <a:latin typeface="Calibri"/>
              </a:rPr>
              <a:t> a une ligne par document et une colonne par champ demandé ; 18 champs sont reconnus par mots-clés, sans tenir compte des accents.</a:t>
            </a:r>
          </a:p>
          <a:p>
            <a:pPr>
              <a:lnSpc>
                <a:spcPct val="102000"/>
              </a:lnSpc>
              <a:spcAft>
                <a:spcPts val="400"/>
              </a:spcAft>
            </a:pPr>
            <a:r>
              <a:rPr sz="1300" b="0" i="0">
                <a:solidFill>
                  <a:srgbClr val="6B7280"/>
                </a:solidFill>
                <a:latin typeface="Calibri"/>
              </a:rPr>
              <a:t>    –  </a:t>
            </a:r>
            <a:r>
              <a:rPr sz="1300" b="0" i="0">
                <a:solidFill>
                  <a:srgbClr val="374151"/>
                </a:solidFill>
                <a:latin typeface="Calibri"/>
              </a:rPr>
              <a:t>Chaque cellule porte un statut : déclaré, contradictoire, récupéré, manquant, ou document manquant. Il n'existe volontairement pas de statut « calculé » : ce module ne calcule jamais entre les cellules.</a:t>
            </a:r>
          </a:p>
          <a:p>
            <a:pPr>
              <a:lnSpc>
                <a:spcPct val="102000"/>
              </a:lnSpc>
              <a:spcAft>
                <a:spcPts val="600"/>
              </a:spcAft>
            </a:pPr>
            <a:r>
              <a:rPr sz="1450" b="1" i="0">
                <a:solidFill>
                  <a:srgbClr val="16A34A"/>
                </a:solidFill>
                <a:latin typeface="Calibri"/>
              </a:rPr>
              <a:t>▪  </a:t>
            </a:r>
            <a:r>
              <a:rPr sz="1450" b="1" i="0">
                <a:solidFill>
                  <a:srgbClr val="1F2937"/>
                </a:solidFill>
                <a:latin typeface="Calibri"/>
              </a:rPr>
              <a:t>Comparabilité</a:t>
            </a:r>
            <a:r>
              <a:rPr sz="1450" b="0" i="0">
                <a:solidFill>
                  <a:srgbClr val="1F2937"/>
                </a:solidFill>
                <a:latin typeface="Calibri"/>
              </a:rPr>
              <a:t> : pour chaque champ numérique, une section dédiée interdit tout classement entre devises différentes, et le modèle doit traiter chaque ligne de la matrice.</a:t>
            </a:r>
          </a:p>
          <a:p>
            <a:pPr>
              <a:lnSpc>
                <a:spcPct val="102000"/>
              </a:lnSpc>
              <a:spcAft>
                <a:spcPts val="600"/>
              </a:spcAft>
            </a:pPr>
            <a:r>
              <a:rPr sz="1450" b="1" i="0">
                <a:solidFill>
                  <a:srgbClr val="16A34A"/>
                </a:solidFill>
                <a:latin typeface="Calibri"/>
              </a:rPr>
              <a:t>▪  </a:t>
            </a:r>
            <a:r>
              <a:rPr sz="1450" b="1" i="0">
                <a:solidFill>
                  <a:srgbClr val="1F2937"/>
                </a:solidFill>
                <a:latin typeface="Calibri"/>
              </a:rPr>
              <a:t>Les autorités sont ordonnées</a:t>
            </a:r>
            <a:r>
              <a:rPr sz="1450" b="0" i="0">
                <a:solidFill>
                  <a:srgbClr val="1F2937"/>
                </a:solidFill>
                <a:latin typeface="Calibri"/>
              </a:rPr>
              <a:t> : une ligne du registre l'emporte sur une cellule récupérée, et les conflits internes restent visibles dans la matrice.</a:t>
            </a:r>
          </a:p>
          <a:p>
            <a:pPr>
              <a:lnSpc>
                <a:spcPct val="102000"/>
              </a:lnSpc>
              <a:spcAft>
                <a:spcPts val="600"/>
              </a:spcAft>
            </a:pPr>
            <a:r>
              <a:rPr sz="1450" b="1" i="0">
                <a:solidFill>
                  <a:srgbClr val="16A34A"/>
                </a:solidFill>
                <a:latin typeface="Calibri"/>
              </a:rPr>
              <a:t>▪  </a:t>
            </a:r>
            <a:r>
              <a:rPr sz="1450" b="1" i="0">
                <a:solidFill>
                  <a:srgbClr val="1F2937"/>
                </a:solidFill>
                <a:latin typeface="Calibri"/>
              </a:rPr>
              <a:t>Résultat mesuré</a:t>
            </a:r>
            <a:r>
              <a:rPr sz="1450" b="0" i="0">
                <a:solidFill>
                  <a:srgbClr val="1F2937"/>
                </a:solidFill>
                <a:latin typeface="Calibri"/>
              </a:rPr>
              <a:t> : les comparaisons à deux, trois ou quatre documents sont rendues élément par élément, chiffre par chiffre cité. Le cas « 118,08 M€ / 82 M$ / aucun chiffre déclaré » est rendu correctement, document par document.</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QA comparatif et multi-sauts, la littérature de la décomposition : ici, la comparaison devient un artefact auditable, la matrice, plutôt qu'un raisonnement opaque délégué au modèle.</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 · LA PLATEFORME</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L'assemblage du prompt — des blocs sous budget</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886200"/>
          </a:xfrm>
          <a:prstGeom prst="rect">
            <a:avLst/>
          </a:prstGeom>
          <a:noFill/>
        </p:spPr>
        <p:txBody>
          <a:bodyPr wrap="square">
            <a:spAutoFit/>
          </a:bodyPr>
          <a:lstStyle/>
          <a:p>
            <a:pPr>
              <a:lnSpc>
                <a:spcPct val="102000"/>
              </a:lnSpc>
              <a:spcAft>
                <a:spcPts val="600"/>
              </a:spcAft>
            </a:pPr>
            <a:r>
              <a:rPr sz="1400" b="1" i="0">
                <a:solidFill>
                  <a:srgbClr val="16A34A"/>
                </a:solidFill>
                <a:latin typeface="Calibri"/>
              </a:rPr>
              <a:t>▪  </a:t>
            </a:r>
            <a:r>
              <a:rPr sz="1400" b="1" i="0">
                <a:solidFill>
                  <a:srgbClr val="1F2937"/>
                </a:solidFill>
                <a:latin typeface="Calibri"/>
              </a:rPr>
              <a:t>Constat mesuré trois fois</a:t>
            </a:r>
            <a:r>
              <a:rPr sz="1400" b="0" i="0">
                <a:solidFill>
                  <a:srgbClr val="1F2937"/>
                </a:solidFill>
                <a:latin typeface="Calibri"/>
              </a:rPr>
              <a:t> (à l'époque sur gpt-4o-mini) : dans un long prompt, le modèle laisse tomber des règles procédurales. Le prompt système est donc assemblé à chaque tour, chaque bloc derrière son déclencheur.</a:t>
            </a:r>
          </a:p>
          <a:p>
            <a:pPr>
              <a:lnSpc>
                <a:spcPct val="102000"/>
              </a:lnSpc>
              <a:spcAft>
                <a:spcPts val="400"/>
              </a:spcAft>
            </a:pPr>
            <a:r>
              <a:rPr sz="1250" b="0" i="0">
                <a:solidFill>
                  <a:srgbClr val="6B7280"/>
                </a:solidFill>
                <a:latin typeface="Calibri"/>
              </a:rPr>
              <a:t>    –  </a:t>
            </a:r>
            <a:r>
              <a:rPr sz="1250" b="0" i="0">
                <a:solidFill>
                  <a:srgbClr val="374151"/>
                </a:solidFill>
                <a:latin typeface="Calibri"/>
              </a:rPr>
              <a:t>Un bloc de base, toujours présent ; puis comparaison, matrice, année (la table des conseils), registre, contexte, et la directive de langue, détectée par le code et toujours placée en dernier.</a:t>
            </a:r>
          </a:p>
          <a:p>
            <a:pPr>
              <a:lnSpc>
                <a:spcPct val="102000"/>
              </a:lnSpc>
              <a:spcAft>
                <a:spcPts val="600"/>
              </a:spcAft>
            </a:pPr>
            <a:r>
              <a:rPr sz="1400" b="1" i="0">
                <a:solidFill>
                  <a:srgbClr val="16A34A"/>
                </a:solidFill>
                <a:latin typeface="Calibri"/>
              </a:rPr>
              <a:t>▪  </a:t>
            </a:r>
            <a:r>
              <a:rPr sz="1400" b="1" i="0">
                <a:solidFill>
                  <a:srgbClr val="1F2937"/>
                </a:solidFill>
                <a:latin typeface="Calibri"/>
              </a:rPr>
              <a:t>Le budget est épinglé par un test</a:t>
            </a:r>
            <a:r>
              <a:rPr sz="1400" b="0" i="0">
                <a:solidFill>
                  <a:srgbClr val="1F2937"/>
                </a:solidFill>
                <a:latin typeface="Calibri"/>
              </a:rPr>
              <a:t> : 5 000 caractères pour la plus grande variante. Une règle nouvelle en déplace une ancienne, ou embarque derrière son propre déclencheur.</a:t>
            </a:r>
          </a:p>
          <a:p>
            <a:pPr>
              <a:lnSpc>
                <a:spcPct val="102000"/>
              </a:lnSpc>
              <a:spcAft>
                <a:spcPts val="600"/>
              </a:spcAft>
            </a:pPr>
            <a:r>
              <a:rPr sz="1400" b="1" i="0">
                <a:solidFill>
                  <a:srgbClr val="16A34A"/>
                </a:solidFill>
                <a:latin typeface="Calibri"/>
              </a:rPr>
              <a:t>▪  </a:t>
            </a:r>
            <a:r>
              <a:rPr sz="1400" b="1" i="0">
                <a:solidFill>
                  <a:srgbClr val="1F2937"/>
                </a:solidFill>
                <a:latin typeface="Calibri"/>
              </a:rPr>
              <a:t>Les règles de citation</a:t>
            </a:r>
            <a:r>
              <a:rPr sz="1400" b="0" i="0">
                <a:solidFill>
                  <a:srgbClr val="1F2937"/>
                </a:solidFill>
                <a:latin typeface="Calibri"/>
              </a:rPr>
              <a:t> : citer à la phrase, chaque puce et chaque ligne de tableau ; citer ou nuancer ; se souvenir que les extraits sont un échantillon d'un corpus de 273 documents, donc jamais de superlatif sur le corpus entier.</a:t>
            </a:r>
          </a:p>
          <a:p>
            <a:pPr>
              <a:lnSpc>
                <a:spcPct val="102000"/>
              </a:lnSpc>
              <a:spcAft>
                <a:spcPts val="400"/>
              </a:spcAft>
            </a:pPr>
            <a:r>
              <a:rPr sz="1250" b="0" i="0">
                <a:solidFill>
                  <a:srgbClr val="6B7280"/>
                </a:solidFill>
                <a:latin typeface="Calibri"/>
              </a:rPr>
              <a:t>    –  </a:t>
            </a:r>
            <a:r>
              <a:rPr sz="1250" b="0" i="0">
                <a:solidFill>
                  <a:srgbClr val="374151"/>
                </a:solidFill>
                <a:latin typeface="Calibri"/>
              </a:rPr>
              <a:t>Une hiérarchie explicite : une citation sans page vaut mieux qu'une page devinée, parce qu'une page inventée se lit comme de la précision.</a:t>
            </a:r>
          </a:p>
          <a:p>
            <a:pPr>
              <a:lnSpc>
                <a:spcPct val="102000"/>
              </a:lnSpc>
              <a:spcAft>
                <a:spcPts val="600"/>
              </a:spcAft>
            </a:pPr>
            <a:r>
              <a:rPr sz="1400" b="1" i="0">
                <a:solidFill>
                  <a:srgbClr val="16A34A"/>
                </a:solidFill>
                <a:latin typeface="Calibri"/>
              </a:rPr>
              <a:t>▪  </a:t>
            </a:r>
            <a:r>
              <a:rPr sz="1400" b="1" i="0">
                <a:solidFill>
                  <a:srgbClr val="1F2937"/>
                </a:solidFill>
                <a:latin typeface="Calibri"/>
              </a:rPr>
              <a:t>Le bloc de contexte</a:t>
            </a:r>
            <a:r>
              <a:rPr sz="1400" b="0" i="0">
                <a:solidFill>
                  <a:srgbClr val="1F2937"/>
                </a:solidFill>
                <a:latin typeface="Calibri"/>
              </a:rPr>
              <a:t>, le plus récent : répondre d'abord au fait demandé, puis ajouter deux ou trois phrases citées de contexte, jamais un montant non demandé. Il n'embarque que lorsque le registre parle, sans comparaison ni matrice.</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ALCE (Gao et al. 2023) : générer avec citations. Le suivi des instructions se dégrade avec la longueur du prompt ; le budget testé de 5 000 caractères transforme ce risque en fil déclencheur de l'intégration continue.</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 · LA PLATEFORME</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La génération d'une réponse — le tour complet</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840480"/>
          </a:xfrm>
          <a:prstGeom prst="rect">
            <a:avLst/>
          </a:prstGeom>
          <a:noFill/>
        </p:spPr>
        <p:txBody>
          <a:bodyPr wrap="square">
            <a:spAutoFit/>
          </a:bodyPr>
          <a:lstStyle/>
          <a:p>
            <a:pPr>
              <a:lnSpc>
                <a:spcPct val="102000"/>
              </a:lnSpc>
              <a:spcAft>
                <a:spcPts val="600"/>
              </a:spcAft>
            </a:pPr>
            <a:r>
              <a:rPr sz="1400" b="1" i="0">
                <a:solidFill>
                  <a:srgbClr val="16A34A"/>
                </a:solidFill>
                <a:latin typeface="Calibri"/>
              </a:rPr>
              <a:t>▪  </a:t>
            </a:r>
            <a:r>
              <a:rPr sz="1400" b="1" i="0">
                <a:solidFill>
                  <a:srgbClr val="1F2937"/>
                </a:solidFill>
                <a:latin typeface="Calibri"/>
              </a:rPr>
              <a:t>Au plus trois appels</a:t>
            </a:r>
            <a:r>
              <a:rPr sz="1400" b="0" i="0">
                <a:solidFill>
                  <a:srgbClr val="1F2937"/>
                </a:solidFill>
                <a:latin typeface="Calibri"/>
              </a:rPr>
              <a:t> à gpt-5.2 par tour : le conducteur (JSON, 300 tokens), la réponse (en flux, sans plafond), puis le juge du vérificateur s'il est activé.</a:t>
            </a:r>
          </a:p>
          <a:p>
            <a:pPr>
              <a:lnSpc>
                <a:spcPct val="102000"/>
              </a:lnSpc>
              <a:spcAft>
                <a:spcPts val="600"/>
              </a:spcAft>
            </a:pPr>
            <a:r>
              <a:rPr sz="1400" b="1" i="0">
                <a:solidFill>
                  <a:srgbClr val="16A34A"/>
                </a:solidFill>
                <a:latin typeface="Calibri"/>
              </a:rPr>
              <a:t>▪  </a:t>
            </a:r>
            <a:r>
              <a:rPr sz="1400" b="1" i="0">
                <a:solidFill>
                  <a:srgbClr val="1F2937"/>
                </a:solidFill>
                <a:latin typeface="Calibri"/>
              </a:rPr>
              <a:t>Les preuves sont isolées</a:t>
            </a:r>
            <a:r>
              <a:rPr sz="1400" b="0" i="0">
                <a:solidFill>
                  <a:srgbClr val="1F2937"/>
                </a:solidFill>
                <a:latin typeface="Calibri"/>
              </a:rPr>
              <a:t> : le modèle de réponse ne voit que le prompt système et un seul message utilisateur, jamais l'historique.</a:t>
            </a:r>
          </a:p>
          <a:p>
            <a:pPr>
              <a:lnSpc>
                <a:spcPct val="102000"/>
              </a:lnSpc>
              <a:spcAft>
                <a:spcPts val="400"/>
              </a:spcAft>
            </a:pPr>
            <a:r>
              <a:rPr sz="1250" b="0" i="0">
                <a:solidFill>
                  <a:srgbClr val="6B7280"/>
                </a:solidFill>
                <a:latin typeface="Calibri"/>
              </a:rPr>
              <a:t>    –  </a:t>
            </a:r>
            <a:r>
              <a:rPr sz="1250" b="0" i="0">
                <a:solidFill>
                  <a:srgbClr val="374151"/>
                </a:solidFill>
                <a:latin typeface="Calibri"/>
              </a:rPr>
              <a:t>La leçon vient d'une régression mesurée : le modèle relisait ses anciennes réponses comme des preuves (FP220 après FP254 et FP248). L'historique ne nourrit que le conducteur.</a:t>
            </a:r>
          </a:p>
          <a:p>
            <a:pPr>
              <a:lnSpc>
                <a:spcPct val="102000"/>
              </a:lnSpc>
              <a:spcAft>
                <a:spcPts val="600"/>
              </a:spcAft>
            </a:pPr>
            <a:r>
              <a:rPr sz="1400" b="1" i="0">
                <a:solidFill>
                  <a:srgbClr val="16A34A"/>
                </a:solidFill>
                <a:latin typeface="Calibri"/>
              </a:rPr>
              <a:t>▪  </a:t>
            </a:r>
            <a:r>
              <a:rPr sz="1400" b="1" i="0">
                <a:solidFill>
                  <a:srgbClr val="1F2937"/>
                </a:solidFill>
                <a:latin typeface="Calibri"/>
              </a:rPr>
              <a:t>L'ordre du contexte</a:t>
            </a:r>
            <a:r>
              <a:rPr sz="1400" b="0" i="0">
                <a:solidFill>
                  <a:srgbClr val="1F2937"/>
                </a:solidFill>
                <a:latin typeface="Calibri"/>
              </a:rPr>
              <a:t> : la matrice, la note du registre, la note de signal faible, les notes d'année, de conseil et de couverture, puis les extraits étiquetés par document et par score. Les pages de conflit sont récupérées page par page et étiquetées comme telles.</a:t>
            </a:r>
          </a:p>
          <a:p>
            <a:pPr>
              <a:lnSpc>
                <a:spcPct val="102000"/>
              </a:lnSpc>
              <a:spcAft>
                <a:spcPts val="600"/>
              </a:spcAft>
            </a:pPr>
            <a:r>
              <a:rPr sz="1400" b="1" i="0">
                <a:solidFill>
                  <a:srgbClr val="16A34A"/>
                </a:solidFill>
                <a:latin typeface="Calibri"/>
              </a:rPr>
              <a:t>▪  </a:t>
            </a:r>
            <a:r>
              <a:rPr sz="1400" b="1" i="0">
                <a:solidFill>
                  <a:srgbClr val="1F2937"/>
                </a:solidFill>
                <a:latin typeface="Calibri"/>
              </a:rPr>
              <a:t>Après la réponse</a:t>
            </a:r>
            <a:r>
              <a:rPr sz="1400" b="0" i="0">
                <a:solidFill>
                  <a:srgbClr val="1F2937"/>
                </a:solidFill>
                <a:latin typeface="Calibri"/>
              </a:rPr>
              <a:t> : la vérification, puis la ligne des sources (pages citées d'abord), la détection des citations inventées et trois instantanés de pages ancrés.</a:t>
            </a:r>
          </a:p>
          <a:p>
            <a:pPr>
              <a:lnSpc>
                <a:spcPct val="102000"/>
              </a:lnSpc>
              <a:spcAft>
                <a:spcPts val="600"/>
              </a:spcAft>
            </a:pPr>
            <a:r>
              <a:rPr sz="1400" b="1" i="0">
                <a:solidFill>
                  <a:srgbClr val="16A34A"/>
                </a:solidFill>
                <a:latin typeface="Calibri"/>
              </a:rPr>
              <a:t>▪  </a:t>
            </a:r>
            <a:r>
              <a:rPr sz="1400" b="1" i="0">
                <a:solidFill>
                  <a:srgbClr val="1F2937"/>
                </a:solidFill>
                <a:latin typeface="Calibri"/>
              </a:rPr>
              <a:t>La langue est détectée par le code</a:t>
            </a:r>
            <a:r>
              <a:rPr sz="1400" b="0" i="0">
                <a:solidFill>
                  <a:srgbClr val="1F2937"/>
                </a:solidFill>
                <a:latin typeface="Calibri"/>
              </a:rPr>
              <a:t> : une question en anglais dans un fil en français reçoit une réponse en anglais. Le défaut a été observé, corrigé et testé.</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Shuster et al. 2021 : la récupération réduit l'hallucination sans y suffire. L'isolation des preuves combat la contamination par l'historique, un mode d'échec documenté des systèmes conversationnels.</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 · LA PLATEFORME</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Le tour partagé — un seul pipeline, une mémoire de conversation</a:t>
            </a:r>
          </a:p>
        </p:txBody>
      </p:sp>
      <p:sp>
        <p:nvSpPr>
          <p:cNvPr id="5" name="Rectangle 4"/>
          <p:cNvSpPr/>
          <p:nvPr/>
        </p:nvSpPr>
        <p:spPr>
          <a:xfrm>
            <a:off x="548640" y="1042415"/>
            <a:ext cx="1463040" cy="3657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7" name="PageNumber"/>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23</a:t>
            </a:r>
          </a:p>
        </p:txBody>
      </p:sp>
      <p:sp>
        <p:nvSpPr>
          <p:cNvPr id="8" name="TextBox 7"/>
          <p:cNvSpPr txBox="1"/>
          <p:nvPr/>
        </p:nvSpPr>
        <p:spPr>
          <a:xfrm>
            <a:off x="548640" y="1225296"/>
            <a:ext cx="11091672" cy="3886200"/>
          </a:xfrm>
          <a:prstGeom prst="rect">
            <a:avLst/>
          </a:prstGeom>
          <a:noFill/>
        </p:spPr>
        <p:txBody>
          <a:bodyPr wrap="square">
            <a:spAutoFit/>
          </a:bodyPr>
          <a:lstStyle/>
          <a:p>
            <a:pPr>
              <a:lnSpc>
                <a:spcPct val="102000"/>
              </a:lnSpc>
              <a:spcAft>
                <a:spcPts val="600"/>
              </a:spcAft>
            </a:pPr>
            <a:r>
              <a:rPr sz="1400" b="1" i="0">
                <a:solidFill>
                  <a:srgbClr val="16A34A"/>
                </a:solidFill>
                <a:latin typeface="Calibri"/>
              </a:rPr>
              <a:t>▪  </a:t>
            </a:r>
            <a:r>
              <a:rPr sz="1400" b="1" i="0">
                <a:solidFill>
                  <a:srgbClr val="1F2937"/>
                </a:solidFill>
                <a:latin typeface="Calibri"/>
              </a:rPr>
              <a:t>Un seul chef d'orchestre.</a:t>
            </a:r>
            <a:r>
              <a:rPr sz="1400" b="0" i="0">
                <a:solidFill>
                  <a:srgbClr val="1F2937"/>
                </a:solidFill>
                <a:latin typeface="Calibri"/>
              </a:rPr>
              <a:t> Le module de pipeline, environ 2 850 lignes sans dépendance à l'interface, porte les étapes du tour, de la planification à la ligne des sources. L'application Chainlit, passée de 2 258 à 442 lignes, et le harnais d'évaluation appellent les mêmes fonctions.</a:t>
            </a:r>
          </a:p>
          <a:p>
            <a:pPr>
              <a:lnSpc>
                <a:spcPct val="102000"/>
              </a:lnSpc>
              <a:spcAft>
                <a:spcPts val="400"/>
              </a:spcAft>
            </a:pPr>
            <a:r>
              <a:rPr sz="1250" b="0" i="0">
                <a:solidFill>
                  <a:srgbClr val="6B7280"/>
                </a:solidFill>
                <a:latin typeface="Calibri"/>
              </a:rPr>
              <a:t>    –  </a:t>
            </a:r>
            <a:r>
              <a:rPr sz="1250" b="0" i="0">
                <a:solidFill>
                  <a:srgbClr val="374151"/>
                </a:solidFill>
                <a:latin typeface="Calibri"/>
              </a:rPr>
              <a:t>La parité est désormais garantie par construction, et non par discipline. Un oracle de parité sur 157 cas, planificateur activé ou non, a produit des sorties identiques à l'octet avant et après l'extraction.</a:t>
            </a:r>
          </a:p>
          <a:p>
            <a:pPr>
              <a:lnSpc>
                <a:spcPct val="102000"/>
              </a:lnSpc>
              <a:spcAft>
                <a:spcPts val="600"/>
              </a:spcAft>
            </a:pPr>
            <a:r>
              <a:rPr sz="1400" b="1" i="0">
                <a:solidFill>
                  <a:srgbClr val="16A34A"/>
                </a:solidFill>
                <a:latin typeface="Calibri"/>
              </a:rPr>
              <a:t>▪  </a:t>
            </a:r>
            <a:r>
              <a:rPr sz="1400" b="1" i="0">
                <a:solidFill>
                  <a:srgbClr val="1F2937"/>
                </a:solidFill>
                <a:latin typeface="Calibri"/>
              </a:rPr>
              <a:t>La mémoire de conversation.</a:t>
            </a:r>
            <a:r>
              <a:rPr sz="1400" b="0" i="0">
                <a:solidFill>
                  <a:srgbClr val="1F2937"/>
                </a:solidFill>
                <a:latin typeface="Calibri"/>
              </a:rPr>
              <a:t> Les documents discutés dans un fil ne sont plus devinés par une expression régulière sur le texte des réponses. Elle se met à jour depuis le plan résolu et les sources du vérificateur, dans l'ordre demandés, résolus, cités, avec un plafond de douze documents. Elle est persistée avec le fil et reconstruite à la reprise.</a:t>
            </a:r>
          </a:p>
          <a:p>
            <a:pPr>
              <a:lnSpc>
                <a:spcPct val="102000"/>
              </a:lnSpc>
              <a:spcAft>
                <a:spcPts val="400"/>
              </a:spcAft>
            </a:pPr>
            <a:r>
              <a:rPr sz="1250" b="0" i="0">
                <a:solidFill>
                  <a:srgbClr val="6B7280"/>
                </a:solidFill>
                <a:latin typeface="Calibri"/>
              </a:rPr>
              <a:t>    –  </a:t>
            </a:r>
            <a:r>
              <a:rPr sz="1250" b="0" i="0">
                <a:solidFill>
                  <a:srgbClr val="374151"/>
                </a:solidFill>
                <a:latin typeface="Calibri"/>
              </a:rPr>
              <a:t>Elle nourrit le conducteur (résolution des pronoms, « ce document ») et la résolution des identifiants. Le modèle de réponse reste isolé de l'historique.</a:t>
            </a:r>
          </a:p>
          <a:p>
            <a:pPr>
              <a:lnSpc>
                <a:spcPct val="102000"/>
              </a:lnSpc>
              <a:spcAft>
                <a:spcPts val="600"/>
              </a:spcAft>
            </a:pPr>
            <a:r>
              <a:rPr sz="1400" b="1" i="0">
                <a:solidFill>
                  <a:srgbClr val="16A34A"/>
                </a:solidFill>
                <a:latin typeface="Calibri"/>
              </a:rPr>
              <a:t>▪  </a:t>
            </a:r>
            <a:r>
              <a:rPr sz="1400" b="1" i="0">
                <a:solidFill>
                  <a:srgbClr val="1F2937"/>
                </a:solidFill>
                <a:latin typeface="Calibri"/>
              </a:rPr>
              <a:t>Observabilité.</a:t>
            </a:r>
            <a:r>
              <a:rPr sz="1400" b="0" i="0">
                <a:solidFill>
                  <a:srgbClr val="1F2937"/>
                </a:solidFill>
                <a:latin typeface="Calibri"/>
              </a:rPr>
              <a:t> Une ligne de journal par tour (mode, requêtes, gardes, notes, vérification). Les échecs autrefois silencieux du conducteur et de la garde sont désormais journalisés avec leur trace.</a:t>
            </a:r>
          </a:p>
          <a:p>
            <a:pPr>
              <a:lnSpc>
                <a:spcPct val="102000"/>
              </a:lnSpc>
              <a:spcAft>
                <a:spcPts val="600"/>
              </a:spcAft>
            </a:pPr>
            <a:r>
              <a:rPr sz="1400" b="1" i="0">
                <a:solidFill>
                  <a:srgbClr val="16A34A"/>
                </a:solidFill>
                <a:latin typeface="Calibri"/>
              </a:rPr>
              <a:t>▪  </a:t>
            </a:r>
            <a:r>
              <a:rPr sz="1400" b="1" i="0">
                <a:solidFill>
                  <a:srgbClr val="1F2937"/>
                </a:solidFill>
                <a:latin typeface="Calibri"/>
              </a:rPr>
              <a:t>Mesure.</a:t>
            </a:r>
            <a:r>
              <a:rPr sz="1400" b="0" i="0">
                <a:solidFill>
                  <a:srgbClr val="1F2937"/>
                </a:solidFill>
                <a:latin typeface="Calibri"/>
              </a:rPr>
              <a:t> Huit cas gold multi-tours ont été ajoutés, ce qui porte le gold de 157 à 165 cas. Ils n'ont pas encore été scorés de bout en bout ; la paire de certification est la prochaine étape du protocole.</a:t>
            </a:r>
          </a:p>
        </p:txBody>
      </p:sp>
      <p:sp>
        <p:nvSpPr>
          <p:cNvPr id="9" name="Rounded Rectangle 8"/>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64008" bIns="64008"/>
          <a:lstStyle/>
          <a:p>
            <a:pPr algn="ctr">
              <a:lnSpc>
                <a:spcPct val="100000"/>
              </a:lnSpc>
            </a:pPr>
            <a:r>
              <a:rPr sz="1050" b="1" i="0">
                <a:solidFill>
                  <a:srgbClr val="0C4A6E"/>
                </a:solidFill>
                <a:latin typeface="Calibri"/>
              </a:rPr>
              <a:t>LITTÉRATURE — </a:t>
            </a:r>
            <a:r>
              <a:rPr sz="1050" b="0" i="0">
                <a:solidFill>
                  <a:srgbClr val="0C4A6E"/>
                </a:solidFill>
                <a:latin typeface="Calibri"/>
              </a:rPr>
              <a:t>Le RAG modulaire (Gao et al. 2023) rend le module « mémoire » explicite et testable. Barnett et al. 2024 rappellent qu'un harnais qui ne rejoue pas le code de production mesure autre chose que la production : la parité doit être structurelle.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51560"/>
            <a:ext cx="2377440" cy="1463040"/>
          </a:xfrm>
          <a:prstGeom prst="rect">
            <a:avLst/>
          </a:prstGeom>
          <a:noFill/>
        </p:spPr>
        <p:txBody>
          <a:bodyPr wrap="square">
            <a:spAutoFit/>
          </a:bodyPr>
          <a:lstStyle/>
          <a:p>
            <a:r>
              <a:rPr sz="8800" b="1" i="0">
                <a:solidFill>
                  <a:srgbClr val="16A34A"/>
                </a:solidFill>
                <a:latin typeface="Calibri"/>
              </a:rPr>
              <a:t>III</a:t>
            </a:r>
          </a:p>
        </p:txBody>
      </p:sp>
      <p:sp>
        <p:nvSpPr>
          <p:cNvPr id="4" name="TextBox 3"/>
          <p:cNvSpPr txBox="1"/>
          <p:nvPr/>
        </p:nvSpPr>
        <p:spPr>
          <a:xfrm>
            <a:off x="548640" y="2606040"/>
            <a:ext cx="10515600" cy="914400"/>
          </a:xfrm>
          <a:prstGeom prst="rect">
            <a:avLst/>
          </a:prstGeom>
          <a:noFill/>
        </p:spPr>
        <p:txBody>
          <a:bodyPr wrap="square">
            <a:spAutoFit/>
          </a:bodyPr>
          <a:lstStyle/>
          <a:p>
            <a:r>
              <a:rPr sz="3400" b="1" i="0">
                <a:solidFill>
                  <a:srgbClr val="FFFFFF"/>
                </a:solidFill>
                <a:latin typeface="Calibri"/>
              </a:rPr>
              <a:t>La qualité comme programme — vérifier, mesurer, auditer</a:t>
            </a:r>
          </a:p>
        </p:txBody>
      </p:sp>
      <p:sp>
        <p:nvSpPr>
          <p:cNvPr id="5" name="Rectangle 4"/>
          <p:cNvSpPr/>
          <p:nvPr/>
        </p:nvSpPr>
        <p:spPr>
          <a:xfrm>
            <a:off x="548640" y="3429000"/>
            <a:ext cx="2011680" cy="381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794760"/>
            <a:ext cx="10515600" cy="2194560"/>
          </a:xfrm>
          <a:prstGeom prst="rect">
            <a:avLst/>
          </a:prstGeom>
          <a:noFill/>
        </p:spPr>
        <p:txBody>
          <a:bodyPr wrap="square">
            <a:spAutoFit/>
          </a:bodyPr>
          <a:lstStyle/>
          <a:p>
            <a:pPr>
              <a:spcAft>
                <a:spcPts val="800"/>
              </a:spcAft>
            </a:pPr>
            <a:r>
              <a:rPr sz="1500" b="1" i="0">
                <a:solidFill>
                  <a:srgbClr val="16A34A"/>
                </a:solidFill>
                <a:latin typeface="Calibri"/>
              </a:rPr>
              <a:t>—  </a:t>
            </a:r>
            <a:r>
              <a:rPr sz="1500" b="0" i="0">
                <a:solidFill>
                  <a:srgbClr val="D1FAE5"/>
                </a:solidFill>
                <a:latin typeface="Calibri"/>
              </a:rPr>
              <a:t>Un vérificateur factuel par claims, en production à chaque tour</a:t>
            </a:r>
          </a:p>
          <a:p>
            <a:pPr>
              <a:spcAft>
                <a:spcPts val="800"/>
              </a:spcAft>
            </a:pPr>
            <a:r>
              <a:rPr sz="1500" b="1" i="0">
                <a:solidFill>
                  <a:srgbClr val="16A34A"/>
                </a:solidFill>
                <a:latin typeface="Calibri"/>
              </a:rPr>
              <a:t>—  </a:t>
            </a:r>
            <a:r>
              <a:rPr sz="1500" b="0" i="0">
                <a:solidFill>
                  <a:srgbClr val="D1FAE5"/>
                </a:solidFill>
                <a:latin typeface="Calibri"/>
              </a:rPr>
              <a:t>L'instrument lui-même mesuré : adjudication humaine en aveugle</a:t>
            </a:r>
          </a:p>
          <a:p>
            <a:pPr>
              <a:spcAft>
                <a:spcPts val="800"/>
              </a:spcAft>
            </a:pPr>
            <a:r>
              <a:rPr sz="1500" b="1" i="0">
                <a:solidFill>
                  <a:srgbClr val="16A34A"/>
                </a:solidFill>
                <a:latin typeface="Calibri"/>
              </a:rPr>
              <a:t>—  </a:t>
            </a:r>
            <a:r>
              <a:rPr sz="1500" b="0" i="0">
                <a:solidFill>
                  <a:srgbClr val="D1FAE5"/>
                </a:solidFill>
                <a:latin typeface="Calibri"/>
              </a:rPr>
              <a:t>Une fonctionnalité tuée par la mesure : l'auto-réparation</a:t>
            </a:r>
          </a:p>
          <a:p>
            <a:pPr>
              <a:spcAft>
                <a:spcPts val="800"/>
              </a:spcAft>
            </a:pPr>
            <a:r>
              <a:rPr sz="1500" b="1" i="0">
                <a:solidFill>
                  <a:srgbClr val="16A34A"/>
                </a:solidFill>
                <a:latin typeface="Calibri"/>
              </a:rPr>
              <a:t>—  </a:t>
            </a:r>
            <a:r>
              <a:rPr sz="1500" b="0" i="0">
                <a:solidFill>
                  <a:srgbClr val="D1FAE5"/>
                </a:solidFill>
                <a:latin typeface="Calibri"/>
              </a:rPr>
              <a:t>23 releases sous protocole : paires, bruit, portes entières</a:t>
            </a:r>
          </a:p>
        </p:txBody>
      </p:sp>
      <p:sp>
        <p:nvSpPr>
          <p:cNvPr id="7" name="TextBox 6"/>
          <p:cNvSpPr txBox="1"/>
          <p:nvPr/>
        </p:nvSpPr>
        <p:spPr>
          <a:xfrm>
            <a:off x="548640" y="6510528"/>
            <a:ext cx="7315200" cy="274320"/>
          </a:xfrm>
          <a:prstGeom prst="rect">
            <a:avLst/>
          </a:prstGeom>
          <a:noFill/>
        </p:spPr>
        <p:txBody>
          <a:bodyPr wrap="square">
            <a:spAutoFit/>
          </a:bodyPr>
          <a:lstStyle/>
          <a:p>
            <a:r>
              <a:rPr sz="900" b="0" i="0">
                <a:solidFill>
                  <a:srgbClr val="A7C4AF"/>
                </a:solidFill>
                <a:latin typeface="Calibri"/>
              </a:rPr>
              <a:t>Synthèse assistée par RAG · approche hybride · documents sectoriels GCF</a:t>
            </a:r>
          </a:p>
        </p:txBody>
      </p:sp>
      <p:sp>
        <p:nvSpPr>
          <p:cNvPr id="8" name="TextBox 7"/>
          <p:cNvSpPr txBox="1"/>
          <p:nvPr/>
        </p:nvSpPr>
        <p:spPr>
          <a:xfrm>
            <a:off x="11292840" y="6510528"/>
            <a:ext cx="640080" cy="274320"/>
          </a:xfrm>
          <a:prstGeom prst="rect">
            <a:avLst/>
          </a:prstGeom>
          <a:noFill/>
        </p:spPr>
        <p:txBody>
          <a:bodyPr wrap="square">
            <a:spAutoFit/>
          </a:bodyPr>
          <a:lstStyle/>
          <a:p>
            <a:pPr algn="r"/>
            <a:r>
              <a:rPr sz="900" b="0" i="0">
                <a:solidFill>
                  <a:srgbClr val="A7C4AF"/>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III · LA QUALITÉ</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Le vérificateur claim-support</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886200"/>
          </a:xfrm>
          <a:prstGeom prst="rect">
            <a:avLst/>
          </a:prstGeom>
          <a:noFill/>
        </p:spPr>
        <p:txBody>
          <a:bodyPr wrap="square">
            <a:spAutoFit/>
          </a:bodyPr>
          <a:lstStyle/>
          <a:p>
            <a:pPr>
              <a:lnSpc>
                <a:spcPct val="102000"/>
              </a:lnSpc>
              <a:spcAft>
                <a:spcPts val="600"/>
              </a:spcAft>
            </a:pPr>
            <a:r>
              <a:rPr sz="1400" b="1" i="0">
                <a:solidFill>
                  <a:srgbClr val="16A34A"/>
                </a:solidFill>
                <a:latin typeface="Calibri"/>
              </a:rPr>
              <a:t>▪  </a:t>
            </a:r>
            <a:r>
              <a:rPr sz="1400" b="1" i="0">
                <a:solidFill>
                  <a:srgbClr val="1F2937"/>
                </a:solidFill>
                <a:latin typeface="Calibri"/>
              </a:rPr>
              <a:t>Chaque réponse est décomposée</a:t>
            </a:r>
            <a:r>
              <a:rPr sz="1400" b="0" i="0">
                <a:solidFill>
                  <a:srgbClr val="1F2937"/>
                </a:solidFill>
                <a:latin typeface="Calibri"/>
              </a:rPr>
              <a:t> en affirmations atomiques (montant, nombre, entité, année, existence), chacune rattachée à ses citations, puis classée : soutenue, contredite ou non soutenue.</a:t>
            </a:r>
          </a:p>
          <a:p>
            <a:pPr>
              <a:lnSpc>
                <a:spcPct val="102000"/>
              </a:lnSpc>
              <a:spcAft>
                <a:spcPts val="600"/>
              </a:spcAft>
            </a:pPr>
            <a:r>
              <a:rPr sz="1400" b="1" i="0">
                <a:solidFill>
                  <a:srgbClr val="16A34A"/>
                </a:solidFill>
                <a:latin typeface="Calibri"/>
              </a:rPr>
              <a:t>▪  </a:t>
            </a:r>
            <a:r>
              <a:rPr sz="1400" b="1" i="0">
                <a:solidFill>
                  <a:srgbClr val="1F2937"/>
                </a:solidFill>
                <a:latin typeface="Calibri"/>
              </a:rPr>
              <a:t>Le déterministe passe en premier</a:t>
            </a:r>
            <a:r>
              <a:rPr sz="1400" b="0" i="0">
                <a:solidFill>
                  <a:srgbClr val="1F2937"/>
                </a:solidFill>
                <a:latin typeface="Calibri"/>
              </a:rPr>
              <a:t> : des matcheurs exacts pour les montants (avec garde sur la devise et l'échelle), les alias d'entités, les années et une arithmétique dérivée bornée. Le juge LLM ne reçoit que le résidu « non soutenu mais plausible ».</a:t>
            </a:r>
          </a:p>
          <a:p>
            <a:pPr>
              <a:lnSpc>
                <a:spcPct val="102000"/>
              </a:lnSpc>
              <a:spcAft>
                <a:spcPts val="400"/>
              </a:spcAft>
            </a:pPr>
            <a:r>
              <a:rPr sz="1250" b="0" i="0">
                <a:solidFill>
                  <a:srgbClr val="6B7280"/>
                </a:solidFill>
                <a:latin typeface="Calibri"/>
              </a:rPr>
              <a:t>    –  </a:t>
            </a:r>
            <a:r>
              <a:rPr sz="1250" b="0" i="0">
                <a:solidFill>
                  <a:srgbClr val="374151"/>
                </a:solidFill>
                <a:latin typeface="Calibri"/>
              </a:rPr>
              <a:t>Un appel de juge au plus par réponse, douze affirmations au plus. Le juge ne peut que promouvoir : requalifier en soutenue, jamais dégrader ni réécrire.</a:t>
            </a:r>
          </a:p>
          <a:p>
            <a:pPr>
              <a:lnSpc>
                <a:spcPct val="102000"/>
              </a:lnSpc>
              <a:spcAft>
                <a:spcPts val="600"/>
              </a:spcAft>
            </a:pPr>
            <a:r>
              <a:rPr sz="1400" b="1" i="0">
                <a:solidFill>
                  <a:srgbClr val="16A34A"/>
                </a:solidFill>
                <a:latin typeface="Calibri"/>
              </a:rPr>
              <a:t>▪  </a:t>
            </a:r>
            <a:r>
              <a:rPr sz="1400" b="1" i="0">
                <a:solidFill>
                  <a:srgbClr val="1F2937"/>
                </a:solidFill>
                <a:latin typeface="Calibri"/>
              </a:rPr>
              <a:t>Quatre métriques distinctes</a:t>
            </a:r>
            <a:r>
              <a:rPr sz="1400" b="0" i="0">
                <a:solidFill>
                  <a:srgbClr val="1F2937"/>
                </a:solidFill>
                <a:latin typeface="Calibri"/>
              </a:rPr>
              <a:t>, toujours en n/d : le taux de support, l'ancrage (contre toutes les preuves du tour), la complétude des citations et leur présence.</a:t>
            </a:r>
          </a:p>
          <a:p>
            <a:pPr>
              <a:lnSpc>
                <a:spcPct val="102000"/>
              </a:lnSpc>
              <a:spcAft>
                <a:spcPts val="600"/>
              </a:spcAft>
            </a:pPr>
            <a:r>
              <a:rPr sz="1400" b="1" i="0">
                <a:solidFill>
                  <a:srgbClr val="16A34A"/>
                </a:solidFill>
                <a:latin typeface="Calibri"/>
              </a:rPr>
              <a:t>▪  </a:t>
            </a:r>
            <a:r>
              <a:rPr sz="1400" b="1" i="0">
                <a:solidFill>
                  <a:srgbClr val="1F2937"/>
                </a:solidFill>
                <a:latin typeface="Calibri"/>
              </a:rPr>
              <a:t>Trois règles de conception</a:t>
            </a:r>
            <a:r>
              <a:rPr sz="1400" b="0" i="0">
                <a:solidFill>
                  <a:srgbClr val="1F2937"/>
                </a:solidFill>
                <a:latin typeface="Calibri"/>
              </a:rPr>
              <a:t> : le texte de la réponse n'est jamais modifié ; on ne plante jamais sur une sortie du modèle ; le vérificateur tourne en production à chaque tour, pas seulement en évaluation.</a:t>
            </a:r>
          </a:p>
          <a:p>
            <a:pPr>
              <a:lnSpc>
                <a:spcPct val="102000"/>
              </a:lnSpc>
              <a:spcAft>
                <a:spcPts val="600"/>
              </a:spcAft>
            </a:pPr>
            <a:r>
              <a:rPr sz="1400" b="1" i="0">
                <a:solidFill>
                  <a:srgbClr val="16A34A"/>
                </a:solidFill>
                <a:latin typeface="Calibri"/>
              </a:rPr>
              <a:t>▪  </a:t>
            </a:r>
            <a:r>
              <a:rPr sz="1400" b="1" i="0">
                <a:solidFill>
                  <a:srgbClr val="1F2937"/>
                </a:solidFill>
                <a:latin typeface="Calibri"/>
              </a:rPr>
              <a:t>Le juge est lui-même audité</a:t>
            </a:r>
            <a:r>
              <a:rPr sz="1400" b="0" i="0">
                <a:solidFill>
                  <a:srgbClr val="1F2937"/>
                </a:solidFill>
                <a:latin typeface="Calibri"/>
              </a:rPr>
              <a:t> : sur un release, zéro fabrication pour 28 promotions et un taux d'acceptation de 68 %. L'éteindre mal-étiquetterait 21 réponses sur 66.</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Min et al. 2023 (FActScore, la décomposition en affirmations), Es et al. 2023 (RAGAS, la fidélité), Saad-Falcon 2024 (ARES) : la plateforme transpose l'évaluation par affirmations en production, avec un juge borné et audité.</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III · LA QUALITÉ</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Mesurer l'instrument — l'adjudication en aveugle</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886200"/>
          </a:xfrm>
          <a:prstGeom prst="rect">
            <a:avLst/>
          </a:prstGeom>
          <a:noFill/>
        </p:spPr>
        <p:txBody>
          <a:bodyPr wrap="square">
            <a:spAutoFit/>
          </a:bodyPr>
          <a:lstStyle/>
          <a:p>
            <a:pPr>
              <a:lnSpc>
                <a:spcPct val="102000"/>
              </a:lnSpc>
              <a:spcAft>
                <a:spcPts val="600"/>
              </a:spcAft>
            </a:pPr>
            <a:r>
              <a:rPr sz="1350" b="1" i="0">
                <a:solidFill>
                  <a:srgbClr val="16A34A"/>
                </a:solidFill>
                <a:latin typeface="Calibri"/>
              </a:rPr>
              <a:t>▪  </a:t>
            </a:r>
            <a:r>
              <a:rPr sz="1350" b="1" i="0">
                <a:solidFill>
                  <a:srgbClr val="1F2937"/>
                </a:solidFill>
                <a:latin typeface="Calibri"/>
              </a:rPr>
              <a:t>Point de départ</a:t>
            </a:r>
            <a:r>
              <a:rPr sz="1350" b="0" i="0">
                <a:solidFill>
                  <a:srgbClr val="1F2937"/>
                </a:solidFill>
                <a:latin typeface="Calibri"/>
              </a:rPr>
              <a:t> : le premier release affichait 57,0 % d'affirmations soutenues. Mais qui se trompait, le système ou l'instrument ?</a:t>
            </a:r>
          </a:p>
          <a:p>
            <a:pPr>
              <a:lnSpc>
                <a:spcPct val="102000"/>
              </a:lnSpc>
              <a:spcAft>
                <a:spcPts val="600"/>
              </a:spcAft>
            </a:pPr>
            <a:r>
              <a:rPr sz="1350" b="1" i="0">
                <a:solidFill>
                  <a:srgbClr val="16A34A"/>
                </a:solidFill>
                <a:latin typeface="Calibri"/>
              </a:rPr>
              <a:t>▪  </a:t>
            </a:r>
            <a:r>
              <a:rPr sz="1350" b="1" i="0">
                <a:solidFill>
                  <a:srgbClr val="1F2937"/>
                </a:solidFill>
                <a:latin typeface="Calibri"/>
              </a:rPr>
              <a:t>Les 71 échecs ont été adjudiqués en aveugle</a:t>
            </a:r>
            <a:r>
              <a:rPr sz="1350" b="0" i="0">
                <a:solidFill>
                  <a:srgbClr val="1F2937"/>
                </a:solidFill>
                <a:latin typeface="Calibri"/>
              </a:rPr>
              <a:t> : verdicts masqués, taxonomie des causes écrite avant l'étiquetage, trois annotateurs indépendants, et un quatrième pour mesurer l'accord (17 sur 20, soit 85 %).</a:t>
            </a:r>
          </a:p>
          <a:p>
            <a:pPr>
              <a:lnSpc>
                <a:spcPct val="102000"/>
              </a:lnSpc>
              <a:spcAft>
                <a:spcPts val="400"/>
              </a:spcAft>
            </a:pPr>
            <a:r>
              <a:rPr sz="1200" b="0" i="0">
                <a:solidFill>
                  <a:srgbClr val="6B7280"/>
                </a:solidFill>
                <a:latin typeface="Calibri"/>
              </a:rPr>
              <a:t>    –  </a:t>
            </a:r>
            <a:r>
              <a:rPr sz="1200" b="0" i="0">
                <a:solidFill>
                  <a:srgbClr val="374151"/>
                </a:solidFill>
                <a:latin typeface="Calibri"/>
              </a:rPr>
              <a:t>Verdict : le vérificateur se trompait sur 59 cas sur 71 (83 %), dont 46 faux positifs stricts. Le 57 % était surtout un artefact de mesure ; il restait douze vrais défauts.</a:t>
            </a:r>
          </a:p>
          <a:p>
            <a:pPr>
              <a:lnSpc>
                <a:spcPct val="102000"/>
              </a:lnSpc>
              <a:spcAft>
                <a:spcPts val="600"/>
              </a:spcAft>
            </a:pPr>
            <a:r>
              <a:rPr sz="1350" b="1" i="0">
                <a:solidFill>
                  <a:srgbClr val="16A34A"/>
                </a:solidFill>
                <a:latin typeface="Calibri"/>
              </a:rPr>
              <a:t>▪  </a:t>
            </a:r>
            <a:r>
              <a:rPr sz="1350" b="1" i="0">
                <a:solidFill>
                  <a:srgbClr val="1F2937"/>
                </a:solidFill>
                <a:latin typeface="Calibri"/>
              </a:rPr>
              <a:t>La calibration a été disciplinée</a:t>
            </a:r>
            <a:r>
              <a:rPr sz="1350" b="0" i="0">
                <a:solidFill>
                  <a:srgbClr val="1F2937"/>
                </a:solidFill>
                <a:latin typeface="Calibri"/>
              </a:rPr>
              <a:t> : chaque assouplissement est ancré à une ligne adjudiquée, avec une trace vérifiée dans git ; six assouplissements ont été supprimés plutôt que rafistolés ; le tout est ratifié par un commit signé du propriétaire.</a:t>
            </a:r>
          </a:p>
          <a:p>
            <a:pPr>
              <a:lnSpc>
                <a:spcPct val="102000"/>
              </a:lnSpc>
              <a:spcAft>
                <a:spcPts val="600"/>
              </a:spcAft>
            </a:pPr>
            <a:r>
              <a:rPr sz="1350" b="1" i="0">
                <a:solidFill>
                  <a:srgbClr val="16A34A"/>
                </a:solidFill>
                <a:latin typeface="Calibri"/>
              </a:rPr>
              <a:t>▪  </a:t>
            </a:r>
            <a:r>
              <a:rPr sz="1350" b="1" i="0">
                <a:solidFill>
                  <a:srgbClr val="1F2937"/>
                </a:solidFill>
                <a:latin typeface="Calibri"/>
              </a:rPr>
              <a:t>Cinq bras de scoring</a:t>
            </a:r>
            <a:r>
              <a:rPr sz="1350" b="0" i="0">
                <a:solidFill>
                  <a:srgbClr val="1F2937"/>
                </a:solidFill>
                <a:latin typeface="Calibri"/>
              </a:rPr>
              <a:t>, dont aucun ne consulte un verdict : le gold humain, les cas tenus pour corrects, des fabrications semées, des réparations et des contradictions semées. Sur 315 lignes : précision 86,2 %, rappel 74,4 %, F1 79,9 %.</a:t>
            </a:r>
          </a:p>
          <a:p>
            <a:pPr>
              <a:lnSpc>
                <a:spcPct val="102000"/>
              </a:lnSpc>
              <a:spcAft>
                <a:spcPts val="400"/>
              </a:spcAft>
            </a:pPr>
            <a:r>
              <a:rPr sz="1200" b="0" i="0">
                <a:solidFill>
                  <a:srgbClr val="6B7280"/>
                </a:solidFill>
                <a:latin typeface="Calibri"/>
              </a:rPr>
              <a:t>    –  </a:t>
            </a:r>
            <a:r>
              <a:rPr sz="1200" b="0" i="0">
                <a:solidFill>
                  <a:srgbClr val="374151"/>
                </a:solidFill>
                <a:latin typeface="Calibri"/>
              </a:rPr>
              <a:t>Le cinquième bras existe parce qu'une revue avait supprimé toute détection de contradiction sans qu'aucun chiffre ne bouge. L'angle mort est désormais instrumenté.</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Zheng et al. 2023 (LLM-as-judge) et sa méta-évaluation : accord inter-annotateurs, gold en aveugle, anti-ancrage. La seule chose qu'un système ne peut pas faire, c'est se noter lui-même.</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III · LA QUALITÉ</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La fonctionnalité tuée — l'auto-réparation des réponses</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886200"/>
          </a:xfrm>
          <a:prstGeom prst="rect">
            <a:avLst/>
          </a:prstGeom>
          <a:noFill/>
        </p:spPr>
        <p:txBody>
          <a:bodyPr wrap="square">
            <a:spAutoFit/>
          </a:bodyPr>
          <a:lstStyle/>
          <a:p>
            <a:pPr>
              <a:lnSpc>
                <a:spcPct val="102000"/>
              </a:lnSpc>
              <a:spcAft>
                <a:spcPts val="600"/>
              </a:spcAft>
            </a:pPr>
            <a:r>
              <a:rPr sz="1400" b="1" i="0">
                <a:solidFill>
                  <a:srgbClr val="16A34A"/>
                </a:solidFill>
                <a:latin typeface="Calibri"/>
              </a:rPr>
              <a:t>▪  </a:t>
            </a:r>
            <a:r>
              <a:rPr sz="1400" b="1" i="0">
                <a:solidFill>
                  <a:srgbClr val="1F2937"/>
                </a:solidFill>
                <a:latin typeface="Calibri"/>
              </a:rPr>
              <a:t>L'idée</a:t>
            </a:r>
            <a:r>
              <a:rPr sz="1400" b="0" i="0">
                <a:solidFill>
                  <a:srgbClr val="1F2937"/>
                </a:solidFill>
                <a:latin typeface="Calibri"/>
              </a:rPr>
              <a:t> : réécrire automatiquement les réponses dont des affirmations échouent. Toutes les métriques sous porte montaient : support, ancrage, complétude.</a:t>
            </a:r>
          </a:p>
          <a:p>
            <a:pPr>
              <a:lnSpc>
                <a:spcPct val="102000"/>
              </a:lnSpc>
              <a:spcAft>
                <a:spcPts val="600"/>
              </a:spcAft>
            </a:pPr>
            <a:r>
              <a:rPr sz="1400" b="1" i="0">
                <a:solidFill>
                  <a:srgbClr val="16A34A"/>
                </a:solidFill>
                <a:latin typeface="Calibri"/>
              </a:rPr>
              <a:t>▪  </a:t>
            </a:r>
            <a:r>
              <a:rPr sz="1400" b="1" i="0">
                <a:solidFill>
                  <a:srgbClr val="1F2937"/>
                </a:solidFill>
                <a:latin typeface="Calibri"/>
              </a:rPr>
              <a:t>Un A/B honnête</a:t>
            </a:r>
            <a:r>
              <a:rPr sz="1400" b="0" i="0">
                <a:solidFill>
                  <a:srgbClr val="1F2937"/>
                </a:solidFill>
                <a:latin typeface="Calibri"/>
              </a:rPr>
              <a:t>, sur réponses enregistrées et rejouées, l'a réfutée.</a:t>
            </a:r>
          </a:p>
          <a:p>
            <a:pPr>
              <a:lnSpc>
                <a:spcPct val="102000"/>
              </a:lnSpc>
              <a:spcAft>
                <a:spcPts val="400"/>
              </a:spcAft>
            </a:pPr>
            <a:r>
              <a:rPr sz="1250" b="0" i="0">
                <a:solidFill>
                  <a:srgbClr val="6B7280"/>
                </a:solidFill>
                <a:latin typeface="Calibri"/>
              </a:rPr>
              <a:t>    –  </a:t>
            </a:r>
            <a:r>
              <a:rPr sz="1250" b="0" i="0">
                <a:solidFill>
                  <a:srgbClr val="374151"/>
                </a:solidFill>
                <a:latin typeface="Calibri"/>
              </a:rPr>
              <a:t>Trois des cinq réécritures adoptées supprimaient du contenu vérifié, cité et ancré, dont le chiffre qui documentait un désaccord du registre. Une abstention de 351 caractères devenait le mot « None. ».</a:t>
            </a:r>
          </a:p>
          <a:p>
            <a:pPr>
              <a:lnSpc>
                <a:spcPct val="102000"/>
              </a:lnSpc>
              <a:spcAft>
                <a:spcPts val="400"/>
              </a:spcAft>
            </a:pPr>
            <a:r>
              <a:rPr sz="1250" b="0" i="0">
                <a:solidFill>
                  <a:srgbClr val="6B7280"/>
                </a:solidFill>
                <a:latin typeface="Calibri"/>
              </a:rPr>
              <a:t>    –  </a:t>
            </a:r>
            <a:r>
              <a:rPr sz="1250" b="0" i="0">
                <a:solidFill>
                  <a:srgbClr val="374151"/>
                </a:solidFill>
                <a:latin typeface="Calibri"/>
              </a:rPr>
              <a:t>L'adoption n'était pas déterministe : 18 à 27 % des cas basculaient entre deux rejeux identiques, l'API ignorant l'épinglage à l'octet près. La seule réécriture parfaitement reproductible était la nuisible.</a:t>
            </a:r>
          </a:p>
          <a:p>
            <a:pPr>
              <a:lnSpc>
                <a:spcPct val="102000"/>
              </a:lnSpc>
              <a:spcAft>
                <a:spcPts val="400"/>
              </a:spcAft>
            </a:pPr>
            <a:r>
              <a:rPr sz="1250" b="0" i="0">
                <a:solidFill>
                  <a:srgbClr val="6B7280"/>
                </a:solidFill>
                <a:latin typeface="Calibri"/>
              </a:rPr>
              <a:t>    –  </a:t>
            </a:r>
            <a:r>
              <a:rPr sz="1250" b="0" i="0">
                <a:solidFill>
                  <a:srgbClr val="374151"/>
                </a:solidFill>
                <a:latin typeface="Calibri"/>
              </a:rPr>
              <a:t>Le mécanisme est pervers : « adopter si propre » fait de la suppression d'une affirmation le moyen le moins cher d'être propre. Chaque garde ajoutée sélectionnait la réécriture qui la contournait.</a:t>
            </a:r>
          </a:p>
          <a:p>
            <a:pPr>
              <a:lnSpc>
                <a:spcPct val="102000"/>
              </a:lnSpc>
              <a:spcAft>
                <a:spcPts val="600"/>
              </a:spcAft>
            </a:pPr>
            <a:r>
              <a:rPr sz="1400" b="1" i="0">
                <a:solidFill>
                  <a:srgbClr val="16A34A"/>
                </a:solidFill>
                <a:latin typeface="Calibri"/>
              </a:rPr>
              <a:t>▪  </a:t>
            </a:r>
            <a:r>
              <a:rPr sz="1400" b="1" i="0">
                <a:solidFill>
                  <a:srgbClr val="1F2937"/>
                </a:solidFill>
                <a:latin typeface="Calibri"/>
              </a:rPr>
              <a:t>Décision</a:t>
            </a:r>
            <a:r>
              <a:rPr sz="1400" b="0" i="0">
                <a:solidFill>
                  <a:srgbClr val="1F2937"/>
                </a:solidFill>
                <a:latin typeface="Calibri"/>
              </a:rPr>
              <a:t> : le chemin d'adoption a été retiré du code, et non mis derrière un drapeau, car un drapeau qui tient un chemin fermé reste un chemin. La preuve par rejeu : 396 réponses identiques à l'octet avant et après.</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Huang et al. 2024 (« LLMs Cannot Self-Correct Reasoning Yet ») et la loi de Goodhart : une fonctionnalité qui améliore toutes les métriques en détruisant de la valeur est un échec de conception des portes, pas une réussite.</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III · LA QUALITÉ</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Le protocole de release — la métrologie</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886200"/>
          </a:xfrm>
          <a:prstGeom prst="rect">
            <a:avLst/>
          </a:prstGeom>
          <a:noFill/>
        </p:spPr>
        <p:txBody>
          <a:bodyPr wrap="square">
            <a:spAutoFit/>
          </a:bodyPr>
          <a:lstStyle/>
          <a:p>
            <a:pPr>
              <a:lnSpc>
                <a:spcPct val="102000"/>
              </a:lnSpc>
              <a:spcAft>
                <a:spcPts val="600"/>
              </a:spcAft>
            </a:pPr>
            <a:r>
              <a:rPr sz="1350" b="1" i="0">
                <a:solidFill>
                  <a:srgbClr val="16A34A"/>
                </a:solidFill>
                <a:latin typeface="Calibri"/>
              </a:rPr>
              <a:t>▪  </a:t>
            </a:r>
            <a:r>
              <a:rPr sz="1350" b="1" i="0">
                <a:solidFill>
                  <a:srgbClr val="1F2937"/>
                </a:solidFill>
                <a:latin typeface="Calibri"/>
              </a:rPr>
              <a:t>La parité avec la production est le défaut</a:t>
            </a:r>
            <a:r>
              <a:rPr sz="1350" b="0" i="0">
                <a:solidFill>
                  <a:srgbClr val="1F2937"/>
                </a:solidFill>
                <a:latin typeface="Calibri"/>
              </a:rPr>
              <a:t> : le harnais rejoue exactement le pipeline de l'application (conducteur, planificateur, gardes, vérificateur) et ne lit rien de l'environnement ambiant, sauf la clé d'API. Depuis septembre 2026, cette parité est acquise par construction : l'application et le harnais appellent le même module.</a:t>
            </a:r>
          </a:p>
          <a:p>
            <a:pPr>
              <a:lnSpc>
                <a:spcPct val="102000"/>
              </a:lnSpc>
              <a:spcAft>
                <a:spcPts val="600"/>
              </a:spcAft>
            </a:pPr>
            <a:r>
              <a:rPr sz="1350" b="1" i="0">
                <a:solidFill>
                  <a:srgbClr val="16A34A"/>
                </a:solidFill>
                <a:latin typeface="Calibri"/>
              </a:rPr>
              <a:t>▪  </a:t>
            </a:r>
            <a:r>
              <a:rPr sz="1350" b="1" i="0">
                <a:solidFill>
                  <a:srgbClr val="1F2937"/>
                </a:solidFill>
                <a:latin typeface="Calibri"/>
              </a:rPr>
              <a:t>Épinglage et provenance</a:t>
            </a:r>
            <a:r>
              <a:rPr sz="1350" b="0" i="0">
                <a:solidFill>
                  <a:srgbClr val="1F2937"/>
                </a:solidFill>
                <a:latin typeface="Calibri"/>
              </a:rPr>
              <a:t> : température 0 et graine fixe sur chaque appel ; chaque enregistrement porte le modèle et son instantané, les empreintes de l'index et du registre, le SHA git et un bloc de parité. 108 artefacts sont sous somme de contrôle.</a:t>
            </a:r>
          </a:p>
          <a:p>
            <a:pPr>
              <a:lnSpc>
                <a:spcPct val="102000"/>
              </a:lnSpc>
              <a:spcAft>
                <a:spcPts val="600"/>
              </a:spcAft>
            </a:pPr>
            <a:r>
              <a:rPr sz="1350" b="1" i="0">
                <a:solidFill>
                  <a:srgbClr val="16A34A"/>
                </a:solidFill>
                <a:latin typeface="Calibri"/>
              </a:rPr>
              <a:t>▪  </a:t>
            </a:r>
            <a:r>
              <a:rPr sz="1350" b="1" i="0">
                <a:solidFill>
                  <a:srgbClr val="1F2937"/>
                </a:solidFill>
                <a:latin typeface="Calibri"/>
              </a:rPr>
              <a:t>La variance a été mesurée avant les améliorations</a:t>
            </a:r>
            <a:r>
              <a:rPr sz="1350" b="0" i="0">
                <a:solidFill>
                  <a:srgbClr val="1F2937"/>
                </a:solidFill>
                <a:latin typeface="Calibri"/>
              </a:rPr>
              <a:t> : une paire de même configuration donne une bande de bruit de ±2 à 3 points. Tout écart inférieur est du bruit, y compris un gain déjà annoncé, qui a été requalifié.</a:t>
            </a:r>
          </a:p>
          <a:p>
            <a:pPr>
              <a:lnSpc>
                <a:spcPct val="102000"/>
              </a:lnSpc>
              <a:spcAft>
                <a:spcPts val="400"/>
              </a:spcAft>
            </a:pPr>
            <a:r>
              <a:rPr sz="1200" b="0" i="0">
                <a:solidFill>
                  <a:srgbClr val="6B7280"/>
                </a:solidFill>
                <a:latin typeface="Calibri"/>
              </a:rPr>
              <a:t>    –  </a:t>
            </a:r>
            <a:r>
              <a:rPr sz="1200" b="0" i="0">
                <a:solidFill>
                  <a:srgbClr val="374151"/>
                </a:solidFill>
                <a:latin typeface="Calibri"/>
              </a:rPr>
              <a:t>Chaque phase se clôt par une paire de releases de même configuration, et le vert exige les deux bras au-dessus de la porte.</a:t>
            </a:r>
          </a:p>
          <a:p>
            <a:pPr>
              <a:lnSpc>
                <a:spcPct val="102000"/>
              </a:lnSpc>
              <a:spcAft>
                <a:spcPts val="600"/>
              </a:spcAft>
            </a:pPr>
            <a:r>
              <a:rPr sz="1350" b="1" i="0">
                <a:solidFill>
                  <a:srgbClr val="16A34A"/>
                </a:solidFill>
                <a:latin typeface="Calibri"/>
              </a:rPr>
              <a:t>▪  </a:t>
            </a:r>
            <a:r>
              <a:rPr sz="1350" b="1" i="0">
                <a:solidFill>
                  <a:srgbClr val="1F2937"/>
                </a:solidFill>
                <a:latin typeface="Calibri"/>
              </a:rPr>
              <a:t>Les portes sont en nombres entiers</a:t>
            </a:r>
            <a:r>
              <a:rPr sz="1350" b="0" i="0">
                <a:solidFill>
                  <a:srgbClr val="1F2937"/>
                </a:solidFill>
                <a:latin typeface="Calibri"/>
              </a:rPr>
              <a:t> : ⌈0,95 × d⌉ est imprimé (« 384/404, passé à zéro marge, consigné »). Jamais un taux sans son n/d : supprimer 63 phrases ou en corriger 63 donne le même pourcentage.</a:t>
            </a:r>
          </a:p>
          <a:p>
            <a:pPr>
              <a:lnSpc>
                <a:spcPct val="102000"/>
              </a:lnSpc>
              <a:spcAft>
                <a:spcPts val="600"/>
              </a:spcAft>
            </a:pPr>
            <a:r>
              <a:rPr sz="1350" b="1" i="0">
                <a:solidFill>
                  <a:srgbClr val="16A34A"/>
                </a:solidFill>
                <a:latin typeface="Calibri"/>
              </a:rPr>
              <a:t>▪  </a:t>
            </a:r>
            <a:r>
              <a:rPr sz="1350" b="1" i="0">
                <a:solidFill>
                  <a:srgbClr val="1F2937"/>
                </a:solidFill>
                <a:latin typeface="Calibri"/>
              </a:rPr>
              <a:t>Un drapeau ambiant est une variable de mesure</a:t>
            </a:r>
            <a:r>
              <a:rPr sz="1350" b="0" i="0">
                <a:solidFill>
                  <a:srgbClr val="1F2937"/>
                </a:solidFill>
                <a:latin typeface="Calibri"/>
              </a:rPr>
              <a:t> : le reclassement a été découvert basculé après un release. Il est depuis inscrit dans l'empreinte de déploiement, dans le journal et dans chaque enregistrement, puis mesuré par un A/B propre.</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Reproductibilité des évaluations sur API : le non-déterminisme a été mesuré (deux complétions distinctes sur huit, épinglage compris, sans empreinte système). D'où les paires, les bandes de bruit et des verdicts « indéterminé » qui font échouer la commande.</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III · LA QUALITÉ</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Vingt-trois releases — la courbe d'apprentissage</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548640" y="1271016"/>
          <a:ext cx="7772400" cy="4160520"/>
        </p:xfrm>
        <a:graphic>
          <a:graphicData uri="http://schemas.openxmlformats.org/drawingml/2006/chart">
            <c:chart xmlns:c="http://schemas.openxmlformats.org/drawingml/2006/chart" r:id="rId2"/>
          </a:graphicData>
        </a:graphic>
      </p:graphicFrame>
      <p:sp>
        <p:nvSpPr>
          <p:cNvPr id="7" name="Rounded Rectangle 6"/>
          <p:cNvSpPr/>
          <p:nvPr/>
        </p:nvSpPr>
        <p:spPr>
          <a:xfrm>
            <a:off x="8549640" y="1271016"/>
            <a:ext cx="3063240" cy="749808"/>
          </a:xfrm>
          <a:prstGeom prst="roundRect">
            <a:avLst>
              <a:gd name="adj" fmla="val 10000"/>
            </a:avLst>
          </a:prstGeom>
          <a:solidFill>
            <a:srgbClr val="F0FDF4"/>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18288"/>
          <a:lstStyle/>
          <a:p>
            <a:pPr algn="ctr">
              <a:lnSpc>
                <a:spcPct val="95000"/>
              </a:lnSpc>
            </a:pPr>
            <a:r>
              <a:rPr sz="1050" b="1" i="0">
                <a:solidFill>
                  <a:srgbClr val="14532D"/>
                </a:solidFill>
                <a:latin typeface="Calibri"/>
              </a:rPr>
              <a:t>R1 → R23 — </a:t>
            </a:r>
            <a:r>
              <a:rPr sz="950" b="0" i="0">
                <a:solidFill>
                  <a:srgbClr val="1F2937"/>
                </a:solidFill>
                <a:latin typeface="Calibri"/>
              </a:rPr>
              <a:t>de 57,0 % à 97,0 / 97,8 % d'affirmations soutenues, pendant que le gold passe de 66 à 157 cas et que le périmètre se durcit</a:t>
            </a:r>
          </a:p>
        </p:txBody>
      </p:sp>
      <p:sp>
        <p:nvSpPr>
          <p:cNvPr id="8" name="Rounded Rectangle 7"/>
          <p:cNvSpPr/>
          <p:nvPr/>
        </p:nvSpPr>
        <p:spPr>
          <a:xfrm>
            <a:off x="8549640" y="2093976"/>
            <a:ext cx="3063240" cy="749808"/>
          </a:xfrm>
          <a:prstGeom prst="roundRect">
            <a:avLst>
              <a:gd name="adj" fmla="val 10000"/>
            </a:avLst>
          </a:prstGeom>
          <a:solidFill>
            <a:srgbClr val="F0FDF4"/>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18288"/>
          <a:lstStyle/>
          <a:p>
            <a:pPr algn="ctr">
              <a:lnSpc>
                <a:spcPct val="95000"/>
              </a:lnSpc>
            </a:pPr>
            <a:r>
              <a:rPr sz="1050" b="1" i="0">
                <a:solidFill>
                  <a:srgbClr val="14532D"/>
                </a:solidFill>
                <a:latin typeface="Calibri"/>
              </a:rPr>
              <a:t>R13 — </a:t>
            </a:r>
            <a:r>
              <a:rPr sz="950" b="0" i="0">
                <a:solidFill>
                  <a:srgbClr val="1F2937"/>
                </a:solidFill>
                <a:latin typeface="Calibri"/>
              </a:rPr>
              <a:t>sur le fil : le bras 1 est une affirmation sous la porte entière (445 contre 446), le bras 2 exactement dessus (439). Consigné, non certifié</a:t>
            </a:r>
          </a:p>
        </p:txBody>
      </p:sp>
      <p:sp>
        <p:nvSpPr>
          <p:cNvPr id="9" name="Rounded Rectangle 8"/>
          <p:cNvSpPr/>
          <p:nvPr/>
        </p:nvSpPr>
        <p:spPr>
          <a:xfrm>
            <a:off x="8549640" y="2916936"/>
            <a:ext cx="3063240" cy="749808"/>
          </a:xfrm>
          <a:prstGeom prst="roundRect">
            <a:avLst>
              <a:gd name="adj" fmla="val 10000"/>
            </a:avLst>
          </a:prstGeom>
          <a:solidFill>
            <a:srgbClr val="FEE2E2"/>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18288"/>
          <a:lstStyle/>
          <a:p>
            <a:pPr algn="ctr">
              <a:lnSpc>
                <a:spcPct val="95000"/>
              </a:lnSpc>
            </a:pPr>
            <a:r>
              <a:rPr sz="1050" b="1" i="0">
                <a:solidFill>
                  <a:srgbClr val="991B1B"/>
                </a:solidFill>
                <a:latin typeface="Calibri"/>
              </a:rPr>
              <a:t>R14 — </a:t>
            </a:r>
            <a:r>
              <a:rPr sz="950" b="0" i="0">
                <a:solidFill>
                  <a:srgbClr val="1F2937"/>
                </a:solidFill>
                <a:latin typeface="Calibri"/>
              </a:rPr>
              <a:t>porte rouge assumée : les causes sont nommées (divergence transitoire du magasin, comptes d'en-têtes)</a:t>
            </a:r>
          </a:p>
        </p:txBody>
      </p:sp>
      <p:sp>
        <p:nvSpPr>
          <p:cNvPr id="10" name="Rounded Rectangle 9"/>
          <p:cNvSpPr/>
          <p:nvPr/>
        </p:nvSpPr>
        <p:spPr>
          <a:xfrm>
            <a:off x="8549640" y="3739896"/>
            <a:ext cx="3063240" cy="749808"/>
          </a:xfrm>
          <a:prstGeom prst="roundRect">
            <a:avLst>
              <a:gd name="adj" fmla="val 10000"/>
            </a:avLst>
          </a:prstGeom>
          <a:solidFill>
            <a:srgbClr val="DCFCE7"/>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18288"/>
          <a:lstStyle/>
          <a:p>
            <a:pPr algn="ctr">
              <a:lnSpc>
                <a:spcPct val="95000"/>
              </a:lnSpc>
            </a:pPr>
            <a:r>
              <a:rPr sz="1050" b="1" i="0">
                <a:solidFill>
                  <a:srgbClr val="14532D"/>
                </a:solidFill>
                <a:latin typeface="Calibri"/>
              </a:rPr>
              <a:t>R15 — </a:t>
            </a:r>
            <a:r>
              <a:rPr sz="950" b="0" i="0">
                <a:solidFill>
                  <a:srgbClr val="1F2937"/>
                </a:solidFill>
                <a:latin typeface="Calibri"/>
              </a:rPr>
              <a:t>paire verte après la cure du corpus : 95 pages ré-extraites, 87 guéries</a:t>
            </a:r>
          </a:p>
        </p:txBody>
      </p:sp>
      <p:sp>
        <p:nvSpPr>
          <p:cNvPr id="11" name="Rounded Rectangle 10"/>
          <p:cNvSpPr/>
          <p:nvPr/>
        </p:nvSpPr>
        <p:spPr>
          <a:xfrm>
            <a:off x="8549640" y="4562856"/>
            <a:ext cx="3063240" cy="749808"/>
          </a:xfrm>
          <a:prstGeom prst="roundRect">
            <a:avLst>
              <a:gd name="adj" fmla="val 10000"/>
            </a:avLst>
          </a:prstGeom>
          <a:solidFill>
            <a:srgbClr val="F0FDF4"/>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18288"/>
          <a:lstStyle/>
          <a:p>
            <a:pPr algn="ctr">
              <a:lnSpc>
                <a:spcPct val="95000"/>
              </a:lnSpc>
            </a:pPr>
            <a:r>
              <a:rPr sz="1050" b="1" i="0">
                <a:solidFill>
                  <a:srgbClr val="14532D"/>
                </a:solidFill>
                <a:latin typeface="Calibri"/>
              </a:rPr>
              <a:t>R18 · R21 — </a:t>
            </a:r>
            <a:r>
              <a:rPr sz="950" b="0" i="0">
                <a:solidFill>
                  <a:srgbClr val="1F2937"/>
                </a:solidFill>
                <a:latin typeface="Calibri"/>
              </a:rPr>
              <a:t>contre-bras rouges tenant à un seul cas (un listing français paraphrasé, 15 affirmations), d'où la règle de copie ; R19, R20, R22 et R23 sont vertes, avec trois déploiements</a:t>
            </a:r>
          </a:p>
        </p:txBody>
      </p:sp>
      <p:sp>
        <p:nvSpPr>
          <p:cNvPr id="12" name="TextBox 11"/>
          <p:cNvSpPr txBox="1"/>
          <p:nvPr/>
        </p:nvSpPr>
        <p:spPr>
          <a:xfrm>
            <a:off x="548640" y="5449824"/>
            <a:ext cx="7772400" cy="457200"/>
          </a:xfrm>
          <a:prstGeom prst="rect">
            <a:avLst/>
          </a:prstGeom>
          <a:noFill/>
        </p:spPr>
        <p:txBody>
          <a:bodyPr wrap="square">
            <a:spAutoFit/>
          </a:bodyPr>
          <a:lstStyle/>
          <a:p>
            <a:r>
              <a:rPr sz="950" b="0" i="1">
                <a:solidFill>
                  <a:srgbClr val="6B7280"/>
                </a:solidFill>
                <a:latin typeface="Calibri"/>
              </a:rPr>
              <a:t>Chaque point est un enregistrement épinglé (température 0, graine fixe) sous somme de contrôle. Les points isolés sont le second bras des paires de même configuration. Les pourcentages ne sont pas comparables à périmètre constant.</a:t>
            </a:r>
          </a:p>
        </p:txBody>
      </p:sp>
      <p:sp>
        <p:nvSpPr>
          <p:cNvPr id="13" name="TextBox 12"/>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14" name="TextBox 13"/>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III · LA QUALITÉ</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L'audit de couverture et les quinze probes</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840480"/>
          </a:xfrm>
          <a:prstGeom prst="rect">
            <a:avLst/>
          </a:prstGeom>
          <a:noFill/>
        </p:spPr>
        <p:txBody>
          <a:bodyPr wrap="square">
            <a:spAutoFit/>
          </a:bodyPr>
          <a:lstStyle/>
          <a:p>
            <a:pPr>
              <a:lnSpc>
                <a:spcPct val="102000"/>
              </a:lnSpc>
              <a:spcAft>
                <a:spcPts val="600"/>
              </a:spcAft>
            </a:pPr>
            <a:r>
              <a:rPr sz="1400" b="1" i="0">
                <a:solidFill>
                  <a:srgbClr val="16A34A"/>
                </a:solidFill>
                <a:latin typeface="Calibri"/>
              </a:rPr>
              <a:t>▪  </a:t>
            </a:r>
            <a:r>
              <a:rPr sz="1400" b="1" i="0">
                <a:solidFill>
                  <a:srgbClr val="1F2937"/>
                </a:solidFill>
                <a:latin typeface="Calibri"/>
              </a:rPr>
              <a:t>L'audit a pris le rapport pour objet</a:t>
            </a:r>
            <a:r>
              <a:rPr sz="1400" b="0" i="0">
                <a:solidFill>
                  <a:srgbClr val="1F2937"/>
                </a:solidFill>
                <a:latin typeface="Calibri"/>
              </a:rPr>
              <a:t> : le verdict « L1 et L2 couverts » était un argument de capacité, pas une mesure. Les 89 cas ne touchaient que 27 documents sur 273 (9,9 %) et 5 champs sur 19.</a:t>
            </a:r>
          </a:p>
          <a:p>
            <a:pPr>
              <a:lnSpc>
                <a:spcPct val="102000"/>
              </a:lnSpc>
              <a:spcAft>
                <a:spcPts val="400"/>
              </a:spcAft>
            </a:pPr>
            <a:r>
              <a:rPr sz="1250" b="0" i="0">
                <a:solidFill>
                  <a:srgbClr val="6B7280"/>
                </a:solidFill>
                <a:latin typeface="Calibri"/>
              </a:rPr>
              <a:t>    –  </a:t>
            </a:r>
            <a:r>
              <a:rPr sz="1250" b="0" i="0">
                <a:solidFill>
                  <a:srgbClr val="374151"/>
                </a:solidFill>
                <a:latin typeface="Calibri"/>
              </a:rPr>
              <a:t>22 formes de questions non couvertes ont été énumérées, dont trois « fausses autorités » : une note étiquetée fiable, injectée dans un tour qu'elle contredit.</a:t>
            </a:r>
          </a:p>
          <a:p>
            <a:pPr>
              <a:lnSpc>
                <a:spcPct val="102000"/>
              </a:lnSpc>
              <a:spcAft>
                <a:spcPts val="600"/>
              </a:spcAft>
            </a:pPr>
            <a:r>
              <a:rPr sz="1400" b="1" i="0">
                <a:solidFill>
                  <a:srgbClr val="16A34A"/>
                </a:solidFill>
                <a:latin typeface="Calibri"/>
              </a:rPr>
              <a:t>▪  </a:t>
            </a:r>
            <a:r>
              <a:rPr sz="1400" b="1" i="0">
                <a:solidFill>
                  <a:srgbClr val="1F2937"/>
                </a:solidFill>
                <a:latin typeface="Calibri"/>
              </a:rPr>
              <a:t>Quinze sondes adversariales</a:t>
            </a:r>
            <a:r>
              <a:rPr sz="1400" b="0" i="0">
                <a:solidFill>
                  <a:srgbClr val="1F2937"/>
                </a:solidFill>
                <a:latin typeface="Calibri"/>
              </a:rPr>
              <a:t> ont traversé le vrai pipeline, pour environ 0,11 $ : huit réponses honnêtes ou correctes, trois fausses, deux énormément fausses, une à moitié fabriquée (cinq pays cités sur 44) et une note mensongère exposée.</a:t>
            </a:r>
          </a:p>
          <a:p>
            <a:pPr>
              <a:lnSpc>
                <a:spcPct val="102000"/>
              </a:lnSpc>
              <a:spcAft>
                <a:spcPts val="400"/>
              </a:spcAft>
            </a:pPr>
            <a:r>
              <a:rPr sz="1250" b="0" i="0">
                <a:solidFill>
                  <a:srgbClr val="6B7280"/>
                </a:solidFill>
                <a:latin typeface="Calibri"/>
              </a:rPr>
              <a:t>    –  </a:t>
            </a:r>
            <a:r>
              <a:rPr sz="1250" b="0" i="0">
                <a:solidFill>
                  <a:srgbClr val="374151"/>
                </a:solidFill>
                <a:latin typeface="Calibri"/>
              </a:rPr>
              <a:t>F13 : « combien de pays couvre FP151 ? ». Réponse : « cinq », citée et certifiée par le vérificateur. La vérité est 44 : la note tronquait sans le dire.</a:t>
            </a:r>
          </a:p>
          <a:p>
            <a:pPr>
              <a:lnSpc>
                <a:spcPct val="102000"/>
              </a:lnSpc>
              <a:spcAft>
                <a:spcPts val="400"/>
              </a:spcAft>
            </a:pPr>
            <a:r>
              <a:rPr sz="1250" b="0" i="0">
                <a:solidFill>
                  <a:srgbClr val="6B7280"/>
                </a:solidFill>
                <a:latin typeface="Calibri"/>
              </a:rPr>
              <a:t>    –  </a:t>
            </a:r>
            <a:r>
              <a:rPr sz="1250" b="0" i="0">
                <a:solidFill>
                  <a:srgbClr val="374151"/>
                </a:solidFill>
                <a:latin typeface="Calibri"/>
              </a:rPr>
              <a:t>F11 : des sommes annuelles fausses d'un facteur 21 et 35, à cause de chaînes monétaires brutes non normalisées et de l'absence de règle interdisant la sommation.</a:t>
            </a:r>
          </a:p>
          <a:p>
            <a:pPr>
              <a:lnSpc>
                <a:spcPct val="102000"/>
              </a:lnSpc>
              <a:spcAft>
                <a:spcPts val="600"/>
              </a:spcAft>
            </a:pPr>
            <a:r>
              <a:rPr sz="1400" b="1" i="0">
                <a:solidFill>
                  <a:srgbClr val="16A34A"/>
                </a:solidFill>
                <a:latin typeface="Calibri"/>
              </a:rPr>
              <a:t>▪  </a:t>
            </a:r>
            <a:r>
              <a:rPr sz="1400" b="1" i="0">
                <a:solidFill>
                  <a:srgbClr val="1F2937"/>
                </a:solidFill>
                <a:latin typeface="Calibri"/>
              </a:rPr>
              <a:t>Les deux défauts racines étaient invisibles au gold</a:t>
            </a:r>
            <a:r>
              <a:rPr sz="1400" b="0" i="0">
                <a:solidFill>
                  <a:srgbClr val="1F2937"/>
                </a:solidFill>
                <a:latin typeface="Calibri"/>
              </a:rPr>
              <a:t> par construction. Correctifs : la troncature honnête (« 5 sur 44, liste tronquée »), des montants propres et une règle de non-sommation, des index inverses.</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Un gold teste ce que servent ses mécanismes ; les sondes testent ce que demandent les usagers. C'est du red-teaming d'évaluation, et un retour sur la grille L1–L4 de Zhao et al., avec des dénominateurs cette fois.</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III · LA QUALITÉ</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La campagne de couverture — sept phases, un corpus cohérent</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243584"/>
          <a:ext cx="11091670" cy="2926080"/>
        </p:xfrm>
        <a:graphic>
          <a:graphicData uri="http://schemas.openxmlformats.org/drawingml/2006/table">
            <a:tbl>
              <a:tblPr>
                <a:tableStyleId>{5C22544A-7EE6-4342-B048-85BDC9FD1C3A}</a:tableStyleId>
              </a:tblPr>
              <a:tblGrid>
                <a:gridCol w="1611610"/>
                <a:gridCol w="3223220"/>
                <a:gridCol w="6256840"/>
              </a:tblGrid>
              <a:tr h="365760">
                <a:tc>
                  <a:txBody>
                    <a:bodyPr wrap="square"/>
                    <a:lstStyle/>
                    <a:p>
                      <a:pPr>
                        <a:lnSpc>
                          <a:spcPct val="98000"/>
                        </a:lnSpc>
                      </a:pPr>
                      <a:r>
                        <a:rPr sz="1000" b="1" i="0">
                          <a:solidFill>
                            <a:srgbClr val="FFFFFF"/>
                          </a:solidFill>
                          <a:latin typeface="Calibri"/>
                        </a:rPr>
                        <a:t>Phase</a:t>
                      </a:r>
                    </a:p>
                  </a:txBody>
                  <a:tcPr marL="54864" marR="54864" marT="27432" marB="27432" anchor="ctr">
                    <a:solidFill>
                      <a:srgbClr val="166534"/>
                    </a:solidFill>
                  </a:tcPr>
                </a:tc>
                <a:tc>
                  <a:txBody>
                    <a:bodyPr wrap="square"/>
                    <a:lstStyle/>
                    <a:p>
                      <a:pPr algn="l">
                        <a:lnSpc>
                          <a:spcPct val="98000"/>
                        </a:lnSpc>
                      </a:pPr>
                      <a:r>
                        <a:rPr sz="1000" b="1" i="0">
                          <a:solidFill>
                            <a:srgbClr val="FFFFFF"/>
                          </a:solidFill>
                          <a:latin typeface="Calibri"/>
                        </a:rPr>
                        <a:t>Objet</a:t>
                      </a:r>
                    </a:p>
                  </a:txBody>
                  <a:tcPr marL="54864" marR="54864" marT="27432" marB="27432" anchor="ctr">
                    <a:solidFill>
                      <a:srgbClr val="166534"/>
                    </a:solidFill>
                  </a:tcPr>
                </a:tc>
                <a:tc>
                  <a:txBody>
                    <a:bodyPr wrap="square"/>
                    <a:lstStyle/>
                    <a:p>
                      <a:pPr algn="l">
                        <a:lnSpc>
                          <a:spcPct val="98000"/>
                        </a:lnSpc>
                      </a:pPr>
                      <a:r>
                        <a:rPr sz="1000" b="1" i="0">
                          <a:solidFill>
                            <a:srgbClr val="FFFFFF"/>
                          </a:solidFill>
                          <a:latin typeface="Calibri"/>
                        </a:rPr>
                        <a:t>Résultat mesuré</a:t>
                      </a:r>
                    </a:p>
                  </a:txBody>
                  <a:tcPr marL="54864" marR="54864" marT="27432" marB="27432" anchor="ctr">
                    <a:solidFill>
                      <a:srgbClr val="166534"/>
                    </a:solidFill>
                  </a:tcPr>
                </a:tc>
              </a:tr>
              <a:tr h="365760">
                <a:tc>
                  <a:txBody>
                    <a:bodyPr wrap="square"/>
                    <a:lstStyle/>
                    <a:p>
                      <a:pPr>
                        <a:lnSpc>
                          <a:spcPct val="98000"/>
                        </a:lnSpc>
                      </a:pPr>
                      <a:r>
                        <a:rPr sz="1000" b="0" i="0">
                          <a:solidFill>
                            <a:srgbClr val="1F2937"/>
                          </a:solidFill>
                          <a:latin typeface="Calibri"/>
                        </a:rPr>
                        <a:t>1 · Mécanismes L1</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rendre chaque fait stocké interrogeable directement</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1 195 paires (document, champ) servables ; trois champs ajoutés ; des drapeaux d'honnêteté sur l'extraction</a:t>
                      </a:r>
                    </a:p>
                  </a:txBody>
                  <a:tcPr marL="54864" marR="54864" marT="27432" marB="27432" anchor="ctr">
                    <a:solidFill>
                      <a:srgbClr val="FFFFFF"/>
                    </a:solidFill>
                  </a:tcPr>
                </a:tc>
              </a:tr>
              <a:tr h="365760">
                <a:tc>
                  <a:txBody>
                    <a:bodyPr wrap="square"/>
                    <a:lstStyle/>
                    <a:p>
                      <a:pPr>
                        <a:lnSpc>
                          <a:spcPct val="98000"/>
                        </a:lnSpc>
                      </a:pPr>
                      <a:r>
                        <a:rPr sz="1000" b="0" i="0">
                          <a:solidFill>
                            <a:srgbClr val="1F2937"/>
                          </a:solidFill>
                          <a:latin typeface="Calibri"/>
                        </a:rPr>
                        <a:t>2 · Mécanismes L2</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conflits, comparaisons larges, sonde de pages</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les pages de conflit passent de 8 sur 14 à 14 sur 14 grâce à la sonde de pages (18 sur 18 en fixture)</a:t>
                      </a:r>
                    </a:p>
                  </a:txBody>
                  <a:tcPr marL="54864" marR="54864" marT="27432" marB="27432" anchor="ctr">
                    <a:solidFill>
                      <a:srgbClr val="F5F5F4"/>
                    </a:solidFill>
                  </a:tcPr>
                </a:tc>
              </a:tr>
              <a:tr h="365760">
                <a:tc>
                  <a:txBody>
                    <a:bodyPr wrap="square"/>
                    <a:lstStyle/>
                    <a:p>
                      <a:pPr>
                        <a:lnSpc>
                          <a:spcPct val="98000"/>
                        </a:lnSpc>
                      </a:pPr>
                      <a:r>
                        <a:rPr sz="1000" b="0" i="0">
                          <a:solidFill>
                            <a:srgbClr val="1F2937"/>
                          </a:solidFill>
                          <a:latin typeface="Calibri"/>
                        </a:rPr>
                        <a:t>2½ · Index sectionné</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un index par sections, mis à l'épreuve en A/B</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rejeté après A/B de classement (un cas mieux, six pires) ; la capacité d'adressage a été gardée par une autre voie</a:t>
                      </a:r>
                    </a:p>
                  </a:txBody>
                  <a:tcPr marL="54864" marR="54864" marT="27432" marB="27432" anchor="ctr">
                    <a:solidFill>
                      <a:srgbClr val="FFFFFF"/>
                    </a:solidFill>
                  </a:tcPr>
                </a:tc>
              </a:tr>
              <a:tr h="365760">
                <a:tc>
                  <a:txBody>
                    <a:bodyPr wrap="square"/>
                    <a:lstStyle/>
                    <a:p>
                      <a:pPr>
                        <a:lnSpc>
                          <a:spcPct val="98000"/>
                        </a:lnSpc>
                      </a:pPr>
                      <a:r>
                        <a:rPr sz="1000" b="0" i="0">
                          <a:solidFill>
                            <a:srgbClr val="1F2937"/>
                          </a:solidFill>
                          <a:latin typeface="Calibri"/>
                        </a:rPr>
                        <a:t>3 · Données</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couvrir les 273 documents : gabarits et absences</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129 chiffres suspects adjudiqués, 117 corrections ; cure du corpus : 95 pages ré-extraites, 87 guéries</a:t>
                      </a:r>
                    </a:p>
                  </a:txBody>
                  <a:tcPr marL="54864" marR="54864" marT="27432" marB="27432" anchor="ctr">
                    <a:solidFill>
                      <a:srgbClr val="F5F5F4"/>
                    </a:solidFill>
                  </a:tcPr>
                </a:tc>
              </a:tr>
              <a:tr h="365760">
                <a:tc>
                  <a:txBody>
                    <a:bodyPr wrap="square"/>
                    <a:lstStyle/>
                    <a:p>
                      <a:pPr>
                        <a:lnSpc>
                          <a:spcPct val="98000"/>
                        </a:lnSpc>
                      </a:pPr>
                      <a:r>
                        <a:rPr sz="1000" b="0" i="0">
                          <a:solidFill>
                            <a:srgbClr val="1F2937"/>
                          </a:solidFill>
                          <a:latin typeface="Calibri"/>
                        </a:rPr>
                        <a:t>4 · Gold</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faire échantillonner par le gold le corpus revendiqué</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de 66 à 157 cas ; 70 documents sur 273 (25,6 %) ; douze classes de comportement</a:t>
                      </a:r>
                    </a:p>
                  </a:txBody>
                  <a:tcPr marL="54864" marR="54864" marT="27432" marB="27432" anchor="ctr">
                    <a:solidFill>
                      <a:srgbClr val="FFFFFF"/>
                    </a:solidFill>
                  </a:tcPr>
                </a:tc>
              </a:tr>
              <a:tr h="365760">
                <a:tc>
                  <a:txBody>
                    <a:bodyPr wrap="square"/>
                    <a:lstStyle/>
                    <a:p>
                      <a:pPr>
                        <a:lnSpc>
                          <a:spcPct val="98000"/>
                        </a:lnSpc>
                      </a:pPr>
                      <a:r>
                        <a:rPr sz="1000" b="0" i="0">
                          <a:solidFill>
                            <a:srgbClr val="1F2937"/>
                          </a:solidFill>
                          <a:latin typeface="Calibri"/>
                        </a:rPr>
                        <a:t>5 · L3 honnête</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procédures et politiques du GCF</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classe « procédure » à 59 sur 59 ; l'ingestion des politiques attend une décision du propriétaire</a:t>
                      </a:r>
                    </a:p>
                  </a:txBody>
                  <a:tcPr marL="54864" marR="54864" marT="27432" marB="27432" anchor="ctr">
                    <a:solidFill>
                      <a:srgbClr val="F5F5F4"/>
                    </a:solidFill>
                  </a:tcPr>
                </a:tc>
              </a:tr>
              <a:tr h="365760">
                <a:tc>
                  <a:txBody>
                    <a:bodyPr wrap="square"/>
                    <a:lstStyle/>
                    <a:p>
                      <a:pPr>
                        <a:lnSpc>
                          <a:spcPct val="98000"/>
                        </a:lnSpc>
                      </a:pPr>
                      <a:r>
                        <a:rPr sz="1000" b="0" i="0">
                          <a:solidFill>
                            <a:srgbClr val="1F2937"/>
                          </a:solidFill>
                          <a:latin typeface="Calibri"/>
                        </a:rPr>
                        <a:t>6 · Instruments</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faire de tout score inférieur à 1,00 un vrai défaut</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ouvert : les formes d'abstention, l'expression régulière des conflits à deux mots</a:t>
                      </a:r>
                    </a:p>
                  </a:txBody>
                  <a:tcPr marL="54864" marR="54864" marT="27432" marB="27432" anchor="ctr">
                    <a:solidFill>
                      <a:srgbClr val="FFFFFF"/>
                    </a:solidFill>
                  </a:tcPr>
                </a:tc>
              </a:tr>
            </a:tbl>
          </a:graphicData>
        </a:graphic>
      </p:graphicFrame>
      <p:sp>
        <p:nvSpPr>
          <p:cNvPr id="7" name="TextBox 6"/>
          <p:cNvSpPr txBox="1"/>
          <p:nvPr/>
        </p:nvSpPr>
        <p:spPr>
          <a:xfrm>
            <a:off x="548640" y="5349240"/>
            <a:ext cx="11091672" cy="868680"/>
          </a:xfrm>
          <a:prstGeom prst="rect">
            <a:avLst/>
          </a:prstGeom>
          <a:noFill/>
        </p:spPr>
        <p:txBody>
          <a:bodyPr wrap="square">
            <a:spAutoFit/>
          </a:bodyPr>
          <a:lstStyle/>
          <a:p>
            <a:r>
              <a:rPr sz="1150" b="1" i="0">
                <a:solidFill>
                  <a:srgbClr val="1F2937"/>
                </a:solidFill>
                <a:latin typeface="Calibri"/>
              </a:rPr>
              <a:t>Issue.</a:t>
            </a:r>
            <a:r>
              <a:rPr sz="1150" b="0" i="0">
                <a:solidFill>
                  <a:srgbClr val="1F2937"/>
                </a:solidFill>
                <a:latin typeface="Calibri"/>
              </a:rPr>
              <a:t> Le release 14 est rouge sur les deux bras, causes nommées ; la cure du corpus suit, et le release 15 est une paire verte. Désormais, la couche texte des PDF, le corpus servi, le magasin, le gold et la base du scoreur décrivent un seul et même corpus. Vient ensuite la passe « longueur de réponse » (R16 à R19) : la réponse d'abord, le contexte cité ensuite. La médiane des réponses à identifiant passe de 221 à environ 550 caractères, et la paire R19 est verte à 97,4 / 96,5 % (diapositive suivante).</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III · LA QUALITÉ</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Releases 16 à 23 — quatre paires vertes, trois déploiements</a:t>
            </a:r>
          </a:p>
        </p:txBody>
      </p:sp>
      <p:sp>
        <p:nvSpPr>
          <p:cNvPr id="5" name="Rectangle 4"/>
          <p:cNvSpPr/>
          <p:nvPr/>
        </p:nvSpPr>
        <p:spPr>
          <a:xfrm>
            <a:off x="548640" y="1042415"/>
            <a:ext cx="1463040" cy="3657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7" name="PageNumber"/>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32</a:t>
            </a:r>
          </a:p>
        </p:txBody>
      </p:sp>
      <p:graphicFrame>
        <p:nvGraphicFramePr>
          <p:cNvPr id="8" name="Table 7"/>
          <p:cNvGraphicFramePr>
            <a:graphicFrameLocks noGrp="1"/>
          </p:cNvGraphicFramePr>
          <p:nvPr/>
        </p:nvGraphicFramePr>
        <p:xfrm>
          <a:off x="548640" y="1243584"/>
          <a:ext cx="11091672" cy="1828800"/>
        </p:xfrm>
        <a:graphic>
          <a:graphicData uri="http://schemas.openxmlformats.org/drawingml/2006/table">
            <a:tbl>
              <a:tblPr>
                <a:tableStyleId>{5C22544A-7EE6-4342-B048-85BDC9FD1C3A}</a:tableStyleId>
              </a:tblPr>
              <a:tblGrid>
                <a:gridCol w="1417320"/>
                <a:gridCol w="868680"/>
                <a:gridCol w="5742432"/>
                <a:gridCol w="1600200"/>
                <a:gridCol w="1463040"/>
              </a:tblGrid>
              <a:tr h="365760">
                <a:tc>
                  <a:txBody>
                    <a:bodyPr wrap="square"/>
                    <a:lstStyle/>
                    <a:p>
                      <a:pPr algn="l">
                        <a:lnSpc>
                          <a:spcPct val="98000"/>
                        </a:lnSpc>
                      </a:pPr>
                      <a:r>
                        <a:rPr sz="1050" b="1" i="0">
                          <a:solidFill>
                            <a:srgbClr val="FFFFFF"/>
                          </a:solidFill>
                          <a:latin typeface="Calibri"/>
                        </a:rPr>
                        <a:t>Passe</a:t>
                      </a:r>
                    </a:p>
                  </a:txBody>
                  <a:tcPr marL="54864" marR="54864" marT="27432" marB="27432" anchor="ctr">
                    <a:solidFill>
                      <a:srgbClr val="166534"/>
                    </a:solidFill>
                  </a:tcPr>
                </a:tc>
                <a:tc>
                  <a:txBody>
                    <a:bodyPr wrap="square"/>
                    <a:lstStyle/>
                    <a:p>
                      <a:pPr algn="l">
                        <a:lnSpc>
                          <a:spcPct val="98000"/>
                        </a:lnSpc>
                      </a:pPr>
                      <a:r>
                        <a:rPr sz="1050" b="1" i="0">
                          <a:solidFill>
                            <a:srgbClr val="FFFFFF"/>
                          </a:solidFill>
                          <a:latin typeface="Calibri"/>
                        </a:rPr>
                        <a:t>Releases</a:t>
                      </a:r>
                    </a:p>
                  </a:txBody>
                  <a:tcPr marL="54864" marR="54864" marT="27432" marB="27432" anchor="ctr">
                    <a:solidFill>
                      <a:srgbClr val="166534"/>
                    </a:solidFill>
                  </a:tcPr>
                </a:tc>
                <a:tc>
                  <a:txBody>
                    <a:bodyPr wrap="square"/>
                    <a:lstStyle/>
                    <a:p>
                      <a:pPr algn="l">
                        <a:lnSpc>
                          <a:spcPct val="98000"/>
                        </a:lnSpc>
                      </a:pPr>
                      <a:r>
                        <a:rPr sz="1050" b="1" i="0">
                          <a:solidFill>
                            <a:srgbClr val="FFFFFF"/>
                          </a:solidFill>
                          <a:latin typeface="Calibri"/>
                        </a:rPr>
                        <a:t>Ce qui a changé (mesuré, puis certifié)</a:t>
                      </a:r>
                    </a:p>
                  </a:txBody>
                  <a:tcPr marL="54864" marR="54864" marT="27432" marB="27432" anchor="ctr">
                    <a:solidFill>
                      <a:srgbClr val="166534"/>
                    </a:solidFill>
                  </a:tcPr>
                </a:tc>
                <a:tc>
                  <a:txBody>
                    <a:bodyPr wrap="square"/>
                    <a:lstStyle/>
                    <a:p>
                      <a:pPr algn="l">
                        <a:lnSpc>
                          <a:spcPct val="98000"/>
                        </a:lnSpc>
                      </a:pPr>
                      <a:r>
                        <a:rPr sz="1050" b="1" i="0">
                          <a:solidFill>
                            <a:srgbClr val="FFFFFF"/>
                          </a:solidFill>
                          <a:latin typeface="Calibri"/>
                        </a:rPr>
                        <a:t>Paire certifiée</a:t>
                      </a:r>
                    </a:p>
                  </a:txBody>
                  <a:tcPr marL="54864" marR="54864" marT="27432" marB="27432" anchor="ctr">
                    <a:solidFill>
                      <a:srgbClr val="166534"/>
                    </a:solidFill>
                  </a:tcPr>
                </a:tc>
                <a:tc>
                  <a:txBody>
                    <a:bodyPr wrap="square"/>
                    <a:lstStyle/>
                    <a:p>
                      <a:pPr algn="l">
                        <a:lnSpc>
                          <a:spcPct val="98000"/>
                        </a:lnSpc>
                      </a:pPr>
                      <a:r>
                        <a:rPr sz="1050" b="1" i="0">
                          <a:solidFill>
                            <a:srgbClr val="FFFFFF"/>
                          </a:solidFill>
                          <a:latin typeface="Calibri"/>
                        </a:rPr>
                        <a:t>Déployé</a:t>
                      </a:r>
                    </a:p>
                  </a:txBody>
                  <a:tcPr marL="54864" marR="54864" marT="27432" marB="27432" anchor="ctr">
                    <a:solidFill>
                      <a:srgbClr val="166534"/>
                    </a:solidFill>
                  </a:tcPr>
                </a:tc>
              </a:tr>
              <a:tr h="365760">
                <a:tc>
                  <a:txBody>
                    <a:bodyPr wrap="square"/>
                    <a:lstStyle/>
                    <a:p>
                      <a:pPr algn="l">
                        <a:lnSpc>
                          <a:spcPct val="98000"/>
                        </a:lnSpc>
                      </a:pPr>
                      <a:r>
                        <a:rPr sz="1000" b="0" i="0">
                          <a:solidFill>
                            <a:srgbClr val="1F2937"/>
                          </a:solidFill>
                          <a:latin typeface="Calibri"/>
                        </a:rPr>
                        <a:t>Longueur de réponse</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16 → 19</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Les réponses en production se lisaient nues : la discipline de citation avait appris la concision au modèle. Le bloc de contexte répond d'abord au fait demandé, puis ajoute deux ou trois phrases citées ; les montants non demandés sont exclus et les titres sont coupés en fin de mot. La médiane des réponses à identifiant passe de 221 à environ 550 caractères.</a:t>
                      </a:r>
                    </a:p>
                  </a:txBody>
                  <a:tcPr marL="54864" marR="54864" marT="27432" marB="27432" anchor="ctr">
                    <a:solidFill>
                      <a:srgbClr val="FFFFFF"/>
                    </a:solidFill>
                  </a:tcPr>
                </a:tc>
                <a:tc>
                  <a:txBody>
                    <a:bodyPr wrap="square"/>
                    <a:lstStyle/>
                    <a:p>
                      <a:pPr algn="l">
                        <a:lnSpc>
                          <a:spcPct val="98000"/>
                        </a:lnSpc>
                      </a:pPr>
                      <a:r>
                        <a:rPr sz="1000" b="0" i="0">
                          <a:solidFill>
                            <a:srgbClr val="14532D"/>
                          </a:solidFill>
                          <a:latin typeface="Calibri"/>
                        </a:rPr>
                        <a:t>R19 : 97,4 / 96,5 %</a:t>
                      </a:r>
                    </a:p>
                  </a:txBody>
                  <a:tcPr marL="54864" marR="54864" marT="27432" marB="27432" anchor="ctr">
                    <a:solidFill>
                      <a:srgbClr val="DCFCE7"/>
                    </a:solidFill>
                  </a:tcPr>
                </a:tc>
                <a:tc>
                  <a:txBody>
                    <a:bodyPr wrap="square"/>
                    <a:lstStyle/>
                    <a:p>
                      <a:pPr algn="l">
                        <a:lnSpc>
                          <a:spcPct val="98000"/>
                        </a:lnSpc>
                      </a:pPr>
                      <a:r>
                        <a:rPr sz="1000" b="0" i="0">
                          <a:solidFill>
                            <a:srgbClr val="1F2937"/>
                          </a:solidFill>
                          <a:latin typeface="Calibri"/>
                        </a:rPr>
                        <a:t>7ad53d2 · 28 août</a:t>
                      </a:r>
                    </a:p>
                  </a:txBody>
                  <a:tcPr marL="54864" marR="54864" marT="27432" marB="27432" anchor="ctr">
                    <a:solidFill>
                      <a:srgbClr val="FFFFFF"/>
                    </a:solidFill>
                  </a:tcPr>
                </a:tc>
              </a:tr>
              <a:tr h="365760">
                <a:tc>
                  <a:txBody>
                    <a:bodyPr wrap="square"/>
                    <a:lstStyle/>
                    <a:p>
                      <a:pPr algn="l">
                        <a:lnSpc>
                          <a:spcPct val="98000"/>
                        </a:lnSpc>
                      </a:pPr>
                      <a:r>
                        <a:rPr sz="1000" b="0" i="0">
                          <a:solidFill>
                            <a:srgbClr val="1F2937"/>
                          </a:solidFill>
                          <a:latin typeface="Calibri"/>
                        </a:rPr>
                        <a:t>Sonde de section</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20 → 22</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 Section C.2 de FP126 » : l'identifiant imprimé trouve les pages, puis les pages sont servies entières, en deux étapes, parce qu'un corps de table peut se classer sous un en-tête promu par le modèle. Le taux de pages passe de 0,0 à 1,0.</a:t>
                      </a:r>
                    </a:p>
                  </a:txBody>
                  <a:tcPr marL="54864" marR="54864" marT="27432" marB="27432" anchor="ctr">
                    <a:solidFill>
                      <a:srgbClr val="F5F5F4"/>
                    </a:solidFill>
                  </a:tcPr>
                </a:tc>
                <a:tc>
                  <a:txBody>
                    <a:bodyPr wrap="square"/>
                    <a:lstStyle/>
                    <a:p>
                      <a:pPr algn="l">
                        <a:lnSpc>
                          <a:spcPct val="98000"/>
                        </a:lnSpc>
                      </a:pPr>
                      <a:r>
                        <a:rPr sz="1000" b="0" i="0">
                          <a:solidFill>
                            <a:srgbClr val="14532D"/>
                          </a:solidFill>
                          <a:latin typeface="Calibri"/>
                        </a:rPr>
                        <a:t>R20 : 97,0 / 95,5 % puis R22 : 97,5 / 95,8 %</a:t>
                      </a:r>
                    </a:p>
                  </a:txBody>
                  <a:tcPr marL="54864" marR="54864" marT="27432" marB="27432" anchor="ctr">
                    <a:solidFill>
                      <a:srgbClr val="DCFCE7"/>
                    </a:solidFill>
                  </a:tcPr>
                </a:tc>
                <a:tc>
                  <a:txBody>
                    <a:bodyPr wrap="square"/>
                    <a:lstStyle/>
                    <a:p>
                      <a:pPr algn="l">
                        <a:lnSpc>
                          <a:spcPct val="98000"/>
                        </a:lnSpc>
                      </a:pPr>
                      <a:r>
                        <a:rPr sz="1000" b="0" i="0">
                          <a:solidFill>
                            <a:srgbClr val="1F2937"/>
                          </a:solidFill>
                          <a:latin typeface="Calibri"/>
                        </a:rPr>
                        <a:t>4fde815 · 31 août</a:t>
                      </a:r>
                    </a:p>
                  </a:txBody>
                  <a:tcPr marL="54864" marR="54864" marT="27432" marB="27432" anchor="ctr">
                    <a:solidFill>
                      <a:srgbClr val="F5F5F4"/>
                    </a:solidFill>
                  </a:tcPr>
                </a:tc>
              </a:tr>
              <a:tr h="365760">
                <a:tc>
                  <a:txBody>
                    <a:bodyPr wrap="square"/>
                    <a:lstStyle/>
                    <a:p>
                      <a:pPr algn="l">
                        <a:lnSpc>
                          <a:spcPct val="98000"/>
                        </a:lnSpc>
                      </a:pPr>
                      <a:r>
                        <a:rPr sz="1000" b="0" i="0">
                          <a:solidFill>
                            <a:srgbClr val="1F2937"/>
                          </a:solidFill>
                          <a:latin typeface="Calibri"/>
                        </a:rPr>
                        <a:t>Règle de copie</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22</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Sur les listes inverses, copier les lignes telles qu'imprimées, ne rien traduire, nommer une seule fois l'entité partagée. La règle est née de deux habitudes de paraphrase distinctes sur le même cas français (R18 et R21 rouges, 15 affirmations chacun).</a:t>
                      </a:r>
                    </a:p>
                  </a:txBody>
                  <a:tcPr marL="54864" marR="54864" marT="27432" marB="27432" anchor="ctr">
                    <a:solidFill>
                      <a:srgbClr val="FFFFFF"/>
                    </a:solidFill>
                  </a:tcPr>
                </a:tc>
                <a:tc>
                  <a:txBody>
                    <a:bodyPr wrap="square"/>
                    <a:lstStyle/>
                    <a:p>
                      <a:pPr algn="l">
                        <a:lnSpc>
                          <a:spcPct val="98000"/>
                        </a:lnSpc>
                      </a:pPr>
                      <a:r>
                        <a:rPr sz="1000" b="0" i="0">
                          <a:solidFill>
                            <a:srgbClr val="14532D"/>
                          </a:solidFill>
                          <a:latin typeface="Calibri"/>
                        </a:rPr>
                        <a:t>(R22)</a:t>
                      </a:r>
                    </a:p>
                  </a:txBody>
                  <a:tcPr marL="54864" marR="54864" marT="27432" marB="27432" anchor="ctr">
                    <a:solidFill>
                      <a:srgbClr val="DCFCE7"/>
                    </a:solidFill>
                  </a:tcPr>
                </a:tc>
                <a:tc>
                  <a:txBody>
                    <a:bodyPr wrap="square"/>
                    <a:lstStyle/>
                    <a:p>
                      <a:pPr algn="l">
                        <a:lnSpc>
                          <a:spcPct val="98000"/>
                        </a:lnSpc>
                      </a:pPr>
                      <a:r>
                        <a:rPr sz="1000" b="0" i="0">
                          <a:solidFill>
                            <a:srgbClr val="1F2937"/>
                          </a:solidFill>
                          <a:latin typeface="Calibri"/>
                        </a:rPr>
                        <a:t>(4fde815)</a:t>
                      </a:r>
                    </a:p>
                  </a:txBody>
                  <a:tcPr marL="54864" marR="54864" marT="27432" marB="27432" anchor="ctr">
                    <a:solidFill>
                      <a:srgbClr val="FFFFFF"/>
                    </a:solidFill>
                  </a:tcPr>
                </a:tc>
              </a:tr>
              <a:tr h="365760">
                <a:tc>
                  <a:txBody>
                    <a:bodyPr wrap="square"/>
                    <a:lstStyle/>
                    <a:p>
                      <a:pPr algn="l">
                        <a:lnSpc>
                          <a:spcPct val="98000"/>
                        </a:lnSpc>
                      </a:pPr>
                      <a:r>
                        <a:rPr sz="1000" b="0" i="0">
                          <a:solidFill>
                            <a:srgbClr val="1F2937"/>
                          </a:solidFill>
                          <a:latin typeface="Calibri"/>
                        </a:rPr>
                        <a:t>Clôture L2</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23</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Le compte d'en-tête des listes (« 41 propositions ») cite désormais la note, un crochet sans document qui se résout vers elle. Le défaut était ouvert depuis R14 ; la classe « agrégat » passe de 91,5 % à 95,2 %.</a:t>
                      </a:r>
                    </a:p>
                  </a:txBody>
                  <a:tcPr marL="54864" marR="54864" marT="27432" marB="27432" anchor="ctr">
                    <a:solidFill>
                      <a:srgbClr val="F5F5F4"/>
                    </a:solidFill>
                  </a:tcPr>
                </a:tc>
                <a:tc>
                  <a:txBody>
                    <a:bodyPr wrap="square"/>
                    <a:lstStyle/>
                    <a:p>
                      <a:pPr algn="l">
                        <a:lnSpc>
                          <a:spcPct val="98000"/>
                        </a:lnSpc>
                      </a:pPr>
                      <a:r>
                        <a:rPr sz="1000" b="0" i="0">
                          <a:solidFill>
                            <a:srgbClr val="14532D"/>
                          </a:solidFill>
                          <a:latin typeface="Calibri"/>
                        </a:rPr>
                        <a:t>R23 : 97,0 / 97,8 %</a:t>
                      </a:r>
                    </a:p>
                  </a:txBody>
                  <a:tcPr marL="54864" marR="54864" marT="27432" marB="27432" anchor="ctr">
                    <a:solidFill>
                      <a:srgbClr val="DCFCE7"/>
                    </a:solidFill>
                  </a:tcPr>
                </a:tc>
                <a:tc>
                  <a:txBody>
                    <a:bodyPr wrap="square"/>
                    <a:lstStyle/>
                    <a:p>
                      <a:pPr algn="l">
                        <a:lnSpc>
                          <a:spcPct val="98000"/>
                        </a:lnSpc>
                      </a:pPr>
                      <a:r>
                        <a:rPr sz="1000" b="0" i="0">
                          <a:solidFill>
                            <a:srgbClr val="1F2937"/>
                          </a:solidFill>
                          <a:latin typeface="Calibri"/>
                        </a:rPr>
                        <a:t>29d55ce · 4 sept.</a:t>
                      </a:r>
                    </a:p>
                  </a:txBody>
                  <a:tcPr marL="54864" marR="54864" marT="27432" marB="27432" anchor="ctr">
                    <a:solidFill>
                      <a:srgbClr val="F5F5F4"/>
                    </a:solidFill>
                  </a:tcPr>
                </a:tc>
              </a:tr>
            </a:tbl>
          </a:graphicData>
        </a:graphic>
      </p:graphicFrame>
      <p:sp>
        <p:nvSpPr>
          <p:cNvPr id="9" name="TextBox 8"/>
          <p:cNvSpPr txBox="1"/>
          <p:nvPr/>
        </p:nvSpPr>
        <p:spPr>
          <a:xfrm>
            <a:off x="548640" y="4526280"/>
            <a:ext cx="11091672" cy="868680"/>
          </a:xfrm>
          <a:prstGeom prst="rect">
            <a:avLst/>
          </a:prstGeom>
          <a:noFill/>
        </p:spPr>
        <p:txBody>
          <a:bodyPr wrap="square">
            <a:spAutoFit/>
          </a:bodyPr>
          <a:lstStyle/>
          <a:p>
            <a:r>
              <a:rPr sz="1150" b="1" i="0">
                <a:solidFill>
                  <a:srgbClr val="1F2937"/>
                </a:solidFill>
                <a:latin typeface="Calibri"/>
              </a:rPr>
              <a:t>Leçon de métrologie.</a:t>
            </a:r>
            <a:r>
              <a:rPr sz="1150" b="0" i="0">
                <a:solidFill>
                  <a:srgbClr val="1F2937"/>
                </a:solidFill>
                <a:latin typeface="Calibri"/>
              </a:rPr>
              <a:t> Un changement de prompt perturbe tous les tours à note de registre en même temps. Un bras rouge se décompose cas par cas avant d'accuser la fonctionnalité : dans R18 et R21, un seul cas portait les quinze affirmations non soutenues. Cinq paires en quatre semaines, quatre vertes, chaque déploiement adossé à sa paire et consigné au journal.</a:t>
            </a:r>
          </a:p>
        </p:txBody>
      </p:sp>
      <p:sp>
        <p:nvSpPr>
          <p:cNvPr id="10" name="Rounded Rectangle 9"/>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64008" bIns="64008"/>
          <a:lstStyle/>
          <a:p>
            <a:pPr algn="ctr">
              <a:lnSpc>
                <a:spcPct val="100000"/>
              </a:lnSpc>
            </a:pPr>
            <a:r>
              <a:rPr sz="1050" b="1" i="0">
                <a:solidFill>
                  <a:srgbClr val="0C4A6E"/>
                </a:solidFill>
                <a:latin typeface="Calibri"/>
              </a:rPr>
              <a:t>LITTÉRATURE — </a:t>
            </a:r>
            <a:r>
              <a:rPr sz="1050" b="0" i="0">
                <a:solidFill>
                  <a:srgbClr val="0C4A6E"/>
                </a:solidFill>
                <a:latin typeface="Calibri"/>
              </a:rPr>
              <a:t>Goodhart à l'envers : la discipline de citation de la campagne avait enseigné la concision au modèle. La cure est mesurée sur la même porte de support, jamais sur une métrique nouvelle taillée pour elle (Huang et al. 2024 ; protocole des paires, annexe 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51560"/>
            <a:ext cx="2377440" cy="1463040"/>
          </a:xfrm>
          <a:prstGeom prst="rect">
            <a:avLst/>
          </a:prstGeom>
          <a:noFill/>
        </p:spPr>
        <p:txBody>
          <a:bodyPr wrap="square">
            <a:spAutoFit/>
          </a:bodyPr>
          <a:lstStyle/>
          <a:p>
            <a:r>
              <a:rPr sz="8800" b="1" i="0">
                <a:solidFill>
                  <a:srgbClr val="16A34A"/>
                </a:solidFill>
                <a:latin typeface="Calibri"/>
              </a:rPr>
              <a:t>IV</a:t>
            </a:r>
          </a:p>
        </p:txBody>
      </p:sp>
      <p:sp>
        <p:nvSpPr>
          <p:cNvPr id="4" name="TextBox 3"/>
          <p:cNvSpPr txBox="1"/>
          <p:nvPr/>
        </p:nvSpPr>
        <p:spPr>
          <a:xfrm>
            <a:off x="548640" y="2606040"/>
            <a:ext cx="10515600" cy="914400"/>
          </a:xfrm>
          <a:prstGeom prst="rect">
            <a:avLst/>
          </a:prstGeom>
          <a:noFill/>
        </p:spPr>
        <p:txBody>
          <a:bodyPr wrap="square">
            <a:spAutoFit/>
          </a:bodyPr>
          <a:lstStyle/>
          <a:p>
            <a:r>
              <a:rPr sz="3400" b="1" i="0">
                <a:solidFill>
                  <a:srgbClr val="FFFFFF"/>
                </a:solidFill>
                <a:latin typeface="Calibri"/>
              </a:rPr>
              <a:t>Exploitation, bilan et perspectives</a:t>
            </a:r>
          </a:p>
        </p:txBody>
      </p:sp>
      <p:sp>
        <p:nvSpPr>
          <p:cNvPr id="5" name="Rectangle 4"/>
          <p:cNvSpPr/>
          <p:nvPr/>
        </p:nvSpPr>
        <p:spPr>
          <a:xfrm>
            <a:off x="548640" y="3429000"/>
            <a:ext cx="2011680" cy="381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794760"/>
            <a:ext cx="10515600" cy="2194560"/>
          </a:xfrm>
          <a:prstGeom prst="rect">
            <a:avLst/>
          </a:prstGeom>
          <a:noFill/>
        </p:spPr>
        <p:txBody>
          <a:bodyPr wrap="square">
            <a:spAutoFit/>
          </a:bodyPr>
          <a:lstStyle/>
          <a:p>
            <a:pPr>
              <a:spcAft>
                <a:spcPts val="800"/>
              </a:spcAft>
            </a:pPr>
            <a:r>
              <a:rPr sz="1500" b="1" i="0">
                <a:solidFill>
                  <a:srgbClr val="16A34A"/>
                </a:solidFill>
                <a:latin typeface="Calibri"/>
              </a:rPr>
              <a:t>—  </a:t>
            </a:r>
            <a:r>
              <a:rPr sz="1500" b="0" i="0">
                <a:solidFill>
                  <a:srgbClr val="D1FAE5"/>
                </a:solidFill>
                <a:latin typeface="Calibri"/>
              </a:rPr>
              <a:t>Interface, authentification, déploiement et rollback outillés</a:t>
            </a:r>
          </a:p>
          <a:p>
            <a:pPr>
              <a:spcAft>
                <a:spcPts val="800"/>
              </a:spcAft>
            </a:pPr>
            <a:r>
              <a:rPr sz="1500" b="1" i="0">
                <a:solidFill>
                  <a:srgbClr val="16A34A"/>
                </a:solidFill>
                <a:latin typeface="Calibri"/>
              </a:rPr>
              <a:t>—  </a:t>
            </a:r>
            <a:r>
              <a:rPr sz="1500" b="0" i="0">
                <a:solidFill>
                  <a:srgbClr val="D1FAE5"/>
                </a:solidFill>
                <a:latin typeface="Calibri"/>
              </a:rPr>
              <a:t>La discipline d'ingénierie : re-architecture, tests, incidents assumés</a:t>
            </a:r>
          </a:p>
          <a:p>
            <a:pPr>
              <a:spcAft>
                <a:spcPts val="800"/>
              </a:spcAft>
            </a:pPr>
            <a:r>
              <a:rPr sz="1500" b="1" i="0">
                <a:solidFill>
                  <a:srgbClr val="16A34A"/>
                </a:solidFill>
                <a:latin typeface="Calibri"/>
              </a:rPr>
              <a:t>—  </a:t>
            </a:r>
            <a:r>
              <a:rPr sz="1500" b="0" i="0">
                <a:solidFill>
                  <a:srgbClr val="D1FAE5"/>
                </a:solidFill>
                <a:latin typeface="Calibri"/>
              </a:rPr>
              <a:t>Synthèse des intersections avec la littérature — et les choix négatifs éclairés</a:t>
            </a:r>
          </a:p>
          <a:p>
            <a:pPr>
              <a:spcAft>
                <a:spcPts val="800"/>
              </a:spcAft>
            </a:pPr>
            <a:r>
              <a:rPr sz="1500" b="1" i="0">
                <a:solidFill>
                  <a:srgbClr val="16A34A"/>
                </a:solidFill>
                <a:latin typeface="Calibri"/>
              </a:rPr>
              <a:t>—  Limites connues, travaux futurs, portabilité à d'autres corpus sectoriels</a:t>
            </a:r>
            <a:r>
              <a:rPr sz="1500" b="0" i="0">
                <a:solidFill>
                  <a:srgbClr val="D1FAE5"/>
                </a:solidFill>
                <a:latin typeface="Calibri"/>
              </a:rPr>
              <a:t/>
            </a:r>
          </a:p>
        </p:txBody>
      </p:sp>
      <p:sp>
        <p:nvSpPr>
          <p:cNvPr id="7" name="TextBox 6"/>
          <p:cNvSpPr txBox="1"/>
          <p:nvPr/>
        </p:nvSpPr>
        <p:spPr>
          <a:xfrm>
            <a:off x="548640" y="6510528"/>
            <a:ext cx="7315200" cy="274320"/>
          </a:xfrm>
          <a:prstGeom prst="rect">
            <a:avLst/>
          </a:prstGeom>
          <a:noFill/>
        </p:spPr>
        <p:txBody>
          <a:bodyPr wrap="square">
            <a:spAutoFit/>
          </a:bodyPr>
          <a:lstStyle/>
          <a:p>
            <a:r>
              <a:rPr sz="900" b="0" i="0">
                <a:solidFill>
                  <a:srgbClr val="A7C4AF"/>
                </a:solidFill>
                <a:latin typeface="Calibri"/>
              </a:rPr>
              <a:t>Synthèse assistée par RAG · approche hybride · documents sectoriels GCF</a:t>
            </a:r>
          </a:p>
        </p:txBody>
      </p:sp>
      <p:sp>
        <p:nvSpPr>
          <p:cNvPr id="8" name="TextBox 7"/>
          <p:cNvSpPr txBox="1"/>
          <p:nvPr/>
        </p:nvSpPr>
        <p:spPr>
          <a:xfrm>
            <a:off x="11292840" y="6510528"/>
            <a:ext cx="640080" cy="274320"/>
          </a:xfrm>
          <a:prstGeom prst="rect">
            <a:avLst/>
          </a:prstGeom>
          <a:noFill/>
        </p:spPr>
        <p:txBody>
          <a:bodyPr wrap="square">
            <a:spAutoFit/>
          </a:bodyPr>
          <a:lstStyle/>
          <a:p>
            <a:pPr algn="r"/>
            <a:r>
              <a:rPr sz="900" b="0" i="0">
                <a:solidFill>
                  <a:srgbClr val="A7C4AF"/>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IV · EXPLOITATION</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Interface et déploiement</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886200"/>
          </a:xfrm>
          <a:prstGeom prst="rect">
            <a:avLst/>
          </a:prstGeom>
          <a:noFill/>
        </p:spPr>
        <p:txBody>
          <a:bodyPr wrap="square">
            <a:spAutoFit/>
          </a:bodyPr>
          <a:lstStyle/>
          <a:p>
            <a:pPr>
              <a:lnSpc>
                <a:spcPct val="102000"/>
              </a:lnSpc>
              <a:spcAft>
                <a:spcPts val="600"/>
              </a:spcAft>
            </a:pPr>
            <a:r>
              <a:rPr sz="1350" b="1" i="0">
                <a:solidFill>
                  <a:srgbClr val="16A34A"/>
                </a:solidFill>
                <a:latin typeface="Calibri"/>
              </a:rPr>
              <a:t>▪  </a:t>
            </a:r>
            <a:r>
              <a:rPr sz="1350" b="1" i="0">
                <a:solidFill>
                  <a:srgbClr val="1F2937"/>
                </a:solidFill>
                <a:latin typeface="Calibri"/>
              </a:rPr>
              <a:t>L'interface Chainlit</a:t>
            </a:r>
            <a:r>
              <a:rPr sz="1350" b="0" i="0">
                <a:solidFill>
                  <a:srgbClr val="1F2937"/>
                </a:solidFill>
                <a:latin typeface="Calibri"/>
              </a:rPr>
              <a:t>, « SSA CHATBOT » : des fils de conversation persistants (SQLite), une inscription libre avec mots de passe scrypt, une page d'inscription dédiée sous politique de sécurité stricte, dix-neuf traductions.</a:t>
            </a:r>
          </a:p>
          <a:p>
            <a:pPr>
              <a:lnSpc>
                <a:spcPct val="102000"/>
              </a:lnSpc>
              <a:spcAft>
                <a:spcPts val="400"/>
              </a:spcAft>
            </a:pPr>
            <a:r>
              <a:rPr sz="1200" b="0" i="0">
                <a:solidFill>
                  <a:srgbClr val="6B7280"/>
                </a:solidFill>
                <a:latin typeface="Calibri"/>
              </a:rPr>
              <a:t>    –  </a:t>
            </a:r>
            <a:r>
              <a:rPr sz="1200" b="0" i="0">
                <a:solidFill>
                  <a:srgbClr val="374151"/>
                </a:solidFill>
                <a:latin typeface="Calibri"/>
              </a:rPr>
              <a:t>Chaque réponse offre des citations cliquables, une ligne de sources (pages citées d'abord) et jusqu'à trois pages preuves surlignées.</a:t>
            </a:r>
          </a:p>
          <a:p>
            <a:pPr>
              <a:lnSpc>
                <a:spcPct val="102000"/>
              </a:lnSpc>
              <a:spcAft>
                <a:spcPts val="600"/>
              </a:spcAft>
            </a:pPr>
            <a:r>
              <a:rPr sz="1350" b="1" i="0">
                <a:solidFill>
                  <a:srgbClr val="16A34A"/>
                </a:solidFill>
                <a:latin typeface="Calibri"/>
              </a:rPr>
              <a:t>▪  </a:t>
            </a:r>
            <a:r>
              <a:rPr sz="1350" b="1" i="0">
                <a:solidFill>
                  <a:srgbClr val="1F2937"/>
                </a:solidFill>
                <a:latin typeface="Calibri"/>
              </a:rPr>
              <a:t>La conteneurisation</a:t>
            </a:r>
            <a:r>
              <a:rPr sz="1350" b="0" i="0">
                <a:solidFill>
                  <a:srgbClr val="1F2937"/>
                </a:solidFill>
                <a:latin typeface="Calibri"/>
              </a:rPr>
              <a:t> : un Dockerfile en deux étages (torch pour CPU seulement, environ 2 Go économisés), un utilisateur non root, tini et un contrôle de santé ; le reverse-proxy Caddy est configuré par étiquettes. Production : https://fp-gcf.ssa.tg.</a:t>
            </a:r>
          </a:p>
          <a:p>
            <a:pPr>
              <a:lnSpc>
                <a:spcPct val="102000"/>
              </a:lnSpc>
              <a:spcAft>
                <a:spcPts val="600"/>
              </a:spcAft>
            </a:pPr>
            <a:r>
              <a:rPr sz="1350" b="1" i="0">
                <a:solidFill>
                  <a:srgbClr val="16A34A"/>
                </a:solidFill>
                <a:latin typeface="Calibri"/>
              </a:rPr>
              <a:t>▪  </a:t>
            </a:r>
            <a:r>
              <a:rPr sz="1350" b="1" i="0">
                <a:solidFill>
                  <a:srgbClr val="1F2937"/>
                </a:solidFill>
                <a:latin typeface="Calibri"/>
              </a:rPr>
              <a:t>Les images sont étiquetées par SHA git</a:t>
            </a:r>
            <a:r>
              <a:rPr sz="1350" b="0" i="0">
                <a:solidFill>
                  <a:srgbClr val="1F2937"/>
                </a:solidFill>
                <a:latin typeface="Calibri"/>
              </a:rPr>
              <a:t> : la release précédente reste sur disque, et le retour arrière se fait sans reconstruction. Il a été répété avant d'être nécessaire.</a:t>
            </a:r>
          </a:p>
          <a:p>
            <a:pPr>
              <a:lnSpc>
                <a:spcPct val="102000"/>
              </a:lnSpc>
              <a:spcAft>
                <a:spcPts val="600"/>
              </a:spcAft>
            </a:pPr>
            <a:r>
              <a:rPr sz="1350" b="1" i="0">
                <a:solidFill>
                  <a:srgbClr val="16A34A"/>
                </a:solidFill>
                <a:latin typeface="Calibri"/>
              </a:rPr>
              <a:t>▪  </a:t>
            </a:r>
            <a:r>
              <a:rPr sz="1350" b="1" i="0">
                <a:solidFill>
                  <a:srgbClr val="1F2937"/>
                </a:solidFill>
                <a:latin typeface="Calibri"/>
              </a:rPr>
              <a:t>Un journal de déploiement en ajout seul</a:t>
            </a:r>
            <a:r>
              <a:rPr sz="1350" b="0" i="0">
                <a:solidFill>
                  <a:srgbClr val="1F2937"/>
                </a:solidFill>
                <a:latin typeface="Calibri"/>
              </a:rPr>
              <a:t>, huit lignes du 20 août au 4 septembre 2026, dit quel commit tourne et avec quels commutateurs. Une ligne est un fait sur le passé : elle n'est jamais éditée, et un mauvais déploiement se corrige en ajoutant la ligne du retour arrière.</a:t>
            </a:r>
          </a:p>
          <a:p>
            <a:pPr>
              <a:lnSpc>
                <a:spcPct val="102000"/>
              </a:lnSpc>
              <a:spcAft>
                <a:spcPts val="600"/>
              </a:spcAft>
            </a:pPr>
            <a:r>
              <a:rPr sz="1350" b="1" i="0">
                <a:solidFill>
                  <a:srgbClr val="16A34A"/>
                </a:solidFill>
                <a:latin typeface="Calibri"/>
              </a:rPr>
              <a:t>▪  </a:t>
            </a:r>
            <a:r>
              <a:rPr sz="1350" b="1" i="0">
                <a:solidFill>
                  <a:srgbClr val="1F2937"/>
                </a:solidFill>
                <a:latin typeface="Calibri"/>
              </a:rPr>
              <a:t>Des verrous</a:t>
            </a:r>
            <a:r>
              <a:rPr sz="1350" b="0" i="0">
                <a:solidFill>
                  <a:srgbClr val="1F2937"/>
                </a:solidFill>
                <a:latin typeface="Calibri"/>
              </a:rPr>
              <a:t> : la commande de déploiement refuse un arbre de travail sale ; le fichier d'environnement est toujours synchronisé, car c'est le canal des commutateurs ; l'index de production est protégé par un avertissement et une option de forçage.</a:t>
            </a:r>
          </a:p>
        </p:txBody>
      </p:sp>
      <p:sp>
        <p:nvSpPr>
          <p:cNvPr id="7" name="TextBox 6"/>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8" name="TextBox 7"/>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IV · EXPLOITATION</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Ingénierie et discipline de code</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840480"/>
          </a:xfrm>
          <a:prstGeom prst="rect">
            <a:avLst/>
          </a:prstGeom>
          <a:noFill/>
        </p:spPr>
        <p:txBody>
          <a:bodyPr wrap="square">
            <a:spAutoFit/>
          </a:bodyPr>
          <a:lstStyle/>
          <a:p>
            <a:pPr>
              <a:lnSpc>
                <a:spcPct val="102000"/>
              </a:lnSpc>
              <a:spcAft>
                <a:spcPts val="600"/>
              </a:spcAft>
            </a:pPr>
            <a:r>
              <a:rPr sz="1400" b="1" i="0">
                <a:solidFill>
                  <a:srgbClr val="16A34A"/>
                </a:solidFill>
                <a:latin typeface="Calibri"/>
              </a:rPr>
              <a:t>▪  </a:t>
            </a:r>
            <a:r>
              <a:rPr sz="1400" b="1" i="0">
                <a:solidFill>
                  <a:srgbClr val="1F2937"/>
                </a:solidFill>
                <a:latin typeface="Calibri"/>
              </a:rPr>
              <a:t>Une re-architecture assumée</a:t>
            </a:r>
            <a:r>
              <a:rPr sz="1400" b="0" i="0">
                <a:solidFill>
                  <a:srgbClr val="1F2937"/>
                </a:solidFill>
                <a:latin typeface="Calibri"/>
              </a:rPr>
              <a:t> : de 46 fichiers en vrac, six copies de la même application et cinq clés d'API codées en dur, à un paquet unique, des lignes de commande minces, un Makefile, et une archive gardée comme pièce à conviction.</a:t>
            </a:r>
          </a:p>
          <a:p>
            <a:pPr>
              <a:lnSpc>
                <a:spcPct val="102000"/>
              </a:lnSpc>
              <a:spcAft>
                <a:spcPts val="400"/>
              </a:spcAft>
            </a:pPr>
            <a:r>
              <a:rPr sz="1250" b="0" i="0">
                <a:solidFill>
                  <a:srgbClr val="6B7280"/>
                </a:solidFill>
                <a:latin typeface="Calibri"/>
              </a:rPr>
              <a:t>    –  </a:t>
            </a:r>
            <a:r>
              <a:rPr sz="1250" b="0" i="0">
                <a:solidFill>
                  <a:srgbClr val="374151"/>
                </a:solidFill>
                <a:latin typeface="Calibri"/>
              </a:rPr>
              <a:t>Varier par la configuration, jamais par la copie : tout ce qui se changerait en copiant un fichier devient une valeur de configuration, un drapeau ou une variable d'environnement.</a:t>
            </a:r>
          </a:p>
          <a:p>
            <a:pPr>
              <a:lnSpc>
                <a:spcPct val="102000"/>
              </a:lnSpc>
              <a:spcAft>
                <a:spcPts val="600"/>
              </a:spcAft>
            </a:pPr>
            <a:r>
              <a:rPr sz="1400" b="1" i="0">
                <a:solidFill>
                  <a:srgbClr val="16A34A"/>
                </a:solidFill>
                <a:latin typeface="Calibri"/>
              </a:rPr>
              <a:t>▪  </a:t>
            </a:r>
            <a:r>
              <a:rPr sz="1400" b="1" i="0">
                <a:solidFill>
                  <a:srgbClr val="1F2937"/>
                </a:solidFill>
                <a:latin typeface="Calibri"/>
              </a:rPr>
              <a:t>1 831 tests verts</a:t>
            </a:r>
            <a:r>
              <a:rPr sz="1400" b="0" i="0">
                <a:solidFill>
                  <a:srgbClr val="1F2937"/>
                </a:solidFill>
                <a:latin typeface="Calibri"/>
              </a:rPr>
              <a:t> et quatre ignorés, dans 36 fichiers. Presque chaque fichier de test nomme le défaut observé en production qu'il épingle, et aucun test ne touche le réseau.</a:t>
            </a:r>
          </a:p>
          <a:p>
            <a:pPr>
              <a:lnSpc>
                <a:spcPct val="102000"/>
              </a:lnSpc>
              <a:spcAft>
                <a:spcPts val="600"/>
              </a:spcAft>
            </a:pPr>
            <a:r>
              <a:rPr sz="1400" b="1" i="0">
                <a:solidFill>
                  <a:srgbClr val="16A34A"/>
                </a:solidFill>
                <a:latin typeface="Calibri"/>
              </a:rPr>
              <a:t>▪  </a:t>
            </a:r>
            <a:r>
              <a:rPr sz="1400" b="1" i="0">
                <a:solidFill>
                  <a:srgbClr val="1F2937"/>
                </a:solidFill>
                <a:latin typeface="Calibri"/>
              </a:rPr>
              <a:t>Chaque enrichissement se dégrade sans jamais bloquer</a:t>
            </a:r>
            <a:r>
              <a:rPr sz="1400" b="0" i="0">
                <a:solidFill>
                  <a:srgbClr val="1F2937"/>
                </a:solidFill>
                <a:latin typeface="Calibri"/>
              </a:rPr>
              <a:t> : registre, BM25, reclassement, ancrage et vérification attrapent leurs erreurs et continuent.</a:t>
            </a:r>
          </a:p>
          <a:p>
            <a:pPr>
              <a:lnSpc>
                <a:spcPct val="102000"/>
              </a:lnSpc>
              <a:spcAft>
                <a:spcPts val="600"/>
              </a:spcAft>
            </a:pPr>
            <a:r>
              <a:rPr sz="1400" b="1" i="0">
                <a:solidFill>
                  <a:srgbClr val="16A34A"/>
                </a:solidFill>
                <a:latin typeface="Calibri"/>
              </a:rPr>
              <a:t>▪  </a:t>
            </a:r>
            <a:r>
              <a:rPr sz="1400" b="1" i="0">
                <a:solidFill>
                  <a:srgbClr val="1F2937"/>
                </a:solidFill>
                <a:latin typeface="Calibri"/>
              </a:rPr>
              <a:t>Les incidents sont documentés</a:t>
            </a:r>
            <a:r>
              <a:rPr sz="1400" b="0" i="0">
                <a:solidFill>
                  <a:srgbClr val="1F2937"/>
                </a:solidFill>
                <a:latin typeface="Calibri"/>
              </a:rPr>
              <a:t> plutôt que cachés : cinq clés divulguées dans l'historique public, nettoyées, révocation en attente ; un dépôt git supprimé par erreur, dont l'historique a été récupéré et préservé.</a:t>
            </a:r>
          </a:p>
          <a:p>
            <a:pPr>
              <a:lnSpc>
                <a:spcPct val="102000"/>
              </a:lnSpc>
              <a:spcAft>
                <a:spcPts val="600"/>
              </a:spcAft>
            </a:pPr>
            <a:r>
              <a:rPr sz="1400" b="1" i="0">
                <a:solidFill>
                  <a:srgbClr val="16A34A"/>
                </a:solidFill>
                <a:latin typeface="Calibri"/>
              </a:rPr>
              <a:t>▪  </a:t>
            </a:r>
            <a:r>
              <a:rPr sz="1400" b="1" i="0">
                <a:solidFill>
                  <a:srgbClr val="1F2937"/>
                </a:solidFill>
                <a:latin typeface="Calibri"/>
              </a:rPr>
              <a:t>Environ 180 commits</a:t>
            </a:r>
            <a:r>
              <a:rPr sz="1400" b="0" i="0">
                <a:solidFill>
                  <a:srgbClr val="1F2937"/>
                </a:solidFill>
                <a:latin typeface="Calibri"/>
              </a:rPr>
              <a:t> sur la période : chaque défaut converti en test, chaque leçon écrite dans le rapport de construction.</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Barnett et al. 2024 : les systèmes RAG échouent en dehors des benchmarks, dans l'ingénierie. Ici, la robustesse est un objet de mesure au même titre que le rappel.</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IV · BILAN</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Synthèse — intersections littérature ↔ plateforme</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225296"/>
          <a:ext cx="11091671" cy="4389120"/>
        </p:xfrm>
        <a:graphic>
          <a:graphicData uri="http://schemas.openxmlformats.org/drawingml/2006/table">
            <a:tbl>
              <a:tblPr>
                <a:tableStyleId>{5C22544A-7EE6-4342-B048-85BDC9FD1C3A}</a:tableStyleId>
              </a:tblPr>
              <a:tblGrid>
                <a:gridCol w="2383334"/>
                <a:gridCol w="2108334"/>
                <a:gridCol w="6600003"/>
              </a:tblGrid>
              <a:tr h="292608">
                <a:tc>
                  <a:txBody>
                    <a:bodyPr wrap="square"/>
                    <a:lstStyle/>
                    <a:p>
                      <a:pPr>
                        <a:lnSpc>
                          <a:spcPct val="98000"/>
                        </a:lnSpc>
                      </a:pPr>
                      <a:r>
                        <a:rPr sz="900" b="1" i="0">
                          <a:solidFill>
                            <a:srgbClr val="FFFFFF"/>
                          </a:solidFill>
                          <a:latin typeface="Calibri"/>
                        </a:rPr>
                        <a:t>Élément de la littérature</a:t>
                      </a:r>
                    </a:p>
                  </a:txBody>
                  <a:tcPr marL="54864" marR="54864" marT="27432" marB="27432" anchor="ctr">
                    <a:solidFill>
                      <a:srgbClr val="166534"/>
                    </a:solidFill>
                  </a:tcPr>
                </a:tc>
                <a:tc>
                  <a:txBody>
                    <a:bodyPr wrap="square"/>
                    <a:lstStyle/>
                    <a:p>
                      <a:pPr algn="l">
                        <a:lnSpc>
                          <a:spcPct val="98000"/>
                        </a:lnSpc>
                      </a:pPr>
                      <a:r>
                        <a:rPr sz="900" b="1" i="0">
                          <a:solidFill>
                            <a:srgbClr val="FFFFFF"/>
                          </a:solidFill>
                          <a:latin typeface="Calibri"/>
                        </a:rPr>
                        <a:t>Références</a:t>
                      </a:r>
                    </a:p>
                  </a:txBody>
                  <a:tcPr marL="54864" marR="54864" marT="27432" marB="27432" anchor="ctr">
                    <a:solidFill>
                      <a:srgbClr val="166534"/>
                    </a:solidFill>
                  </a:tcPr>
                </a:tc>
                <a:tc>
                  <a:txBody>
                    <a:bodyPr wrap="square"/>
                    <a:lstStyle/>
                    <a:p>
                      <a:pPr algn="l">
                        <a:lnSpc>
                          <a:spcPct val="98000"/>
                        </a:lnSpc>
                      </a:pPr>
                      <a:r>
                        <a:rPr sz="900" b="1" i="0">
                          <a:solidFill>
                            <a:srgbClr val="FFFFFF"/>
                          </a:solidFill>
                          <a:latin typeface="Calibri"/>
                        </a:rPr>
                        <a:t>Réalisation dans la plateforme</a:t>
                      </a:r>
                    </a:p>
                  </a:txBody>
                  <a:tcPr marL="54864" marR="54864" marT="27432" marB="27432" anchor="ctr">
                    <a:solidFill>
                      <a:srgbClr val="166534"/>
                    </a:solidFill>
                  </a:tcPr>
                </a:tc>
              </a:tr>
              <a:tr h="292608">
                <a:tc>
                  <a:txBody>
                    <a:bodyPr wrap="square"/>
                    <a:lstStyle/>
                    <a:p>
                      <a:pPr>
                        <a:lnSpc>
                          <a:spcPct val="98000"/>
                        </a:lnSpc>
                      </a:pPr>
                      <a:r>
                        <a:rPr sz="900" b="0" i="0">
                          <a:solidFill>
                            <a:srgbClr val="1F2937"/>
                          </a:solidFill>
                          <a:latin typeface="Calibri"/>
                        </a:rPr>
                        <a:t>RAG : récupérer puis générer</a:t>
                      </a:r>
                    </a:p>
                  </a:txBody>
                  <a:tcPr marL="54864" marR="54864" marT="27432" marB="27432" anchor="ctr">
                    <a:solidFill>
                      <a:srgbClr val="FFFFFF"/>
                    </a:solidFill>
                  </a:tcPr>
                </a:tc>
                <a:tc>
                  <a:txBody>
                    <a:bodyPr wrap="square"/>
                    <a:lstStyle/>
                    <a:p>
                      <a:pPr algn="l">
                        <a:lnSpc>
                          <a:spcPct val="98000"/>
                        </a:lnSpc>
                      </a:pPr>
                      <a:r>
                        <a:rPr sz="900" b="0" i="0">
                          <a:solidFill>
                            <a:srgbClr val="1F2937"/>
                          </a:solidFill>
                          <a:latin typeface="Calibri"/>
                        </a:rPr>
                        <a:t>Lewis 2020 · Guu 2020</a:t>
                      </a:r>
                    </a:p>
                  </a:txBody>
                  <a:tcPr marL="54864" marR="54864" marT="27432" marB="27432" anchor="ctr">
                    <a:solidFill>
                      <a:srgbClr val="FFFFFF"/>
                    </a:solidFill>
                  </a:tcPr>
                </a:tc>
                <a:tc>
                  <a:txBody>
                    <a:bodyPr wrap="square"/>
                    <a:lstStyle/>
                    <a:p>
                      <a:pPr algn="l">
                        <a:lnSpc>
                          <a:spcPct val="98000"/>
                        </a:lnSpc>
                      </a:pPr>
                      <a:r>
                        <a:rPr sz="900" b="0" i="0">
                          <a:solidFill>
                            <a:srgbClr val="1F2937"/>
                          </a:solidFill>
                          <a:latin typeface="Calibri"/>
                        </a:rPr>
                        <a:t>Un contexte injecté à chaque tour, de FAISS et BM25 vers gpt-5.2 ; les connaissances vivent dans le corpus, pas dans les poids</a:t>
                      </a:r>
                    </a:p>
                  </a:txBody>
                  <a:tcPr marL="54864" marR="54864" marT="27432" marB="27432" anchor="ctr">
                    <a:solidFill>
                      <a:srgbClr val="FFFFFF"/>
                    </a:solidFill>
                  </a:tcPr>
                </a:tc>
              </a:tr>
              <a:tr h="292608">
                <a:tc>
                  <a:txBody>
                    <a:bodyPr wrap="square"/>
                    <a:lstStyle/>
                    <a:p>
                      <a:pPr>
                        <a:lnSpc>
                          <a:spcPct val="98000"/>
                        </a:lnSpc>
                      </a:pPr>
                      <a:r>
                        <a:rPr sz="900" b="0" i="0">
                          <a:solidFill>
                            <a:srgbClr val="1F2937"/>
                          </a:solidFill>
                          <a:latin typeface="Calibri"/>
                        </a:rPr>
                        <a:t>Naive → Advanced → Modular</a:t>
                      </a:r>
                    </a:p>
                  </a:txBody>
                  <a:tcPr marL="54864" marR="54864" marT="27432" marB="27432" anchor="ctr">
                    <a:solidFill>
                      <a:srgbClr val="F5F5F4"/>
                    </a:solidFill>
                  </a:tcPr>
                </a:tc>
                <a:tc>
                  <a:txBody>
                    <a:bodyPr wrap="square"/>
                    <a:lstStyle/>
                    <a:p>
                      <a:pPr algn="l">
                        <a:lnSpc>
                          <a:spcPct val="98000"/>
                        </a:lnSpc>
                      </a:pPr>
                      <a:r>
                        <a:rPr sz="900" b="0" i="0">
                          <a:solidFill>
                            <a:srgbClr val="1F2937"/>
                          </a:solidFill>
                          <a:latin typeface="Calibri"/>
                        </a:rPr>
                        <a:t>Gao et al. 2023</a:t>
                      </a:r>
                    </a:p>
                  </a:txBody>
                  <a:tcPr marL="54864" marR="54864" marT="27432" marB="27432" anchor="ctr">
                    <a:solidFill>
                      <a:srgbClr val="F5F5F4"/>
                    </a:solidFill>
                  </a:tcPr>
                </a:tc>
                <a:tc>
                  <a:txBody>
                    <a:bodyPr wrap="square"/>
                    <a:lstStyle/>
                    <a:p>
                      <a:pPr algn="l">
                        <a:lnSpc>
                          <a:spcPct val="98000"/>
                        </a:lnSpc>
                      </a:pPr>
                      <a:r>
                        <a:rPr sz="900" b="0" i="0">
                          <a:solidFill>
                            <a:srgbClr val="1F2937"/>
                          </a:solidFill>
                          <a:latin typeface="Calibri"/>
                        </a:rPr>
                        <a:t>Du prototype LangChain et Chroma de 2024 à un système modulaire à commutateurs</a:t>
                      </a:r>
                    </a:p>
                  </a:txBody>
                  <a:tcPr marL="54864" marR="54864" marT="27432" marB="27432" anchor="ctr">
                    <a:solidFill>
                      <a:srgbClr val="F5F5F4"/>
                    </a:solidFill>
                  </a:tcPr>
                </a:tc>
              </a:tr>
              <a:tr h="292608">
                <a:tc>
                  <a:txBody>
                    <a:bodyPr wrap="square"/>
                    <a:lstStyle/>
                    <a:p>
                      <a:pPr>
                        <a:lnSpc>
                          <a:spcPct val="98000"/>
                        </a:lnSpc>
                      </a:pPr>
                      <a:r>
                        <a:rPr sz="900" b="0" i="0">
                          <a:solidFill>
                            <a:srgbClr val="1F2937"/>
                          </a:solidFill>
                          <a:latin typeface="Calibri"/>
                        </a:rPr>
                        <a:t>Récupération dense</a:t>
                      </a:r>
                    </a:p>
                  </a:txBody>
                  <a:tcPr marL="54864" marR="54864" marT="27432" marB="27432" anchor="ctr">
                    <a:solidFill>
                      <a:srgbClr val="FFFFFF"/>
                    </a:solidFill>
                  </a:tcPr>
                </a:tc>
                <a:tc>
                  <a:txBody>
                    <a:bodyPr wrap="square"/>
                    <a:lstStyle/>
                    <a:p>
                      <a:pPr algn="l">
                        <a:lnSpc>
                          <a:spcPct val="98000"/>
                        </a:lnSpc>
                      </a:pPr>
                      <a:r>
                        <a:rPr sz="900" b="0" i="0">
                          <a:solidFill>
                            <a:srgbClr val="1F2937"/>
                          </a:solidFill>
                          <a:latin typeface="Calibri"/>
                        </a:rPr>
                        <a:t>Karpukhin 2020 · Reimers 2019</a:t>
                      </a:r>
                    </a:p>
                  </a:txBody>
                  <a:tcPr marL="54864" marR="54864" marT="27432" marB="27432" anchor="ctr">
                    <a:solidFill>
                      <a:srgbClr val="FFFFFF"/>
                    </a:solidFill>
                  </a:tcPr>
                </a:tc>
                <a:tc>
                  <a:txBody>
                    <a:bodyPr wrap="square"/>
                    <a:lstStyle/>
                    <a:p>
                      <a:pPr algn="l">
                        <a:lnSpc>
                          <a:spcPct val="98000"/>
                        </a:lnSpc>
                      </a:pPr>
                      <a:r>
                        <a:rPr sz="900" b="0" i="0">
                          <a:solidFill>
                            <a:srgbClr val="1F2937"/>
                          </a:solidFill>
                          <a:latin typeface="Calibri"/>
                        </a:rPr>
                        <a:t>all-mpnet-base-v2 (768 dimensions), FAISS en similarité cosinus, 178 456 segments</a:t>
                      </a:r>
                    </a:p>
                  </a:txBody>
                  <a:tcPr marL="54864" marR="54864" marT="27432" marB="27432" anchor="ctr">
                    <a:solidFill>
                      <a:srgbClr val="FFFFFF"/>
                    </a:solidFill>
                  </a:tcPr>
                </a:tc>
              </a:tr>
              <a:tr h="292608">
                <a:tc>
                  <a:txBody>
                    <a:bodyPr wrap="square"/>
                    <a:lstStyle/>
                    <a:p>
                      <a:pPr>
                        <a:lnSpc>
                          <a:spcPct val="98000"/>
                        </a:lnSpc>
                      </a:pPr>
                      <a:r>
                        <a:rPr sz="900" b="0" i="0">
                          <a:solidFill>
                            <a:srgbClr val="1F2937"/>
                          </a:solidFill>
                          <a:latin typeface="Calibri"/>
                        </a:rPr>
                        <a:t>Hybride lexical+dense, fusion</a:t>
                      </a:r>
                    </a:p>
                  </a:txBody>
                  <a:tcPr marL="54864" marR="54864" marT="27432" marB="27432" anchor="ctr">
                    <a:solidFill>
                      <a:srgbClr val="F5F5F4"/>
                    </a:solidFill>
                  </a:tcPr>
                </a:tc>
                <a:tc>
                  <a:txBody>
                    <a:bodyPr wrap="square"/>
                    <a:lstStyle/>
                    <a:p>
                      <a:pPr algn="l">
                        <a:lnSpc>
                          <a:spcPct val="98000"/>
                        </a:lnSpc>
                      </a:pPr>
                      <a:r>
                        <a:rPr sz="900" b="0" i="0">
                          <a:solidFill>
                            <a:srgbClr val="1F2937"/>
                          </a:solidFill>
                          <a:latin typeface="Calibri"/>
                        </a:rPr>
                        <a:t>Robertson 2009 · Cormack 2009</a:t>
                      </a:r>
                    </a:p>
                  </a:txBody>
                  <a:tcPr marL="54864" marR="54864" marT="27432" marB="27432" anchor="ctr">
                    <a:solidFill>
                      <a:srgbClr val="F5F5F4"/>
                    </a:solidFill>
                  </a:tcPr>
                </a:tc>
                <a:tc>
                  <a:txBody>
                    <a:bodyPr wrap="square"/>
                    <a:lstStyle/>
                    <a:p>
                      <a:pPr algn="l">
                        <a:lnSpc>
                          <a:spcPct val="98000"/>
                        </a:lnSpc>
                      </a:pPr>
                      <a:r>
                        <a:rPr sz="900" b="0" i="0">
                          <a:solidFill>
                            <a:srgbClr val="1F2937"/>
                          </a:solidFill>
                          <a:latin typeface="Calibri"/>
                        </a:rPr>
                        <a:t>BM25 et dense fusionnés par RRF (k = 60), poids doublé sur les identifiants : le rappel passe de 6 % à 100 %</a:t>
                      </a:r>
                    </a:p>
                  </a:txBody>
                  <a:tcPr marL="54864" marR="54864" marT="27432" marB="27432" anchor="ctr">
                    <a:solidFill>
                      <a:srgbClr val="F5F5F4"/>
                    </a:solidFill>
                  </a:tcPr>
                </a:tc>
              </a:tr>
              <a:tr h="292608">
                <a:tc>
                  <a:txBody>
                    <a:bodyPr wrap="square"/>
                    <a:lstStyle/>
                    <a:p>
                      <a:pPr>
                        <a:lnSpc>
                          <a:spcPct val="98000"/>
                        </a:lnSpc>
                      </a:pPr>
                      <a:r>
                        <a:rPr sz="900" b="0" i="0">
                          <a:solidFill>
                            <a:srgbClr val="1F2937"/>
                          </a:solidFill>
                          <a:latin typeface="Calibri"/>
                        </a:rPr>
                        <a:t>Reranking neuronal</a:t>
                      </a:r>
                    </a:p>
                  </a:txBody>
                  <a:tcPr marL="54864" marR="54864" marT="27432" marB="27432" anchor="ctr">
                    <a:solidFill>
                      <a:srgbClr val="FFFFFF"/>
                    </a:solidFill>
                  </a:tcPr>
                </a:tc>
                <a:tc>
                  <a:txBody>
                    <a:bodyPr wrap="square"/>
                    <a:lstStyle/>
                    <a:p>
                      <a:pPr algn="l">
                        <a:lnSpc>
                          <a:spcPct val="98000"/>
                        </a:lnSpc>
                      </a:pPr>
                      <a:r>
                        <a:rPr sz="900" b="0" i="0">
                          <a:solidFill>
                            <a:srgbClr val="1F2937"/>
                          </a:solidFill>
                          <a:latin typeface="Calibri"/>
                        </a:rPr>
                        <a:t>Nogueira &amp; Cho 2019</a:t>
                      </a:r>
                    </a:p>
                  </a:txBody>
                  <a:tcPr marL="54864" marR="54864" marT="27432" marB="27432" anchor="ctr">
                    <a:solidFill>
                      <a:srgbClr val="FFFFFF"/>
                    </a:solidFill>
                  </a:tcPr>
                </a:tc>
                <a:tc>
                  <a:txBody>
                    <a:bodyPr wrap="square"/>
                    <a:lstStyle/>
                    <a:p>
                      <a:pPr algn="l">
                        <a:lnSpc>
                          <a:spcPct val="98000"/>
                        </a:lnSpc>
                      </a:pPr>
                      <a:r>
                        <a:rPr sz="900" b="0" i="0">
                          <a:solidFill>
                            <a:srgbClr val="1F2937"/>
                          </a:solidFill>
                          <a:latin typeface="Calibri"/>
                        </a:rPr>
                        <a:t>Cross-encoder ms-marco ; A/B neutre au niveau des réponses, gardé pour le rappel</a:t>
                      </a:r>
                    </a:p>
                  </a:txBody>
                  <a:tcPr marL="54864" marR="54864" marT="27432" marB="27432" anchor="ctr">
                    <a:solidFill>
                      <a:srgbClr val="FFFFFF"/>
                    </a:solidFill>
                  </a:tcPr>
                </a:tc>
              </a:tr>
              <a:tr h="292608">
                <a:tc>
                  <a:txBody>
                    <a:bodyPr wrap="square"/>
                    <a:lstStyle/>
                    <a:p>
                      <a:pPr>
                        <a:lnSpc>
                          <a:spcPct val="98000"/>
                        </a:lnSpc>
                      </a:pPr>
                      <a:r>
                        <a:rPr sz="900" b="0" i="0">
                          <a:solidFill>
                            <a:srgbClr val="1F2937"/>
                          </a:solidFill>
                          <a:latin typeface="Calibri"/>
                        </a:rPr>
                        <a:t>Réécriture &amp; décomposition</a:t>
                      </a:r>
                    </a:p>
                  </a:txBody>
                  <a:tcPr marL="54864" marR="54864" marT="27432" marB="27432" anchor="ctr">
                    <a:solidFill>
                      <a:srgbClr val="F5F5F4"/>
                    </a:solidFill>
                  </a:tcPr>
                </a:tc>
                <a:tc>
                  <a:txBody>
                    <a:bodyPr wrap="square"/>
                    <a:lstStyle/>
                    <a:p>
                      <a:pPr algn="l">
                        <a:lnSpc>
                          <a:spcPct val="98000"/>
                        </a:lnSpc>
                      </a:pPr>
                      <a:r>
                        <a:rPr sz="900" b="0" i="0">
                          <a:solidFill>
                            <a:srgbClr val="1F2937"/>
                          </a:solidFill>
                          <a:latin typeface="Calibri"/>
                        </a:rPr>
                        <a:t>Press et al. 2022</a:t>
                      </a:r>
                    </a:p>
                  </a:txBody>
                  <a:tcPr marL="54864" marR="54864" marT="27432" marB="27432" anchor="ctr">
                    <a:solidFill>
                      <a:srgbClr val="F5F5F4"/>
                    </a:solidFill>
                  </a:tcPr>
                </a:tc>
                <a:tc>
                  <a:txBody>
                    <a:bodyPr wrap="square"/>
                    <a:lstStyle/>
                    <a:p>
                      <a:pPr algn="l">
                        <a:lnSpc>
                          <a:spcPct val="98000"/>
                        </a:lnSpc>
                      </a:pPr>
                      <a:r>
                        <a:rPr sz="900" b="0" i="0">
                          <a:solidFill>
                            <a:srgbClr val="1F2937"/>
                          </a:solidFill>
                          <a:latin typeface="Calibri"/>
                        </a:rPr>
                        <a:t>Un conducteur JSON (une à six requêtes, pronoms résolus) et des quotas par document</a:t>
                      </a:r>
                    </a:p>
                  </a:txBody>
                  <a:tcPr marL="54864" marR="54864" marT="27432" marB="27432" anchor="ctr">
                    <a:solidFill>
                      <a:srgbClr val="F5F5F4"/>
                    </a:solidFill>
                  </a:tcPr>
                </a:tc>
              </a:tr>
              <a:tr h="292608">
                <a:tc>
                  <a:txBody>
                    <a:bodyPr wrap="square"/>
                    <a:lstStyle/>
                    <a:p>
                      <a:pPr>
                        <a:lnSpc>
                          <a:spcPct val="98000"/>
                        </a:lnSpc>
                      </a:pPr>
                      <a:r>
                        <a:rPr sz="900" b="0" i="0">
                          <a:solidFill>
                            <a:srgbClr val="1F2937"/>
                          </a:solidFill>
                          <a:latin typeface="Calibri"/>
                        </a:rPr>
                        <a:t>Document AI sans OCR (VLM)</a:t>
                      </a:r>
                    </a:p>
                  </a:txBody>
                  <a:tcPr marL="54864" marR="54864" marT="27432" marB="27432" anchor="ctr">
                    <a:solidFill>
                      <a:srgbClr val="FFFFFF"/>
                    </a:solidFill>
                  </a:tcPr>
                </a:tc>
                <a:tc>
                  <a:txBody>
                    <a:bodyPr wrap="square"/>
                    <a:lstStyle/>
                    <a:p>
                      <a:pPr algn="l">
                        <a:lnSpc>
                          <a:spcPct val="98000"/>
                        </a:lnSpc>
                      </a:pPr>
                      <a:r>
                        <a:rPr sz="900" b="0" i="0">
                          <a:solidFill>
                            <a:srgbClr val="1F2937"/>
                          </a:solidFill>
                          <a:latin typeface="Calibri"/>
                        </a:rPr>
                        <a:t>Kim 2022 · Blecher 2023</a:t>
                      </a:r>
                    </a:p>
                  </a:txBody>
                  <a:tcPr marL="54864" marR="54864" marT="27432" marB="27432" anchor="ctr">
                    <a:solidFill>
                      <a:srgbClr val="FFFFFF"/>
                    </a:solidFill>
                  </a:tcPr>
                </a:tc>
                <a:tc>
                  <a:txBody>
                    <a:bodyPr wrap="square"/>
                    <a:lstStyle/>
                    <a:p>
                      <a:pPr algn="l">
                        <a:lnSpc>
                          <a:spcPct val="98000"/>
                        </a:lnSpc>
                      </a:pPr>
                      <a:r>
                        <a:rPr sz="900" b="0" i="0">
                          <a:solidFill>
                            <a:srgbClr val="1F2937"/>
                          </a:solidFill>
                          <a:latin typeface="Calibri"/>
                        </a:rPr>
                        <a:t>Extraction locale par Qwen-VL : du PDF à un markdown fidèle, tables préservées</a:t>
                      </a:r>
                    </a:p>
                  </a:txBody>
                  <a:tcPr marL="54864" marR="54864" marT="27432" marB="27432" anchor="ctr">
                    <a:solidFill>
                      <a:srgbClr val="FFFFFF"/>
                    </a:solidFill>
                  </a:tcPr>
                </a:tc>
              </a:tr>
              <a:tr h="292608">
                <a:tc>
                  <a:txBody>
                    <a:bodyPr wrap="square"/>
                    <a:lstStyle/>
                    <a:p>
                      <a:pPr>
                        <a:lnSpc>
                          <a:spcPct val="98000"/>
                        </a:lnSpc>
                      </a:pPr>
                      <a:r>
                        <a:rPr sz="900" b="0" i="0">
                          <a:solidFill>
                            <a:srgbClr val="1F2937"/>
                          </a:solidFill>
                          <a:latin typeface="Calibri"/>
                        </a:rPr>
                        <a:t>Génération attribuée</a:t>
                      </a:r>
                    </a:p>
                  </a:txBody>
                  <a:tcPr marL="54864" marR="54864" marT="27432" marB="27432" anchor="ctr">
                    <a:solidFill>
                      <a:srgbClr val="F5F5F4"/>
                    </a:solidFill>
                  </a:tcPr>
                </a:tc>
                <a:tc>
                  <a:txBody>
                    <a:bodyPr wrap="square"/>
                    <a:lstStyle/>
                    <a:p>
                      <a:pPr algn="l">
                        <a:lnSpc>
                          <a:spcPct val="98000"/>
                        </a:lnSpc>
                      </a:pPr>
                      <a:r>
                        <a:rPr sz="900" b="0" i="0">
                          <a:solidFill>
                            <a:srgbClr val="1F2937"/>
                          </a:solidFill>
                          <a:latin typeface="Calibri"/>
                        </a:rPr>
                        <a:t>Rashkin 2021 · ALCE 2023 · Menick 2022</a:t>
                      </a:r>
                    </a:p>
                  </a:txBody>
                  <a:tcPr marL="54864" marR="54864" marT="27432" marB="27432" anchor="ctr">
                    <a:solidFill>
                      <a:srgbClr val="F5F5F4"/>
                    </a:solidFill>
                  </a:tcPr>
                </a:tc>
                <a:tc>
                  <a:txBody>
                    <a:bodyPr wrap="square"/>
                    <a:lstStyle/>
                    <a:p>
                      <a:pPr algn="l">
                        <a:lnSpc>
                          <a:spcPct val="98000"/>
                        </a:lnSpc>
                      </a:pPr>
                      <a:r>
                        <a:rPr sz="900" b="0" i="0">
                          <a:solidFill>
                            <a:srgbClr val="1F2937"/>
                          </a:solidFill>
                          <a:latin typeface="Calibri"/>
                        </a:rPr>
                        <a:t>Citation à la phrase, citer ou nuancer, ancrage au pixel</a:t>
                      </a:r>
                    </a:p>
                  </a:txBody>
                  <a:tcPr marL="54864" marR="54864" marT="27432" marB="27432" anchor="ctr">
                    <a:solidFill>
                      <a:srgbClr val="F5F5F4"/>
                    </a:solidFill>
                  </a:tcPr>
                </a:tc>
              </a:tr>
              <a:tr h="292608">
                <a:tc>
                  <a:txBody>
                    <a:bodyPr wrap="square"/>
                    <a:lstStyle/>
                    <a:p>
                      <a:pPr>
                        <a:lnSpc>
                          <a:spcPct val="98000"/>
                        </a:lnSpc>
                      </a:pPr>
                      <a:r>
                        <a:rPr sz="900" b="0" i="0">
                          <a:solidFill>
                            <a:srgbClr val="1F2937"/>
                          </a:solidFill>
                          <a:latin typeface="Calibri"/>
                        </a:rPr>
                        <a:t>Factualité par claims</a:t>
                      </a:r>
                    </a:p>
                  </a:txBody>
                  <a:tcPr marL="54864" marR="54864" marT="27432" marB="27432" anchor="ctr">
                    <a:solidFill>
                      <a:srgbClr val="FFFFFF"/>
                    </a:solidFill>
                  </a:tcPr>
                </a:tc>
                <a:tc>
                  <a:txBody>
                    <a:bodyPr wrap="square"/>
                    <a:lstStyle/>
                    <a:p>
                      <a:pPr algn="l">
                        <a:lnSpc>
                          <a:spcPct val="98000"/>
                        </a:lnSpc>
                      </a:pPr>
                      <a:r>
                        <a:rPr sz="900" b="0" i="0">
                          <a:solidFill>
                            <a:srgbClr val="1F2937"/>
                          </a:solidFill>
                          <a:latin typeface="Calibri"/>
                        </a:rPr>
                        <a:t>Min et al. 2023 (FActScore)</a:t>
                      </a:r>
                    </a:p>
                  </a:txBody>
                  <a:tcPr marL="54864" marR="54864" marT="27432" marB="27432" anchor="ctr">
                    <a:solidFill>
                      <a:srgbClr val="FFFFFF"/>
                    </a:solidFill>
                  </a:tcPr>
                </a:tc>
                <a:tc>
                  <a:txBody>
                    <a:bodyPr wrap="square"/>
                    <a:lstStyle/>
                    <a:p>
                      <a:pPr algn="l">
                        <a:lnSpc>
                          <a:spcPct val="98000"/>
                        </a:lnSpc>
                      </a:pPr>
                      <a:r>
                        <a:rPr sz="900" b="0" i="0">
                          <a:solidFill>
                            <a:srgbClr val="1F2937"/>
                          </a:solidFill>
                          <a:latin typeface="Calibri"/>
                        </a:rPr>
                        <a:t>Un vérificateur en production : affirmations atomiques, trois verdicts, quatre métriques en n/d</a:t>
                      </a:r>
                    </a:p>
                  </a:txBody>
                  <a:tcPr marL="54864" marR="54864" marT="27432" marB="27432" anchor="ctr">
                    <a:solidFill>
                      <a:srgbClr val="FFFFFF"/>
                    </a:solidFill>
                  </a:tcPr>
                </a:tc>
              </a:tr>
              <a:tr h="292608">
                <a:tc>
                  <a:txBody>
                    <a:bodyPr wrap="square"/>
                    <a:lstStyle/>
                    <a:p>
                      <a:pPr>
                        <a:lnSpc>
                          <a:spcPct val="98000"/>
                        </a:lnSpc>
                      </a:pPr>
                      <a:r>
                        <a:rPr sz="900" b="0" i="0">
                          <a:solidFill>
                            <a:srgbClr val="1F2937"/>
                          </a:solidFill>
                          <a:latin typeface="Calibri"/>
                        </a:rPr>
                        <a:t>Évaluation RAG outillée</a:t>
                      </a:r>
                    </a:p>
                  </a:txBody>
                  <a:tcPr marL="54864" marR="54864" marT="27432" marB="27432" anchor="ctr">
                    <a:solidFill>
                      <a:srgbClr val="F5F5F4"/>
                    </a:solidFill>
                  </a:tcPr>
                </a:tc>
                <a:tc>
                  <a:txBody>
                    <a:bodyPr wrap="square"/>
                    <a:lstStyle/>
                    <a:p>
                      <a:pPr algn="l">
                        <a:lnSpc>
                          <a:spcPct val="98000"/>
                        </a:lnSpc>
                      </a:pPr>
                      <a:r>
                        <a:rPr sz="900" b="0" i="0">
                          <a:solidFill>
                            <a:srgbClr val="1F2937"/>
                          </a:solidFill>
                          <a:latin typeface="Calibri"/>
                        </a:rPr>
                        <a:t>Es 2023 (RAGAS) · ARES 2024</a:t>
                      </a:r>
                    </a:p>
                  </a:txBody>
                  <a:tcPr marL="54864" marR="54864" marT="27432" marB="27432" anchor="ctr">
                    <a:solidFill>
                      <a:srgbClr val="F5F5F4"/>
                    </a:solidFill>
                  </a:tcPr>
                </a:tc>
                <a:tc>
                  <a:txBody>
                    <a:bodyPr wrap="square"/>
                    <a:lstStyle/>
                    <a:p>
                      <a:pPr algn="l">
                        <a:lnSpc>
                          <a:spcPct val="98000"/>
                        </a:lnSpc>
                      </a:pPr>
                      <a:r>
                        <a:rPr sz="900" b="0" i="0">
                          <a:solidFill>
                            <a:srgbClr val="1F2937"/>
                          </a:solidFill>
                          <a:latin typeface="Calibri"/>
                        </a:rPr>
                        <a:t>Portes en nombres entiers, parité avec la production, paires de même configuration, bruit de ±2 à 3 points</a:t>
                      </a:r>
                    </a:p>
                  </a:txBody>
                  <a:tcPr marL="54864" marR="54864" marT="27432" marB="27432" anchor="ctr">
                    <a:solidFill>
                      <a:srgbClr val="F5F5F4"/>
                    </a:solidFill>
                  </a:tcPr>
                </a:tc>
              </a:tr>
              <a:tr h="292608">
                <a:tc>
                  <a:txBody>
                    <a:bodyPr wrap="square"/>
                    <a:lstStyle/>
                    <a:p>
                      <a:pPr>
                        <a:lnSpc>
                          <a:spcPct val="98000"/>
                        </a:lnSpc>
                      </a:pPr>
                      <a:r>
                        <a:rPr sz="900" b="0" i="0">
                          <a:solidFill>
                            <a:srgbClr val="1F2937"/>
                          </a:solidFill>
                          <a:latin typeface="Calibri"/>
                        </a:rPr>
                        <a:t>LLM-juge + méta-évaluation</a:t>
                      </a:r>
                    </a:p>
                  </a:txBody>
                  <a:tcPr marL="54864" marR="54864" marT="27432" marB="27432" anchor="ctr">
                    <a:solidFill>
                      <a:srgbClr val="FFFFFF"/>
                    </a:solidFill>
                  </a:tcPr>
                </a:tc>
                <a:tc>
                  <a:txBody>
                    <a:bodyPr wrap="square"/>
                    <a:lstStyle/>
                    <a:p>
                      <a:pPr algn="l">
                        <a:lnSpc>
                          <a:spcPct val="98000"/>
                        </a:lnSpc>
                      </a:pPr>
                      <a:r>
                        <a:rPr sz="900" b="0" i="0">
                          <a:solidFill>
                            <a:srgbClr val="1F2937"/>
                          </a:solidFill>
                          <a:latin typeface="Calibri"/>
                        </a:rPr>
                        <a:t>Zheng et al. 2023</a:t>
                      </a:r>
                    </a:p>
                  </a:txBody>
                  <a:tcPr marL="54864" marR="54864" marT="27432" marB="27432" anchor="ctr">
                    <a:solidFill>
                      <a:srgbClr val="FFFFFF"/>
                    </a:solidFill>
                  </a:tcPr>
                </a:tc>
                <a:tc>
                  <a:txBody>
                    <a:bodyPr wrap="square"/>
                    <a:lstStyle/>
                    <a:p>
                      <a:pPr algn="l">
                        <a:lnSpc>
                          <a:spcPct val="98000"/>
                        </a:lnSpc>
                      </a:pPr>
                      <a:r>
                        <a:rPr sz="900" b="0" i="0">
                          <a:solidFill>
                            <a:srgbClr val="1F2937"/>
                          </a:solidFill>
                          <a:latin typeface="Calibri"/>
                        </a:rPr>
                        <a:t>Un juge qui ne peut que promouvoir, audité ; adjudication humaine en aveugle : 59 verdicts sur 71 infirmés, 46 faux positifs stricts</a:t>
                      </a:r>
                    </a:p>
                  </a:txBody>
                  <a:tcPr marL="54864" marR="54864" marT="27432" marB="27432" anchor="ctr">
                    <a:solidFill>
                      <a:srgbClr val="FFFFFF"/>
                    </a:solidFill>
                  </a:tcPr>
                </a:tc>
              </a:tr>
              <a:tr h="292608">
                <a:tc>
                  <a:txBody>
                    <a:bodyPr wrap="square"/>
                    <a:lstStyle/>
                    <a:p>
                      <a:pPr>
                        <a:lnSpc>
                          <a:spcPct val="98000"/>
                        </a:lnSpc>
                      </a:pPr>
                      <a:r>
                        <a:rPr sz="900" b="0" i="0">
                          <a:solidFill>
                            <a:srgbClr val="1F2937"/>
                          </a:solidFill>
                          <a:latin typeface="Calibri"/>
                        </a:rPr>
                        <a:t>Limites de l'auto-correction</a:t>
                      </a:r>
                    </a:p>
                  </a:txBody>
                  <a:tcPr marL="54864" marR="54864" marT="27432" marB="27432" anchor="ctr">
                    <a:solidFill>
                      <a:srgbClr val="F5F5F4"/>
                    </a:solidFill>
                  </a:tcPr>
                </a:tc>
                <a:tc>
                  <a:txBody>
                    <a:bodyPr wrap="square"/>
                    <a:lstStyle/>
                    <a:p>
                      <a:pPr algn="l">
                        <a:lnSpc>
                          <a:spcPct val="98000"/>
                        </a:lnSpc>
                      </a:pPr>
                      <a:r>
                        <a:rPr sz="900" b="0" i="0">
                          <a:solidFill>
                            <a:srgbClr val="1F2937"/>
                          </a:solidFill>
                          <a:latin typeface="Calibri"/>
                        </a:rPr>
                        <a:t>Huang et al. 2024</a:t>
                      </a:r>
                    </a:p>
                  </a:txBody>
                  <a:tcPr marL="54864" marR="54864" marT="27432" marB="27432" anchor="ctr">
                    <a:solidFill>
                      <a:srgbClr val="F5F5F4"/>
                    </a:solidFill>
                  </a:tcPr>
                </a:tc>
                <a:tc>
                  <a:txBody>
                    <a:bodyPr wrap="square"/>
                    <a:lstStyle/>
                    <a:p>
                      <a:pPr algn="l">
                        <a:lnSpc>
                          <a:spcPct val="98000"/>
                        </a:lnSpc>
                      </a:pPr>
                      <a:r>
                        <a:rPr sz="900" b="0" i="0">
                          <a:solidFill>
                            <a:srgbClr val="1F2937"/>
                          </a:solidFill>
                          <a:latin typeface="Calibri"/>
                        </a:rPr>
                        <a:t>Auto-réparation retirée : trois réécritures adoptées sur cinq effaçaient du contenu vérifié</a:t>
                      </a:r>
                    </a:p>
                  </a:txBody>
                  <a:tcPr marL="54864" marR="54864" marT="27432" marB="27432" anchor="ctr">
                    <a:solidFill>
                      <a:srgbClr val="F5F5F4"/>
                    </a:solidFill>
                  </a:tcPr>
                </a:tc>
              </a:tr>
              <a:tr h="292608">
                <a:tc>
                  <a:txBody>
                    <a:bodyPr wrap="square"/>
                    <a:lstStyle/>
                    <a:p>
                      <a:pPr>
                        <a:lnSpc>
                          <a:spcPct val="98000"/>
                        </a:lnSpc>
                      </a:pPr>
                      <a:r>
                        <a:rPr sz="900" b="0" i="0">
                          <a:solidFill>
                            <a:srgbClr val="1F2937"/>
                          </a:solidFill>
                          <a:latin typeface="Calibri"/>
                        </a:rPr>
                        <a:t>Niveaux de requêtes L1–L4</a:t>
                      </a:r>
                    </a:p>
                  </a:txBody>
                  <a:tcPr marL="54864" marR="54864" marT="27432" marB="27432" anchor="ctr">
                    <a:solidFill>
                      <a:srgbClr val="FFFFFF"/>
                    </a:solidFill>
                  </a:tcPr>
                </a:tc>
                <a:tc>
                  <a:txBody>
                    <a:bodyPr wrap="square"/>
                    <a:lstStyle/>
                    <a:p>
                      <a:pPr algn="l">
                        <a:lnSpc>
                          <a:spcPct val="98000"/>
                        </a:lnSpc>
                      </a:pPr>
                      <a:r>
                        <a:rPr sz="900" b="0" i="0">
                          <a:solidFill>
                            <a:srgbClr val="1F2937"/>
                          </a:solidFill>
                          <a:latin typeface="Calibri"/>
                        </a:rPr>
                        <a:t>Zhao et al. 2024</a:t>
                      </a:r>
                    </a:p>
                  </a:txBody>
                  <a:tcPr marL="54864" marR="54864" marT="27432" marB="27432" anchor="ctr">
                    <a:solidFill>
                      <a:srgbClr val="FFFFFF"/>
                    </a:solidFill>
                  </a:tcPr>
                </a:tc>
                <a:tc>
                  <a:txBody>
                    <a:bodyPr wrap="square"/>
                    <a:lstStyle/>
                    <a:p>
                      <a:pPr algn="l">
                        <a:lnSpc>
                          <a:spcPct val="98000"/>
                        </a:lnSpc>
                      </a:pPr>
                      <a:r>
                        <a:rPr sz="900" b="0" i="0">
                          <a:solidFill>
                            <a:srgbClr val="1F2937"/>
                          </a:solidFill>
                          <a:latin typeface="Calibri"/>
                        </a:rPr>
                        <a:t>Cadre adopté puis audité : L1 et L2 mesurés, L3 couvert dans le corpus, L4 hors périmètre assumé</a:t>
                      </a:r>
                    </a:p>
                  </a:txBody>
                  <a:tcPr marL="54864" marR="54864" marT="27432" marB="27432" anchor="ctr">
                    <a:solidFill>
                      <a:srgbClr val="FFFFFF"/>
                    </a:solidFill>
                  </a:tcPr>
                </a:tc>
              </a:tr>
              <a:tr h="292608">
                <a:tc>
                  <a:txBody>
                    <a:bodyPr wrap="square"/>
                    <a:lstStyle/>
                    <a:p>
                      <a:pPr>
                        <a:lnSpc>
                          <a:spcPct val="98000"/>
                        </a:lnSpc>
                      </a:pPr>
                      <a:r>
                        <a:rPr sz="900" b="0" i="0">
                          <a:solidFill>
                            <a:srgbClr val="1F2937"/>
                          </a:solidFill>
                          <a:latin typeface="Calibri"/>
                        </a:rPr>
                        <a:t>Points d'échec RAG</a:t>
                      </a:r>
                    </a:p>
                  </a:txBody>
                  <a:tcPr marL="54864" marR="54864" marT="27432" marB="27432" anchor="ctr">
                    <a:solidFill>
                      <a:srgbClr val="F5F5F4"/>
                    </a:solidFill>
                  </a:tcPr>
                </a:tc>
                <a:tc>
                  <a:txBody>
                    <a:bodyPr wrap="square"/>
                    <a:lstStyle/>
                    <a:p>
                      <a:pPr algn="l">
                        <a:lnSpc>
                          <a:spcPct val="98000"/>
                        </a:lnSpc>
                      </a:pPr>
                      <a:r>
                        <a:rPr sz="900" b="0" i="0">
                          <a:solidFill>
                            <a:srgbClr val="1F2937"/>
                          </a:solidFill>
                          <a:latin typeface="Calibri"/>
                        </a:rPr>
                        <a:t>Barnett et al. 2024</a:t>
                      </a:r>
                    </a:p>
                  </a:txBody>
                  <a:tcPr marL="54864" marR="54864" marT="27432" marB="27432" anchor="ctr">
                    <a:solidFill>
                      <a:srgbClr val="F5F5F4"/>
                    </a:solidFill>
                  </a:tcPr>
                </a:tc>
                <a:tc>
                  <a:txBody>
                    <a:bodyPr wrap="square"/>
                    <a:lstStyle/>
                    <a:p>
                      <a:pPr algn="l">
                        <a:lnSpc>
                          <a:spcPct val="98000"/>
                        </a:lnSpc>
                      </a:pPr>
                      <a:r>
                        <a:rPr sz="900" b="0" i="0">
                          <a:solidFill>
                            <a:srgbClr val="1F2937"/>
                          </a:solidFill>
                          <a:latin typeface="Calibri"/>
                        </a:rPr>
                        <a:t>Itération sur des transcriptions réelles et quinze sondes adversariales (quatre défauts pour 0,11 $)</a:t>
                      </a:r>
                    </a:p>
                  </a:txBody>
                  <a:tcPr marL="54864" marR="54864" marT="27432" marB="27432" anchor="ctr">
                    <a:solidFill>
                      <a:srgbClr val="F5F5F4"/>
                    </a:solidFill>
                  </a:tcPr>
                </a:tc>
              </a:tr>
            </a:tbl>
          </a:graphicData>
        </a:graphic>
      </p:graphicFrame>
      <p:sp>
        <p:nvSpPr>
          <p:cNvPr id="7" name="TextBox 6"/>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8" name="TextBox 7"/>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IV · BILAN</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Contributions — et choix négatifs éclairés</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886200"/>
          </a:xfrm>
          <a:prstGeom prst="rect">
            <a:avLst/>
          </a:prstGeom>
          <a:noFill/>
        </p:spPr>
        <p:txBody>
          <a:bodyPr wrap="square">
            <a:spAutoFit/>
          </a:bodyPr>
          <a:lstStyle/>
          <a:p>
            <a:pPr>
              <a:lnSpc>
                <a:spcPct val="102000"/>
              </a:lnSpc>
              <a:spcAft>
                <a:spcPts val="600"/>
              </a:spcAft>
            </a:pPr>
            <a:r>
              <a:rPr sz="1400" b="1" i="0">
                <a:solidFill>
                  <a:srgbClr val="16A34A"/>
                </a:solidFill>
                <a:latin typeface="Calibri"/>
              </a:rPr>
              <a:t>▪  </a:t>
            </a:r>
            <a:r>
              <a:rPr sz="1400" b="1" i="0">
                <a:solidFill>
                  <a:srgbClr val="1F2937"/>
                </a:solidFill>
                <a:latin typeface="Calibri"/>
              </a:rPr>
              <a:t>Au-delà de l'état de la pratique publié</a:t>
            </a:r>
            <a:r>
              <a:rPr sz="1400" b="0" i="0">
                <a:solidFill>
                  <a:srgbClr val="1F2937"/>
                </a:solidFill>
                <a:latin typeface="Calibri"/>
              </a:rPr>
              <a:t> :</a:t>
            </a:r>
          </a:p>
          <a:p>
            <a:pPr>
              <a:lnSpc>
                <a:spcPct val="102000"/>
              </a:lnSpc>
              <a:spcAft>
                <a:spcPts val="400"/>
              </a:spcAft>
            </a:pPr>
            <a:r>
              <a:rPr sz="1250" b="0" i="0">
                <a:solidFill>
                  <a:srgbClr val="6B7280"/>
                </a:solidFill>
                <a:latin typeface="Calibri"/>
              </a:rPr>
              <a:t>    –  </a:t>
            </a:r>
            <a:r>
              <a:rPr sz="1250" b="0" i="0">
                <a:solidFill>
                  <a:srgbClr val="374151"/>
                </a:solidFill>
                <a:latin typeface="Calibri"/>
              </a:rPr>
              <a:t>une vérification factuelle par affirmations, en production et à chaque tour, là où la littérature l'utilise hors ligne ;</a:t>
            </a:r>
          </a:p>
          <a:p>
            <a:pPr>
              <a:lnSpc>
                <a:spcPct val="102000"/>
              </a:lnSpc>
              <a:spcAft>
                <a:spcPts val="400"/>
              </a:spcAft>
            </a:pPr>
            <a:r>
              <a:rPr sz="1250" b="0" i="0">
                <a:solidFill>
                  <a:srgbClr val="6B7280"/>
                </a:solidFill>
                <a:latin typeface="Calibri"/>
              </a:rPr>
              <a:t>    –  </a:t>
            </a:r>
            <a:r>
              <a:rPr sz="1250" b="0" i="0">
                <a:solidFill>
                  <a:srgbClr val="374151"/>
                </a:solidFill>
                <a:latin typeface="Calibri"/>
              </a:rPr>
              <a:t>un registre de faits à provenance de niveau base de données (texte brut, valeur, devise, page, section), adossé à l'index vectoriel ;</a:t>
            </a:r>
          </a:p>
          <a:p>
            <a:pPr>
              <a:lnSpc>
                <a:spcPct val="102000"/>
              </a:lnSpc>
              <a:spcAft>
                <a:spcPts val="400"/>
              </a:spcAft>
            </a:pPr>
            <a:r>
              <a:rPr sz="1250" b="0" i="0">
                <a:solidFill>
                  <a:srgbClr val="6B7280"/>
                </a:solidFill>
                <a:latin typeface="Calibri"/>
              </a:rPr>
              <a:t>    –  </a:t>
            </a:r>
            <a:r>
              <a:rPr sz="1250" b="0" i="0">
                <a:solidFill>
                  <a:srgbClr val="374151"/>
                </a:solidFill>
                <a:latin typeface="Calibri"/>
              </a:rPr>
              <a:t>une méta-évaluation outillée : adjudication en aveugle, cinq bras de scoring, ratification signée, pour que l'instrument ne puisse pas dériver en silence ;</a:t>
            </a:r>
          </a:p>
          <a:p>
            <a:pPr>
              <a:lnSpc>
                <a:spcPct val="102000"/>
              </a:lnSpc>
              <a:spcAft>
                <a:spcPts val="400"/>
              </a:spcAft>
            </a:pPr>
            <a:r>
              <a:rPr sz="1250" b="0" i="0">
                <a:solidFill>
                  <a:srgbClr val="6B7280"/>
                </a:solidFill>
                <a:latin typeface="Calibri"/>
              </a:rPr>
              <a:t>    –  </a:t>
            </a:r>
            <a:r>
              <a:rPr sz="1250" b="0" i="0">
                <a:solidFill>
                  <a:srgbClr val="374151"/>
                </a:solidFill>
                <a:latin typeface="Calibri"/>
              </a:rPr>
              <a:t>une métrologie des releases : paires de même configuration, bande de bruit publiée d'abord, portes en nombres entiers, journal en ajout seul.</a:t>
            </a:r>
          </a:p>
          <a:p>
            <a:pPr>
              <a:lnSpc>
                <a:spcPct val="102000"/>
              </a:lnSpc>
              <a:spcAft>
                <a:spcPts val="600"/>
              </a:spcAft>
            </a:pPr>
            <a:r>
              <a:rPr sz="1400" b="1" i="0">
                <a:solidFill>
                  <a:srgbClr val="16A34A"/>
                </a:solidFill>
                <a:latin typeface="Calibri"/>
              </a:rPr>
              <a:t>▪  </a:t>
            </a:r>
            <a:r>
              <a:rPr sz="1400" b="1" i="0">
                <a:solidFill>
                  <a:srgbClr val="1F2937"/>
                </a:solidFill>
                <a:latin typeface="Calibri"/>
              </a:rPr>
              <a:t>Des choix négatifs éclairés</a:t>
            </a:r>
            <a:r>
              <a:rPr sz="1400" b="0" i="0">
                <a:solidFill>
                  <a:srgbClr val="1F2937"/>
                </a:solidFill>
                <a:latin typeface="Calibri"/>
              </a:rPr>
              <a:t>, où la littérature a été considérée puis écartée par la mesure :</a:t>
            </a:r>
          </a:p>
          <a:p>
            <a:pPr>
              <a:lnSpc>
                <a:spcPct val="102000"/>
              </a:lnSpc>
              <a:spcAft>
                <a:spcPts val="400"/>
              </a:spcAft>
            </a:pPr>
            <a:r>
              <a:rPr sz="1250" b="0" i="0">
                <a:solidFill>
                  <a:srgbClr val="6B7280"/>
                </a:solidFill>
                <a:latin typeface="Calibri"/>
              </a:rPr>
              <a:t>    –  </a:t>
            </a:r>
            <a:r>
              <a:rPr sz="1250" b="0" i="0">
                <a:solidFill>
                  <a:srgbClr val="374151"/>
                </a:solidFill>
                <a:latin typeface="Calibri"/>
              </a:rPr>
              <a:t>GraphRAG, la recherche agentique et le contexte long massif : aucun écart mesuré ne pointe vers eux ; ils restent écartés tant qu'un défaut mesuré ne les réclame pas ;</a:t>
            </a:r>
          </a:p>
          <a:p>
            <a:pPr>
              <a:lnSpc>
                <a:spcPct val="102000"/>
              </a:lnSpc>
              <a:spcAft>
                <a:spcPts val="400"/>
              </a:spcAft>
            </a:pPr>
            <a:r>
              <a:rPr sz="1250" b="0" i="0">
                <a:solidFill>
                  <a:srgbClr val="6B7280"/>
                </a:solidFill>
                <a:latin typeface="Calibri"/>
              </a:rPr>
              <a:t>    –  </a:t>
            </a:r>
            <a:r>
              <a:rPr sz="1250" b="0" i="0">
                <a:solidFill>
                  <a:srgbClr val="374151"/>
                </a:solidFill>
                <a:latin typeface="Calibri"/>
              </a:rPr>
              <a:t>l'auto-réparation, réfutée par A/B et retirée ; l'index par sections, rejeté après A/B (un cas mieux, six pires) au profit d'une voie plus simple.</a:t>
            </a:r>
          </a:p>
        </p:txBody>
      </p:sp>
      <p:sp>
        <p:nvSpPr>
          <p:cNvPr id="7" name="Rounded Rectangle 6"/>
          <p:cNvSpPr/>
          <p:nvPr/>
        </p:nvSpPr>
        <p:spPr>
          <a:xfrm>
            <a:off x="548640" y="5760720"/>
            <a:ext cx="11091672" cy="658368"/>
          </a:xfrm>
          <a:prstGeom prst="roundRect">
            <a:avLst>
              <a:gd name="adj" fmla="val 14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37160" tIns="64008"/>
          <a:lstStyle/>
          <a:p>
            <a:pPr algn="ctr">
              <a:lnSpc>
                <a:spcPct val="100000"/>
              </a:lnSpc>
            </a:pPr>
            <a:r>
              <a:rPr sz="1050" b="1" i="0">
                <a:solidFill>
                  <a:srgbClr val="0C4A6E"/>
                </a:solidFill>
                <a:latin typeface="Calibri"/>
              </a:rPr>
              <a:t>LITTÉRATURE — </a:t>
            </a:r>
            <a:r>
              <a:rPr sz="1050" b="0" i="0">
                <a:solidFill>
                  <a:srgbClr val="0C4A6E"/>
                </a:solidFill>
                <a:latin typeface="Calibri"/>
              </a:rPr>
              <a:t>Edge et al. 2024 (GraphRAG) et la vague agentique : la revue de littérature sert aussi à savoir ce que l'on n'adopte pas. Chaque non-adoption est adossée à l'absence d'un écart mesuré, pas à une préférence.</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IV · BILAN</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Limites connues et travaux futurs</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931920"/>
          </a:xfrm>
          <a:prstGeom prst="rect">
            <a:avLst/>
          </a:prstGeom>
          <a:noFill/>
        </p:spPr>
        <p:txBody>
          <a:bodyPr wrap="square">
            <a:spAutoFit/>
          </a:bodyPr>
          <a:lstStyle/>
          <a:p>
            <a:pPr>
              <a:lnSpc>
                <a:spcPct val="102000"/>
              </a:lnSpc>
              <a:spcAft>
                <a:spcPts val="600"/>
              </a:spcAft>
            </a:pPr>
            <a:r>
              <a:rPr sz="1350" b="1" i="0">
                <a:solidFill>
                  <a:srgbClr val="16A34A"/>
                </a:solidFill>
                <a:latin typeface="Calibri"/>
              </a:rPr>
              <a:t>▪  </a:t>
            </a:r>
            <a:r>
              <a:rPr sz="1350" b="1" i="0">
                <a:solidFill>
                  <a:srgbClr val="1F2937"/>
                </a:solidFill>
                <a:latin typeface="Calibri"/>
              </a:rPr>
              <a:t>Mesure.</a:t>
            </a:r>
            <a:r>
              <a:rPr sz="1350" b="0" i="0">
                <a:solidFill>
                  <a:srgbClr val="1F2937"/>
                </a:solidFill>
                <a:latin typeface="Calibri"/>
              </a:rPr>
              <a:t> Huit cas gold multi-tours, ajoutés en septembre 2026 (de 157 à 165), attendent leur paire de certification. Le gold couvre 25,6 % des documents, pour une cible d'au moins 30 %. Une troisième habitude de paraphrase sur les listes ferait du critère « sous-chaîne à l'octet » une question de protocole.</a:t>
            </a:r>
          </a:p>
          <a:p>
            <a:pPr>
              <a:lnSpc>
                <a:spcPct val="102000"/>
              </a:lnSpc>
              <a:spcAft>
                <a:spcPts val="600"/>
              </a:spcAft>
            </a:pPr>
            <a:r>
              <a:rPr sz="1350" b="1" i="0">
                <a:solidFill>
                  <a:srgbClr val="16A34A"/>
                </a:solidFill>
                <a:latin typeface="Calibri"/>
              </a:rPr>
              <a:t>▪  </a:t>
            </a:r>
            <a:r>
              <a:rPr sz="1350" b="1" i="0">
                <a:solidFill>
                  <a:srgbClr val="1F2937"/>
                </a:solidFill>
                <a:latin typeface="Calibri"/>
              </a:rPr>
              <a:t>Défauts nommés, correctifs en file</a:t>
            </a:r>
            <a:r>
              <a:rPr sz="1350" b="0" i="0">
                <a:solidFill>
                  <a:srgbClr val="1F2937"/>
                </a:solidFill>
                <a:latin typeface="Calibri"/>
              </a:rPr>
              <a:t> : les affirmations de comptage des listes inverses (« 41 propositions citent l'UNDP » : les éléments se vérifient, le compte n'a pas de clé de preuve) ; l'attribution des opérandes dans l'arithmétique dérivée ; un marqueur de troncature visible.</a:t>
            </a:r>
          </a:p>
          <a:p>
            <a:pPr>
              <a:lnSpc>
                <a:spcPct val="102000"/>
              </a:lnSpc>
              <a:spcAft>
                <a:spcPts val="600"/>
              </a:spcAft>
            </a:pPr>
            <a:r>
              <a:rPr sz="1350" b="1" i="0">
                <a:solidFill>
                  <a:srgbClr val="16A34A"/>
                </a:solidFill>
                <a:latin typeface="Calibri"/>
              </a:rPr>
              <a:t>▪  </a:t>
            </a:r>
            <a:r>
              <a:rPr sz="1350" b="1" i="0">
                <a:solidFill>
                  <a:srgbClr val="1F2937"/>
                </a:solidFill>
                <a:latin typeface="Calibri"/>
              </a:rPr>
              <a:t>Couverture.</a:t>
            </a:r>
            <a:r>
              <a:rPr sz="1350" b="0" i="0">
                <a:solidFill>
                  <a:srgbClr val="1F2937"/>
                </a:solidFill>
                <a:latin typeface="Calibri"/>
              </a:rPr>
              <a:t> La phase 5a, l'ingestion des politiques du GCF pour un vrai niveau L3, attend une décision d'acquisition ; le champ « thème » n'est pas indexé, et le refus honnête est mesuré en attendant ; la phase 6 concerne les instruments.</a:t>
            </a:r>
          </a:p>
          <a:p>
            <a:pPr>
              <a:lnSpc>
                <a:spcPct val="102000"/>
              </a:lnSpc>
              <a:spcAft>
                <a:spcPts val="600"/>
              </a:spcAft>
            </a:pPr>
            <a:r>
              <a:rPr sz="1350" b="1" i="0">
                <a:solidFill>
                  <a:srgbClr val="16A34A"/>
                </a:solidFill>
                <a:latin typeface="Calibri"/>
              </a:rPr>
              <a:t>▪  </a:t>
            </a:r>
            <a:r>
              <a:rPr sz="1350" b="1" i="0">
                <a:solidFill>
                  <a:srgbClr val="1F2937"/>
                </a:solidFill>
                <a:latin typeface="Calibri"/>
              </a:rPr>
              <a:t>Modèles.</a:t>
            </a:r>
            <a:r>
              <a:rPr sz="1350" b="0" i="0">
                <a:solidFill>
                  <a:srgbClr val="1F2937"/>
                </a:solidFill>
                <a:latin typeface="Calibri"/>
              </a:rPr>
              <a:t> Un A/B d'embeddings multilingue (17 cas français dans le gold) ; trois corpus d'extraction restants (des travaux de 11 minutes) ; 205 pages pivotées à ré-extraire.</a:t>
            </a:r>
          </a:p>
          <a:p>
            <a:pPr>
              <a:lnSpc>
                <a:spcPct val="102000"/>
              </a:lnSpc>
              <a:spcAft>
                <a:spcPts val="600"/>
              </a:spcAft>
            </a:pPr>
            <a:r>
              <a:rPr sz="1350" b="1" i="0">
                <a:solidFill>
                  <a:srgbClr val="16A34A"/>
                </a:solidFill>
                <a:latin typeface="Calibri"/>
              </a:rPr>
              <a:t>▪  </a:t>
            </a:r>
            <a:r>
              <a:rPr sz="1350" b="1" i="0">
                <a:solidFill>
                  <a:srgbClr val="1F2937"/>
                </a:solidFill>
                <a:latin typeface="Calibri"/>
              </a:rPr>
              <a:t>Opérations.</a:t>
            </a:r>
            <a:r>
              <a:rPr sz="1350" b="0" i="0">
                <a:solidFill>
                  <a:srgbClr val="1F2937"/>
                </a:solidFill>
                <a:latin typeface="Calibri"/>
              </a:rPr>
              <a:t> Révoquer les cinq clés divulguées ; retirer deux fichiers de thème périmés du serveur ; pousser trois commits ; vérifier les crédits d'API, partagés entre l'évaluation et la production, avant toute démonstration.</a:t>
            </a:r>
          </a:p>
          <a:p>
            <a:pPr>
              <a:lnSpc>
                <a:spcPct val="102000"/>
              </a:lnSpc>
              <a:spcAft>
                <a:spcPts val="600"/>
              </a:spcAft>
            </a:pPr>
            <a:r>
              <a:rPr sz="1350" b="1" i="0">
                <a:solidFill>
                  <a:srgbClr val="16A34A"/>
                </a:solidFill>
                <a:latin typeface="Calibri"/>
              </a:rPr>
              <a:t>▪  </a:t>
            </a:r>
            <a:r>
              <a:rPr sz="1350" b="1" i="0">
                <a:solidFill>
                  <a:srgbClr val="1F2937"/>
                </a:solidFill>
                <a:latin typeface="Calibri"/>
              </a:rPr>
              <a:t>La réparation comme suggestion</a:t>
            </a:r>
            <a:r>
              <a:rPr sz="1350" b="0" i="0">
                <a:solidFill>
                  <a:srgbClr val="1F2937"/>
                </a:solidFill>
                <a:latin typeface="Calibri"/>
              </a:rPr>
              <a:t> : réintroduire la réécriture à côté de la réponse, jamais à sa place. C'est documenté comme travail futur.</a:t>
            </a:r>
          </a:p>
          <a:p>
            <a:pPr>
              <a:lnSpc>
                <a:spcPct val="102000"/>
              </a:lnSpc>
              <a:spcAft>
                <a:spcPts val="600"/>
              </a:spcAft>
            </a:pPr>
            <a:r>
              <a:rPr sz="1350" b="1" i="0">
                <a:solidFill>
                  <a:srgbClr val="16A34A"/>
                </a:solidFill>
                <a:latin typeface="Calibri"/>
              </a:rPr>
              <a:t>▪  </a:t>
            </a:r>
            <a:r>
              <a:rPr sz="1350" b="1" i="0">
                <a:solidFill>
                  <a:srgbClr val="1F2937"/>
                </a:solidFill>
                <a:latin typeface="Calibri"/>
              </a:rPr>
              <a:t>Ingestion</a:t>
            </a:r>
            <a:r>
              <a:rPr sz="1350" b="0" i="0">
                <a:solidFill>
                  <a:srgbClr val="1F2937"/>
                </a:solidFill>
                <a:latin typeface="Calibri"/>
              </a:rPr>
              <a:t>, revue du 7 septembre 2026, rien de corrigé encore : 1 697 pages de l'index (4 %) portent des boucles de répétition du modèle vision-langage. Sur FP275, page 7, le bloc A.5 est copié 24 fois et A.6 est perdu, alors que la couche texte du PDF l'a intact. S'y ajoutent 9 492 segments réduits à un seul titre, et une déduplication par page qui laisse passer les doublons d'annexes. La cure prévue : un détecteur renforcé, un repli sur la couche texte, une ré-extraction ciblée et la reconstruction de l'index.</a:t>
            </a:r>
          </a:p>
        </p:txBody>
      </p:sp>
      <p:sp>
        <p:nvSpPr>
          <p:cNvPr id="7" name="TextBox 6"/>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8" name="TextBox 7"/>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IV · BILAN</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Conclusion</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25296"/>
            <a:ext cx="11091672" cy="3063240"/>
          </a:xfrm>
          <a:prstGeom prst="rect">
            <a:avLst/>
          </a:prstGeom>
          <a:noFill/>
        </p:spPr>
        <p:txBody>
          <a:bodyPr wrap="square">
            <a:spAutoFit/>
          </a:bodyPr>
          <a:lstStyle/>
          <a:p>
            <a:pPr>
              <a:lnSpc>
                <a:spcPct val="102000"/>
              </a:lnSpc>
              <a:spcAft>
                <a:spcPts val="600"/>
              </a:spcAft>
            </a:pPr>
            <a:r>
              <a:rPr sz="1350" b="1" i="0">
                <a:solidFill>
                  <a:srgbClr val="16A34A"/>
                </a:solidFill>
                <a:latin typeface="Calibri"/>
              </a:rPr>
              <a:t>▪  </a:t>
            </a:r>
            <a:r>
              <a:rPr sz="1350" b="1" i="0">
                <a:solidFill>
                  <a:srgbClr val="1F2937"/>
                </a:solidFill>
                <a:latin typeface="Calibri"/>
              </a:rPr>
              <a:t>Synthèse assistée par RAG.</a:t>
            </a:r>
            <a:r>
              <a:rPr sz="1350" b="0" i="0">
                <a:solidFill>
                  <a:srgbClr val="1F2937"/>
                </a:solidFill>
                <a:latin typeface="Calibri"/>
              </a:rPr>
              <a:t> De la problématique, citer juste sur un corpus sectoriel, à une plateforme qui répond, compare, agrège, liste et suit le fil, avec citation à la phrase, ancrage au pixel et vérification affirmation par affirmation en production. 165 cas gold en douze classes.</a:t>
            </a:r>
          </a:p>
          <a:p>
            <a:pPr>
              <a:lnSpc>
                <a:spcPct val="102000"/>
              </a:lnSpc>
              <a:spcAft>
                <a:spcPts val="600"/>
              </a:spcAft>
            </a:pPr>
            <a:r>
              <a:rPr sz="1350" b="1" i="0">
                <a:solidFill>
                  <a:srgbClr val="16A34A"/>
                </a:solidFill>
                <a:latin typeface="Calibri"/>
              </a:rPr>
              <a:t>▪  </a:t>
            </a:r>
            <a:r>
              <a:rPr sz="1350" b="1" i="0">
                <a:solidFill>
                  <a:srgbClr val="1F2937"/>
                </a:solidFill>
                <a:latin typeface="Calibri"/>
              </a:rPr>
              <a:t>Approche hybride.</a:t>
            </a:r>
            <a:r>
              <a:rPr sz="1350" b="0" i="0">
                <a:solidFill>
                  <a:srgbClr val="1F2937"/>
                </a:solidFill>
                <a:latin typeface="Calibri"/>
              </a:rPr>
              <a:t> À chaque couche, une voie déterministe et une voie neuronale, arbitrées par la mesure : lexical et dense (le rappel des identifiants passe de 6 % à 100 %), registre et extraits, vérificateur exact et juge borné, modèle vision-langage et couche texte.</a:t>
            </a:r>
          </a:p>
          <a:p>
            <a:pPr>
              <a:lnSpc>
                <a:spcPct val="102000"/>
              </a:lnSpc>
              <a:spcAft>
                <a:spcPts val="600"/>
              </a:spcAft>
            </a:pPr>
            <a:r>
              <a:rPr sz="1350" b="1" i="0">
                <a:solidFill>
                  <a:srgbClr val="16A34A"/>
                </a:solidFill>
                <a:latin typeface="Calibri"/>
              </a:rPr>
              <a:t>▪  </a:t>
            </a:r>
            <a:r>
              <a:rPr sz="1350" b="1" i="0">
                <a:solidFill>
                  <a:srgbClr val="1F2937"/>
                </a:solidFill>
                <a:latin typeface="Calibri"/>
              </a:rPr>
              <a:t>Documents sectoriels.</a:t>
            </a:r>
            <a:r>
              <a:rPr sz="1350" b="0" i="0">
                <a:solidFill>
                  <a:srgbClr val="1F2937"/>
                </a:solidFill>
                <a:latin typeface="Calibri"/>
              </a:rPr>
              <a:t> Le corpus du GCF, long, tabulaire, contradictoire et daté, a dicté les mécanismes : monde clos, registre à provenance, conflits à deux valeurs. La connaissance du secteur est concentrée dans la grammaire des identifiants, les gabarits de champs et le prompt ; le reste se transporte.</a:t>
            </a:r>
          </a:p>
          <a:p>
            <a:pPr>
              <a:lnSpc>
                <a:spcPct val="102000"/>
              </a:lnSpc>
              <a:spcAft>
                <a:spcPts val="600"/>
              </a:spcAft>
            </a:pPr>
            <a:r>
              <a:rPr sz="1350" b="1" i="0">
                <a:solidFill>
                  <a:srgbClr val="16A34A"/>
                </a:solidFill>
                <a:latin typeface="Calibri"/>
              </a:rPr>
              <a:t>▪  </a:t>
            </a:r>
            <a:r>
              <a:rPr sz="1350" b="1" i="0">
                <a:solidFill>
                  <a:srgbClr val="1F2937"/>
                </a:solidFill>
                <a:latin typeface="Calibri"/>
              </a:rPr>
              <a:t>Trois leçons transversales</a:t>
            </a:r>
            <a:r>
              <a:rPr sz="1350" b="0" i="0">
                <a:solidFill>
                  <a:srgbClr val="1F2937"/>
                </a:solidFill>
                <a:latin typeface="Calibri"/>
              </a:rPr>
              <a:t> :</a:t>
            </a:r>
          </a:p>
          <a:p>
            <a:pPr>
              <a:lnSpc>
                <a:spcPct val="102000"/>
              </a:lnSpc>
              <a:spcAft>
                <a:spcPts val="400"/>
              </a:spcAft>
            </a:pPr>
            <a:r>
              <a:rPr sz="1200" b="0" i="0">
                <a:solidFill>
                  <a:srgbClr val="6B7280"/>
                </a:solidFill>
                <a:latin typeface="Calibri"/>
              </a:rPr>
              <a:t>    –  </a:t>
            </a:r>
            <a:r>
              <a:rPr sz="1200" b="0" i="0">
                <a:solidFill>
                  <a:srgbClr val="374151"/>
                </a:solidFill>
                <a:latin typeface="Calibri"/>
              </a:rPr>
              <a:t>mesurer avant d'affirmer : la variance d'abord, des portes en nombres entiers, l'A/B avant l'adoption ;</a:t>
            </a:r>
          </a:p>
          <a:p>
            <a:pPr>
              <a:lnSpc>
                <a:spcPct val="102000"/>
              </a:lnSpc>
              <a:spcAft>
                <a:spcPts val="400"/>
              </a:spcAft>
            </a:pPr>
            <a:r>
              <a:rPr sz="1200" b="0" i="0">
                <a:solidFill>
                  <a:srgbClr val="6B7280"/>
                </a:solidFill>
                <a:latin typeface="Calibri"/>
              </a:rPr>
              <a:t>    –  </a:t>
            </a:r>
            <a:r>
              <a:rPr sz="1200" b="0" i="0">
                <a:solidFill>
                  <a:srgbClr val="374151"/>
                </a:solidFill>
                <a:latin typeface="Calibri"/>
              </a:rPr>
              <a:t>un système ne peut pas se noter lui-même : un gold humain en aveugle, un juge audité, une ratification signée ;</a:t>
            </a:r>
          </a:p>
          <a:p>
            <a:pPr>
              <a:lnSpc>
                <a:spcPct val="102000"/>
              </a:lnSpc>
              <a:spcAft>
                <a:spcPts val="400"/>
              </a:spcAft>
            </a:pPr>
            <a:r>
              <a:rPr sz="1200" b="0" i="0">
                <a:solidFill>
                  <a:srgbClr val="6B7280"/>
                </a:solidFill>
                <a:latin typeface="Calibri"/>
              </a:rPr>
              <a:t>    –  </a:t>
            </a:r>
            <a:r>
              <a:rPr sz="1200" b="0" i="0">
                <a:solidFill>
                  <a:srgbClr val="374151"/>
                </a:solidFill>
                <a:latin typeface="Calibri"/>
              </a:rPr>
              <a:t>l'honnêteté comme fonctionnalité : des absences confirmées, des conflits à deux valeurs, des listes tronquées qui le disent, une porte rouge assumée.</a:t>
            </a:r>
          </a:p>
        </p:txBody>
      </p:sp>
      <p:sp>
        <p:nvSpPr>
          <p:cNvPr id="7" name="Rounded Rectangle 6"/>
          <p:cNvSpPr/>
          <p:nvPr/>
        </p:nvSpPr>
        <p:spPr>
          <a:xfrm>
            <a:off x="548640" y="4800600"/>
            <a:ext cx="2130552" cy="713232"/>
          </a:xfrm>
          <a:prstGeom prst="roundRect">
            <a:avLst>
              <a:gd name="adj" fmla="val 1200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bIns="18288"/>
          <a:lstStyle/>
          <a:p>
            <a:pPr algn="ctr"/>
            <a:r>
              <a:rPr sz="1500" b="1" i="0">
                <a:solidFill>
                  <a:srgbClr val="14532D"/>
                </a:solidFill>
                <a:latin typeface="Calibri"/>
              </a:rPr>
              <a:t>57 % → 97,8 %</a:t>
            </a:r>
          </a:p>
          <a:p>
            <a:pPr algn="ctr"/>
            <a:r>
              <a:rPr sz="900" b="0" i="0">
                <a:solidFill>
                  <a:srgbClr val="6B7280"/>
                </a:solidFill>
                <a:latin typeface="Calibri"/>
              </a:rPr>
              <a:t>affirmations soutenues, de R1 à la paire R23 (97,0 / 97,8 %)</a:t>
            </a:r>
          </a:p>
        </p:txBody>
      </p:sp>
      <p:sp>
        <p:nvSpPr>
          <p:cNvPr id="8" name="Rounded Rectangle 7"/>
          <p:cNvSpPr/>
          <p:nvPr/>
        </p:nvSpPr>
        <p:spPr>
          <a:xfrm>
            <a:off x="2788920" y="4800600"/>
            <a:ext cx="2130552" cy="713232"/>
          </a:xfrm>
          <a:prstGeom prst="roundRect">
            <a:avLst>
              <a:gd name="adj" fmla="val 1200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bIns="18288"/>
          <a:lstStyle/>
          <a:p>
            <a:pPr algn="ctr"/>
            <a:r>
              <a:rPr sz="1500" b="1" i="0">
                <a:solidFill>
                  <a:srgbClr val="14532D"/>
                </a:solidFill>
                <a:latin typeface="Calibri"/>
              </a:rPr>
              <a:t>165 cas</a:t>
            </a:r>
          </a:p>
          <a:p>
            <a:pPr algn="ctr"/>
            <a:r>
              <a:rPr sz="900" b="0" i="0">
                <a:solidFill>
                  <a:srgbClr val="6B7280"/>
                </a:solidFill>
                <a:latin typeface="Calibri"/>
              </a:rPr>
              <a:t>gold, 12 classes, FR+EN · 8 multi-tour à certifier</a:t>
            </a:r>
          </a:p>
        </p:txBody>
      </p:sp>
      <p:sp>
        <p:nvSpPr>
          <p:cNvPr id="9" name="Rounded Rectangle 8"/>
          <p:cNvSpPr/>
          <p:nvPr/>
        </p:nvSpPr>
        <p:spPr>
          <a:xfrm>
            <a:off x="5029200" y="4800600"/>
            <a:ext cx="2130552" cy="713232"/>
          </a:xfrm>
          <a:prstGeom prst="roundRect">
            <a:avLst>
              <a:gd name="adj" fmla="val 1200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bIns="18288"/>
          <a:lstStyle/>
          <a:p>
            <a:pPr algn="ctr"/>
            <a:r>
              <a:rPr sz="1500" b="1" i="0">
                <a:solidFill>
                  <a:srgbClr val="14532D"/>
                </a:solidFill>
                <a:latin typeface="Calibri"/>
              </a:rPr>
              <a:t>59/71</a:t>
            </a:r>
          </a:p>
          <a:p>
            <a:pPr algn="ctr"/>
            <a:r>
              <a:rPr sz="900" b="0" i="0">
                <a:solidFill>
                  <a:srgbClr val="6B7280"/>
                </a:solidFill>
                <a:latin typeface="Calibri"/>
              </a:rPr>
              <a:t>verdicts du vérificateur infirmés par l'adjudication en aveugle</a:t>
            </a:r>
          </a:p>
        </p:txBody>
      </p:sp>
      <p:sp>
        <p:nvSpPr>
          <p:cNvPr id="10" name="Rounded Rectangle 9"/>
          <p:cNvSpPr/>
          <p:nvPr/>
        </p:nvSpPr>
        <p:spPr>
          <a:xfrm>
            <a:off x="7269480" y="4800600"/>
            <a:ext cx="2130552" cy="713232"/>
          </a:xfrm>
          <a:prstGeom prst="roundRect">
            <a:avLst>
              <a:gd name="adj" fmla="val 1200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bIns="18288"/>
          <a:lstStyle/>
          <a:p>
            <a:pPr algn="ctr"/>
            <a:r>
              <a:rPr sz="1500" b="1" i="0">
                <a:solidFill>
                  <a:srgbClr val="14532D"/>
                </a:solidFill>
                <a:latin typeface="Calibri"/>
              </a:rPr>
              <a:t>± 2–3 pp</a:t>
            </a:r>
          </a:p>
          <a:p>
            <a:pPr algn="ctr"/>
            <a:r>
              <a:rPr sz="900" b="0" i="0">
                <a:solidFill>
                  <a:srgbClr val="6B7280"/>
                </a:solidFill>
                <a:latin typeface="Calibri"/>
              </a:rPr>
              <a:t>bande de bruit publiée</a:t>
            </a:r>
          </a:p>
        </p:txBody>
      </p:sp>
      <p:sp>
        <p:nvSpPr>
          <p:cNvPr id="11" name="Rounded Rectangle 10"/>
          <p:cNvSpPr/>
          <p:nvPr/>
        </p:nvSpPr>
        <p:spPr>
          <a:xfrm>
            <a:off x="9509760" y="4800600"/>
            <a:ext cx="2130552" cy="713232"/>
          </a:xfrm>
          <a:prstGeom prst="roundRect">
            <a:avLst>
              <a:gd name="adj" fmla="val 1200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bIns="18288"/>
          <a:lstStyle/>
          <a:p>
            <a:pPr algn="ctr"/>
            <a:r>
              <a:rPr sz="1500" b="1" i="0">
                <a:solidFill>
                  <a:srgbClr val="14532D"/>
                </a:solidFill>
                <a:latin typeface="Calibri"/>
              </a:rPr>
              <a:t>en production</a:t>
            </a:r>
          </a:p>
          <a:p>
            <a:pPr algn="ctr"/>
            <a:r>
              <a:rPr sz="900" b="0" i="0">
                <a:solidFill>
                  <a:srgbClr val="6B7280"/>
                </a:solidFill>
                <a:latin typeface="Calibri"/>
              </a:rPr>
              <a:t>fp-gcf.ssa.tg</a:t>
            </a:r>
          </a:p>
        </p:txBody>
      </p:sp>
      <p:sp>
        <p:nvSpPr>
          <p:cNvPr id="12" name="TextBox 11"/>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13" name="TextBox 12"/>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502920"/>
          </a:xfrm>
          <a:prstGeom prst="rect">
            <a:avLst/>
          </a:prstGeom>
          <a:noFill/>
        </p:spPr>
        <p:txBody>
          <a:bodyPr wrap="square">
            <a:spAutoFit/>
          </a:bodyPr>
          <a:lstStyle/>
          <a:p>
            <a:r>
              <a:rPr sz="2400" b="1" i="0">
                <a:solidFill>
                  <a:srgbClr val="14532D"/>
                </a:solidFill>
                <a:latin typeface="Calibri"/>
              </a:rPr>
              <a:t>Références</a:t>
            </a:r>
          </a:p>
        </p:txBody>
      </p:sp>
      <p:sp>
        <p:nvSpPr>
          <p:cNvPr id="4" name="Rectangle 3"/>
          <p:cNvSpPr/>
          <p:nvPr/>
        </p:nvSpPr>
        <p:spPr>
          <a:xfrm>
            <a:off x="548640" y="76809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50976"/>
            <a:ext cx="5394960" cy="5120640"/>
          </a:xfrm>
          <a:prstGeom prst="rect">
            <a:avLst/>
          </a:prstGeom>
          <a:noFill/>
        </p:spPr>
        <p:txBody>
          <a:bodyPr wrap="square">
            <a:spAutoFit/>
          </a:bodyPr>
          <a:lstStyle/>
          <a:p>
            <a:pPr>
              <a:lnSpc>
                <a:spcPct val="100000"/>
              </a:lnSpc>
              <a:spcAft>
                <a:spcPts val="600"/>
              </a:spcAft>
            </a:pPr>
            <a:r>
              <a:rPr sz="1050" b="0" i="0">
                <a:solidFill>
                  <a:srgbClr val="16A34A"/>
                </a:solidFill>
                <a:latin typeface="Calibri"/>
              </a:rPr>
              <a:t>•  </a:t>
            </a:r>
            <a:r>
              <a:rPr sz="1050" b="0" i="0">
                <a:solidFill>
                  <a:srgbClr val="1F2937"/>
                </a:solidFill>
                <a:latin typeface="Calibri"/>
              </a:rPr>
              <a:t>Lewis et al., 2020. Retrieval-Augmented Generation for Knowledge-Intensive NLP Tasks. NeurIPS.</a:t>
            </a:r>
          </a:p>
          <a:p>
            <a:pPr>
              <a:lnSpc>
                <a:spcPct val="100000"/>
              </a:lnSpc>
              <a:spcAft>
                <a:spcPts val="600"/>
              </a:spcAft>
            </a:pPr>
            <a:r>
              <a:rPr sz="1050" b="0" i="0">
                <a:solidFill>
                  <a:srgbClr val="16A34A"/>
                </a:solidFill>
                <a:latin typeface="Calibri"/>
              </a:rPr>
              <a:t>•  </a:t>
            </a:r>
            <a:r>
              <a:rPr sz="1050" b="0" i="0">
                <a:solidFill>
                  <a:srgbClr val="1F2937"/>
                </a:solidFill>
                <a:latin typeface="Calibri"/>
              </a:rPr>
              <a:t>Guu et al., 2020. REALM: Retrieval-Augmented Language Model Pre-Training. ICML.</a:t>
            </a:r>
          </a:p>
          <a:p>
            <a:pPr>
              <a:lnSpc>
                <a:spcPct val="100000"/>
              </a:lnSpc>
              <a:spcAft>
                <a:spcPts val="600"/>
              </a:spcAft>
            </a:pPr>
            <a:r>
              <a:rPr sz="1050" b="0" i="0">
                <a:solidFill>
                  <a:srgbClr val="16A34A"/>
                </a:solidFill>
                <a:latin typeface="Calibri"/>
              </a:rPr>
              <a:t>•  </a:t>
            </a:r>
            <a:r>
              <a:rPr sz="1050" b="0" i="0">
                <a:solidFill>
                  <a:srgbClr val="1F2937"/>
                </a:solidFill>
                <a:latin typeface="Calibri"/>
              </a:rPr>
              <a:t>Karpukhin et al., 2020. Dense Passage Retrieval for Open-Domain QA. EMNLP.</a:t>
            </a:r>
          </a:p>
          <a:p>
            <a:pPr>
              <a:lnSpc>
                <a:spcPct val="100000"/>
              </a:lnSpc>
              <a:spcAft>
                <a:spcPts val="600"/>
              </a:spcAft>
            </a:pPr>
            <a:r>
              <a:rPr sz="1050" b="0" i="0">
                <a:solidFill>
                  <a:srgbClr val="16A34A"/>
                </a:solidFill>
                <a:latin typeface="Calibri"/>
              </a:rPr>
              <a:t>•  </a:t>
            </a:r>
            <a:r>
              <a:rPr sz="1050" b="0" i="0">
                <a:solidFill>
                  <a:srgbClr val="1F2937"/>
                </a:solidFill>
                <a:latin typeface="Calibri"/>
              </a:rPr>
              <a:t>Reimers &amp; Gurevych, 2019. Sentence-BERT. EMNLP.</a:t>
            </a:r>
          </a:p>
          <a:p>
            <a:pPr>
              <a:lnSpc>
                <a:spcPct val="100000"/>
              </a:lnSpc>
              <a:spcAft>
                <a:spcPts val="600"/>
              </a:spcAft>
            </a:pPr>
            <a:r>
              <a:rPr sz="1050" b="0" i="0">
                <a:solidFill>
                  <a:srgbClr val="16A34A"/>
                </a:solidFill>
                <a:latin typeface="Calibri"/>
              </a:rPr>
              <a:t>•  </a:t>
            </a:r>
            <a:r>
              <a:rPr sz="1050" b="0" i="0">
                <a:solidFill>
                  <a:srgbClr val="1F2937"/>
                </a:solidFill>
                <a:latin typeface="Calibri"/>
              </a:rPr>
              <a:t>Robertson &amp; Zaragoza, 2009. The Probabilistic Relevance Framework: BM25 and Beyond. FnTIR.</a:t>
            </a:r>
          </a:p>
          <a:p>
            <a:pPr>
              <a:lnSpc>
                <a:spcPct val="100000"/>
              </a:lnSpc>
              <a:spcAft>
                <a:spcPts val="600"/>
              </a:spcAft>
            </a:pPr>
            <a:r>
              <a:rPr sz="1050" b="0" i="0">
                <a:solidFill>
                  <a:srgbClr val="16A34A"/>
                </a:solidFill>
                <a:latin typeface="Calibri"/>
              </a:rPr>
              <a:t>•  </a:t>
            </a:r>
            <a:r>
              <a:rPr sz="1050" b="0" i="0">
                <a:solidFill>
                  <a:srgbClr val="1F2937"/>
                </a:solidFill>
                <a:latin typeface="Calibri"/>
              </a:rPr>
              <a:t>Cormack, Clarke &amp; Buettcher, 2009. Reciprocal Rank Fusion. SIGIR.</a:t>
            </a:r>
          </a:p>
          <a:p>
            <a:pPr>
              <a:lnSpc>
                <a:spcPct val="100000"/>
              </a:lnSpc>
              <a:spcAft>
                <a:spcPts val="600"/>
              </a:spcAft>
            </a:pPr>
            <a:r>
              <a:rPr sz="1050" b="0" i="0">
                <a:solidFill>
                  <a:srgbClr val="16A34A"/>
                </a:solidFill>
                <a:latin typeface="Calibri"/>
              </a:rPr>
              <a:t>•  </a:t>
            </a:r>
            <a:r>
              <a:rPr sz="1050" b="0" i="0">
                <a:solidFill>
                  <a:srgbClr val="1F2937"/>
                </a:solidFill>
                <a:latin typeface="Calibri"/>
              </a:rPr>
              <a:t>Nogueira &amp; Cho, 2019. Passage Re-ranking with BERT. arXiv:1901.04085.</a:t>
            </a:r>
          </a:p>
          <a:p>
            <a:pPr>
              <a:lnSpc>
                <a:spcPct val="100000"/>
              </a:lnSpc>
              <a:spcAft>
                <a:spcPts val="600"/>
              </a:spcAft>
            </a:pPr>
            <a:r>
              <a:rPr sz="1050" b="0" i="0">
                <a:solidFill>
                  <a:srgbClr val="16A34A"/>
                </a:solidFill>
                <a:latin typeface="Calibri"/>
              </a:rPr>
              <a:t>•  </a:t>
            </a:r>
            <a:r>
              <a:rPr sz="1050" b="0" i="0">
                <a:solidFill>
                  <a:srgbClr val="1F2937"/>
                </a:solidFill>
                <a:latin typeface="Calibri"/>
              </a:rPr>
              <a:t>Gao et al., 2023. Retrieval-Augmented Generation for LLMs: A Survey. arXiv:2312.10997.</a:t>
            </a:r>
          </a:p>
          <a:p>
            <a:pPr>
              <a:lnSpc>
                <a:spcPct val="100000"/>
              </a:lnSpc>
              <a:spcAft>
                <a:spcPts val="600"/>
              </a:spcAft>
            </a:pPr>
            <a:r>
              <a:rPr sz="1050" b="0" i="0">
                <a:solidFill>
                  <a:srgbClr val="16A34A"/>
                </a:solidFill>
                <a:latin typeface="Calibri"/>
              </a:rPr>
              <a:t>•  </a:t>
            </a:r>
            <a:r>
              <a:rPr sz="1050" b="0" i="0">
                <a:solidFill>
                  <a:srgbClr val="1F2937"/>
                </a:solidFill>
                <a:latin typeface="Calibri"/>
              </a:rPr>
              <a:t>Zhao et al., 2024. Retrieval Augmented Generation (RAG) and Beyond. arXiv:2409.14924.</a:t>
            </a:r>
          </a:p>
          <a:p>
            <a:pPr>
              <a:lnSpc>
                <a:spcPct val="100000"/>
              </a:lnSpc>
              <a:spcAft>
                <a:spcPts val="600"/>
              </a:spcAft>
            </a:pPr>
            <a:r>
              <a:rPr sz="1050" b="0" i="0">
                <a:solidFill>
                  <a:srgbClr val="16A34A"/>
                </a:solidFill>
                <a:latin typeface="Calibri"/>
              </a:rPr>
              <a:t>•  </a:t>
            </a:r>
            <a:r>
              <a:rPr sz="1050" b="0" i="0">
                <a:solidFill>
                  <a:srgbClr val="1F2937"/>
                </a:solidFill>
                <a:latin typeface="Calibri"/>
              </a:rPr>
              <a:t>Ji et al., 2023. Survey of Hallucination in Natural Language Generation. ACM Computing Surveys.</a:t>
            </a:r>
          </a:p>
          <a:p>
            <a:pPr>
              <a:lnSpc>
                <a:spcPct val="100000"/>
              </a:lnSpc>
              <a:spcAft>
                <a:spcPts val="600"/>
              </a:spcAft>
            </a:pPr>
            <a:r>
              <a:rPr sz="1050" b="0" i="0">
                <a:solidFill>
                  <a:srgbClr val="16A34A"/>
                </a:solidFill>
                <a:latin typeface="Calibri"/>
              </a:rPr>
              <a:t>•  </a:t>
            </a:r>
            <a:r>
              <a:rPr sz="1050" b="0" i="0">
                <a:solidFill>
                  <a:srgbClr val="1F2937"/>
                </a:solidFill>
                <a:latin typeface="Calibri"/>
              </a:rPr>
              <a:t>Shuster et al., 2021. Retrieval Augmentation Reduces Hallucination in Conversation. EMNLP Findings.</a:t>
            </a:r>
          </a:p>
          <a:p>
            <a:pPr>
              <a:lnSpc>
                <a:spcPct val="100000"/>
              </a:lnSpc>
              <a:spcAft>
                <a:spcPts val="600"/>
              </a:spcAft>
            </a:pPr>
            <a:r>
              <a:rPr sz="1050" b="0" i="0">
                <a:solidFill>
                  <a:srgbClr val="16A34A"/>
                </a:solidFill>
                <a:latin typeface="Calibri"/>
              </a:rPr>
              <a:t>•  </a:t>
            </a:r>
            <a:r>
              <a:rPr sz="1050" b="0" i="0">
                <a:solidFill>
                  <a:srgbClr val="1F2937"/>
                </a:solidFill>
                <a:latin typeface="Calibri"/>
              </a:rPr>
              <a:t>Rashkin et al., 2021. Measuring Attribution in NLG (AIS). arXiv:2112.12870.</a:t>
            </a:r>
          </a:p>
        </p:txBody>
      </p:sp>
      <p:sp>
        <p:nvSpPr>
          <p:cNvPr id="6" name="TextBox 5"/>
          <p:cNvSpPr txBox="1"/>
          <p:nvPr/>
        </p:nvSpPr>
        <p:spPr>
          <a:xfrm>
            <a:off x="6217920" y="950976"/>
            <a:ext cx="5394960" cy="5120640"/>
          </a:xfrm>
          <a:prstGeom prst="rect">
            <a:avLst/>
          </a:prstGeom>
          <a:noFill/>
        </p:spPr>
        <p:txBody>
          <a:bodyPr wrap="square">
            <a:spAutoFit/>
          </a:bodyPr>
          <a:lstStyle/>
          <a:p>
            <a:pPr>
              <a:lnSpc>
                <a:spcPct val="100000"/>
              </a:lnSpc>
              <a:spcAft>
                <a:spcPts val="600"/>
              </a:spcAft>
            </a:pPr>
            <a:r>
              <a:rPr sz="1050" b="0" i="0">
                <a:solidFill>
                  <a:srgbClr val="16A34A"/>
                </a:solidFill>
                <a:latin typeface="Calibri"/>
              </a:rPr>
              <a:t>•  </a:t>
            </a:r>
            <a:r>
              <a:rPr sz="1050" b="0" i="0">
                <a:solidFill>
                  <a:srgbClr val="1F2937"/>
                </a:solidFill>
                <a:latin typeface="Calibri"/>
              </a:rPr>
              <a:t>Bohnet et al., 2022. Attributed Question Answering. arXiv:2212.08037.</a:t>
            </a:r>
          </a:p>
          <a:p>
            <a:pPr>
              <a:lnSpc>
                <a:spcPct val="100000"/>
              </a:lnSpc>
              <a:spcAft>
                <a:spcPts val="600"/>
              </a:spcAft>
            </a:pPr>
            <a:r>
              <a:rPr sz="1050" b="0" i="0">
                <a:solidFill>
                  <a:srgbClr val="16A34A"/>
                </a:solidFill>
                <a:latin typeface="Calibri"/>
              </a:rPr>
              <a:t>•  </a:t>
            </a:r>
            <a:r>
              <a:rPr sz="1050" b="0" i="0">
                <a:solidFill>
                  <a:srgbClr val="1F2937"/>
                </a:solidFill>
                <a:latin typeface="Calibri"/>
              </a:rPr>
              <a:t>Nakano et al., 2021 (WebGPT) ; Menick et al., 2022 (GopherCite).</a:t>
            </a:r>
          </a:p>
          <a:p>
            <a:pPr>
              <a:lnSpc>
                <a:spcPct val="100000"/>
              </a:lnSpc>
              <a:spcAft>
                <a:spcPts val="600"/>
              </a:spcAft>
            </a:pPr>
            <a:r>
              <a:rPr sz="1050" b="0" i="0">
                <a:solidFill>
                  <a:srgbClr val="16A34A"/>
                </a:solidFill>
                <a:latin typeface="Calibri"/>
              </a:rPr>
              <a:t>•  </a:t>
            </a:r>
            <a:r>
              <a:rPr sz="1050" b="0" i="0">
                <a:solidFill>
                  <a:srgbClr val="1F2937"/>
                </a:solidFill>
                <a:latin typeface="Calibri"/>
              </a:rPr>
              <a:t>Gao et al., 2023. Enabling LLMs to Generate Text with Citations (ALCE). EMNLP.</a:t>
            </a:r>
          </a:p>
          <a:p>
            <a:pPr>
              <a:lnSpc>
                <a:spcPct val="100000"/>
              </a:lnSpc>
              <a:spcAft>
                <a:spcPts val="600"/>
              </a:spcAft>
            </a:pPr>
            <a:r>
              <a:rPr sz="1050" b="0" i="0">
                <a:solidFill>
                  <a:srgbClr val="16A34A"/>
                </a:solidFill>
                <a:latin typeface="Calibri"/>
              </a:rPr>
              <a:t>•  </a:t>
            </a:r>
            <a:r>
              <a:rPr sz="1050" b="0" i="0">
                <a:solidFill>
                  <a:srgbClr val="1F2937"/>
                </a:solidFill>
                <a:latin typeface="Calibri"/>
              </a:rPr>
              <a:t>Liu, Zhang &amp; Liang, 2023. Evaluating Verifiability in Generative Search Engines. EMNLP Findings.</a:t>
            </a:r>
          </a:p>
          <a:p>
            <a:pPr>
              <a:lnSpc>
                <a:spcPct val="100000"/>
              </a:lnSpc>
              <a:spcAft>
                <a:spcPts val="600"/>
              </a:spcAft>
            </a:pPr>
            <a:r>
              <a:rPr sz="1050" b="0" i="0">
                <a:solidFill>
                  <a:srgbClr val="16A34A"/>
                </a:solidFill>
                <a:latin typeface="Calibri"/>
              </a:rPr>
              <a:t>•  </a:t>
            </a:r>
            <a:r>
              <a:rPr sz="1050" b="0" i="0">
                <a:solidFill>
                  <a:srgbClr val="1F2937"/>
                </a:solidFill>
                <a:latin typeface="Calibri"/>
              </a:rPr>
              <a:t>Min et al., 2023. FActScore. EMNLP.</a:t>
            </a:r>
          </a:p>
          <a:p>
            <a:pPr>
              <a:lnSpc>
                <a:spcPct val="100000"/>
              </a:lnSpc>
              <a:spcAft>
                <a:spcPts val="600"/>
              </a:spcAft>
            </a:pPr>
            <a:r>
              <a:rPr sz="1050" b="0" i="0">
                <a:solidFill>
                  <a:srgbClr val="16A34A"/>
                </a:solidFill>
                <a:latin typeface="Calibri"/>
              </a:rPr>
              <a:t>•  </a:t>
            </a:r>
            <a:r>
              <a:rPr sz="1050" b="0" i="0">
                <a:solidFill>
                  <a:srgbClr val="1F2937"/>
                </a:solidFill>
                <a:latin typeface="Calibri"/>
              </a:rPr>
              <a:t>Es et al., 2023. RAGAS: Automated Evaluation of RAG. arXiv:2309.15217.</a:t>
            </a:r>
          </a:p>
          <a:p>
            <a:pPr>
              <a:lnSpc>
                <a:spcPct val="100000"/>
              </a:lnSpc>
              <a:spcAft>
                <a:spcPts val="600"/>
              </a:spcAft>
            </a:pPr>
            <a:r>
              <a:rPr sz="1050" b="0" i="0">
                <a:solidFill>
                  <a:srgbClr val="16A34A"/>
                </a:solidFill>
                <a:latin typeface="Calibri"/>
              </a:rPr>
              <a:t>•  </a:t>
            </a:r>
            <a:r>
              <a:rPr sz="1050" b="0" i="0">
                <a:solidFill>
                  <a:srgbClr val="1F2937"/>
                </a:solidFill>
                <a:latin typeface="Calibri"/>
              </a:rPr>
              <a:t>Saad-Falcon et al., 2024. ARES. NAACL.</a:t>
            </a:r>
          </a:p>
          <a:p>
            <a:pPr>
              <a:lnSpc>
                <a:spcPct val="100000"/>
              </a:lnSpc>
              <a:spcAft>
                <a:spcPts val="600"/>
              </a:spcAft>
            </a:pPr>
            <a:r>
              <a:rPr sz="1050" b="0" i="0">
                <a:solidFill>
                  <a:srgbClr val="16A34A"/>
                </a:solidFill>
                <a:latin typeface="Calibri"/>
              </a:rPr>
              <a:t>•  </a:t>
            </a:r>
            <a:r>
              <a:rPr sz="1050" b="0" i="0">
                <a:solidFill>
                  <a:srgbClr val="1F2937"/>
                </a:solidFill>
                <a:latin typeface="Calibri"/>
              </a:rPr>
              <a:t>Zheng et al., 2023. Judging LLM-as-a-Judge with MT-Bench. NeurIPS.</a:t>
            </a:r>
          </a:p>
          <a:p>
            <a:pPr>
              <a:lnSpc>
                <a:spcPct val="100000"/>
              </a:lnSpc>
              <a:spcAft>
                <a:spcPts val="600"/>
              </a:spcAft>
            </a:pPr>
            <a:r>
              <a:rPr sz="1050" b="0" i="0">
                <a:solidFill>
                  <a:srgbClr val="16A34A"/>
                </a:solidFill>
                <a:latin typeface="Calibri"/>
              </a:rPr>
              <a:t>•  </a:t>
            </a:r>
            <a:r>
              <a:rPr sz="1050" b="0" i="0">
                <a:solidFill>
                  <a:srgbClr val="1F2937"/>
                </a:solidFill>
                <a:latin typeface="Calibri"/>
              </a:rPr>
              <a:t>Huang et al., 2024. Large Language Models Cannot Self-Correct Reasoning Yet. ICLR.</a:t>
            </a:r>
          </a:p>
          <a:p>
            <a:pPr>
              <a:lnSpc>
                <a:spcPct val="100000"/>
              </a:lnSpc>
              <a:spcAft>
                <a:spcPts val="600"/>
              </a:spcAft>
            </a:pPr>
            <a:r>
              <a:rPr sz="1050" b="0" i="0">
                <a:solidFill>
                  <a:srgbClr val="16A34A"/>
                </a:solidFill>
                <a:latin typeface="Calibri"/>
              </a:rPr>
              <a:t>•  </a:t>
            </a:r>
            <a:r>
              <a:rPr sz="1050" b="0" i="0">
                <a:solidFill>
                  <a:srgbClr val="1F2937"/>
                </a:solidFill>
                <a:latin typeface="Calibri"/>
              </a:rPr>
              <a:t>Press et al., 2022. Self-Ask: Measuring the Compositionality Gap. arXiv:2210.03350 (EMNLP Findings 2023).</a:t>
            </a:r>
          </a:p>
          <a:p>
            <a:pPr>
              <a:lnSpc>
                <a:spcPct val="100000"/>
              </a:lnSpc>
              <a:spcAft>
                <a:spcPts val="600"/>
              </a:spcAft>
            </a:pPr>
            <a:r>
              <a:rPr sz="1050" b="0" i="0">
                <a:solidFill>
                  <a:srgbClr val="16A34A"/>
                </a:solidFill>
                <a:latin typeface="Calibri"/>
              </a:rPr>
              <a:t>•  </a:t>
            </a:r>
            <a:r>
              <a:rPr sz="1050" b="0" i="0">
                <a:solidFill>
                  <a:srgbClr val="1F2937"/>
                </a:solidFill>
                <a:latin typeface="Calibri"/>
              </a:rPr>
              <a:t>Kim et al., 2022 (Donut, ECCV) ; Blecher et al., 2023 (Nougat, arXiv).</a:t>
            </a:r>
          </a:p>
          <a:p>
            <a:pPr>
              <a:lnSpc>
                <a:spcPct val="100000"/>
              </a:lnSpc>
              <a:spcAft>
                <a:spcPts val="600"/>
              </a:spcAft>
            </a:pPr>
            <a:r>
              <a:rPr sz="1050" b="0" i="0">
                <a:solidFill>
                  <a:srgbClr val="16A34A"/>
                </a:solidFill>
                <a:latin typeface="Calibri"/>
              </a:rPr>
              <a:t>•  </a:t>
            </a:r>
            <a:r>
              <a:rPr sz="1050" b="0" i="0">
                <a:solidFill>
                  <a:srgbClr val="1F2937"/>
                </a:solidFill>
                <a:latin typeface="Calibri"/>
              </a:rPr>
              <a:t>Barnett et al., 2024. Seven Failure Points When Engineering a RAG System. CAIN. · Edge et al., 2024. GraphRAG. arXiv.</a:t>
            </a:r>
          </a:p>
        </p:txBody>
      </p:sp>
      <p:sp>
        <p:nvSpPr>
          <p:cNvPr id="7" name="TextBox 6"/>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8" name="TextBox 7"/>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ANNEXES</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Annexe A — le protocole des paires de releases</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5440680"/>
            <a:ext cx="11091672" cy="1005840"/>
          </a:xfrm>
          <a:prstGeom prst="rect">
            <a:avLst/>
          </a:prstGeom>
          <a:noFill/>
        </p:spPr>
        <p:txBody>
          <a:bodyPr wrap="square">
            <a:spAutoFit/>
          </a:bodyPr>
          <a:lstStyle/>
          <a:p>
            <a:r>
              <a:rPr sz="1200" b="1" i="0">
                <a:solidFill>
                  <a:srgbClr val="1F2937"/>
                </a:solidFill>
                <a:latin typeface="Calibri"/>
              </a:rPr>
              <a:t>Règle.</a:t>
            </a:r>
            <a:r>
              <a:rPr sz="1200" b="0" i="0">
                <a:solidFill>
                  <a:srgbClr val="1F2937"/>
                </a:solidFill>
                <a:latin typeface="Calibri"/>
              </a:rPr>
              <a:t> Une phase ne se clôt que sur une paire de même configuration (même commit, mêmes drapeaux, même graine) dont les deux bras passent la porte entière ⌈0,95 × d⌉. Un bras interrompu est nul et n'est jamais retenu comme preuve ; un bras rouge se décompose cas par cas avant d'accuser la fonctionnalité. Les écarts au sein d'une paire mesurent la variance d'échantillonnage du fournisseur ; tout écart entre releases inférieur à 2 ou 3 points est du bruit.</a:t>
            </a:r>
          </a:p>
        </p:txBody>
      </p:sp>
      <p:sp>
        <p:nvSpPr>
          <p:cNvPr id="8" name="TextBox 7"/>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9" name="TextBox 8"/>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41</a:t>
            </a:r>
          </a:p>
        </p:txBody>
      </p:sp>
      <p:graphicFrame>
        <p:nvGraphicFramePr>
          <p:cNvPr id="10" name="Table 9"/>
          <p:cNvGraphicFramePr>
            <a:graphicFrameLocks noGrp="1"/>
          </p:cNvGraphicFramePr>
          <p:nvPr/>
        </p:nvGraphicFramePr>
        <p:xfrm>
          <a:off x="548640" y="1271016"/>
          <a:ext cx="11091672" cy="3822192"/>
        </p:xfrm>
        <a:graphic>
          <a:graphicData uri="http://schemas.openxmlformats.org/drawingml/2006/table">
            <a:tbl>
              <a:tblPr>
                <a:tableStyleId>{5C22544A-7EE6-4342-B048-85BDC9FD1C3A}</a:tableStyleId>
              </a:tblPr>
              <a:tblGrid>
                <a:gridCol w="1417320"/>
                <a:gridCol w="1417320"/>
                <a:gridCol w="1417320"/>
                <a:gridCol w="1097280"/>
                <a:gridCol w="5742432"/>
              </a:tblGrid>
              <a:tr h="347472">
                <a:tc>
                  <a:txBody>
                    <a:bodyPr wrap="square"/>
                    <a:lstStyle/>
                    <a:p>
                      <a:pPr algn="l">
                        <a:lnSpc>
                          <a:spcPct val="98000"/>
                        </a:lnSpc>
                      </a:pPr>
                      <a:r>
                        <a:rPr sz="1050" b="1" i="0">
                          <a:solidFill>
                            <a:srgbClr val="FFFFFF"/>
                          </a:solidFill>
                          <a:latin typeface="Calibri"/>
                        </a:rPr>
                        <a:t>Paire</a:t>
                      </a:r>
                    </a:p>
                  </a:txBody>
                  <a:tcPr marL="54864" marR="54864" marT="27432" marB="27432" anchor="ctr">
                    <a:solidFill>
                      <a:srgbClr val="166534"/>
                    </a:solidFill>
                  </a:tcPr>
                </a:tc>
                <a:tc>
                  <a:txBody>
                    <a:bodyPr wrap="square"/>
                    <a:lstStyle/>
                    <a:p>
                      <a:pPr algn="l">
                        <a:lnSpc>
                          <a:spcPct val="98000"/>
                        </a:lnSpc>
                      </a:pPr>
                      <a:r>
                        <a:rPr sz="1050" b="1" i="0">
                          <a:solidFill>
                            <a:srgbClr val="FFFFFF"/>
                          </a:solidFill>
                          <a:latin typeface="Calibri"/>
                        </a:rPr>
                        <a:t>Bras 1</a:t>
                      </a:r>
                    </a:p>
                  </a:txBody>
                  <a:tcPr marL="54864" marR="54864" marT="27432" marB="27432" anchor="ctr">
                    <a:solidFill>
                      <a:srgbClr val="166534"/>
                    </a:solidFill>
                  </a:tcPr>
                </a:tc>
                <a:tc>
                  <a:txBody>
                    <a:bodyPr wrap="square"/>
                    <a:lstStyle/>
                    <a:p>
                      <a:pPr algn="l">
                        <a:lnSpc>
                          <a:spcPct val="98000"/>
                        </a:lnSpc>
                      </a:pPr>
                      <a:r>
                        <a:rPr sz="1050" b="1" i="0">
                          <a:solidFill>
                            <a:srgbClr val="FFFFFF"/>
                          </a:solidFill>
                          <a:latin typeface="Calibri"/>
                        </a:rPr>
                        <a:t>Bras 2</a:t>
                      </a:r>
                    </a:p>
                  </a:txBody>
                  <a:tcPr marL="54864" marR="54864" marT="27432" marB="27432" anchor="ctr">
                    <a:solidFill>
                      <a:srgbClr val="166534"/>
                    </a:solidFill>
                  </a:tcPr>
                </a:tc>
                <a:tc>
                  <a:txBody>
                    <a:bodyPr wrap="square"/>
                    <a:lstStyle/>
                    <a:p>
                      <a:pPr algn="l">
                        <a:lnSpc>
                          <a:spcPct val="98000"/>
                        </a:lnSpc>
                      </a:pPr>
                      <a:r>
                        <a:rPr sz="1050" b="1" i="0">
                          <a:solidFill>
                            <a:srgbClr val="FFFFFF"/>
                          </a:solidFill>
                          <a:latin typeface="Calibri"/>
                        </a:rPr>
                        <a:t>Verdict</a:t>
                      </a:r>
                    </a:p>
                  </a:txBody>
                  <a:tcPr marL="54864" marR="54864" marT="27432" marB="27432" anchor="ctr">
                    <a:solidFill>
                      <a:srgbClr val="166534"/>
                    </a:solidFill>
                  </a:tcPr>
                </a:tc>
                <a:tc>
                  <a:txBody>
                    <a:bodyPr wrap="square"/>
                    <a:lstStyle/>
                    <a:p>
                      <a:pPr algn="l">
                        <a:lnSpc>
                          <a:spcPct val="98000"/>
                        </a:lnSpc>
                      </a:pPr>
                      <a:r>
                        <a:rPr sz="1050" b="1" i="0">
                          <a:solidFill>
                            <a:srgbClr val="FFFFFF"/>
                          </a:solidFill>
                          <a:latin typeface="Calibri"/>
                        </a:rPr>
                        <a:t>Enseignement</a:t>
                      </a:r>
                    </a:p>
                  </a:txBody>
                  <a:tcPr marL="54864" marR="54864" marT="27432" marB="27432" anchor="ctr">
                    <a:solidFill>
                      <a:srgbClr val="166534"/>
                    </a:solidFill>
                  </a:tcPr>
                </a:tc>
              </a:tr>
              <a:tr h="347472">
                <a:tc>
                  <a:txBody>
                    <a:bodyPr wrap="square"/>
                    <a:lstStyle/>
                    <a:p>
                      <a:pPr algn="l">
                        <a:lnSpc>
                          <a:spcPct val="98000"/>
                        </a:lnSpc>
                      </a:pPr>
                      <a:r>
                        <a:rPr sz="1000" b="0" i="0">
                          <a:solidFill>
                            <a:srgbClr val="1F2937"/>
                          </a:solidFill>
                          <a:latin typeface="Calibri"/>
                        </a:rPr>
                        <a:t>release-8 / repeat</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184/188 = 97,9 %</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164/170 = 96,5 %</a:t>
                      </a:r>
                    </a:p>
                  </a:txBody>
                  <a:tcPr marL="54864" marR="54864" marT="27432" marB="27432" anchor="ctr">
                    <a:solidFill>
                      <a:srgbClr val="FFFFFF"/>
                    </a:solidFill>
                  </a:tcPr>
                </a:tc>
                <a:tc>
                  <a:txBody>
                    <a:bodyPr wrap="square"/>
                    <a:lstStyle/>
                    <a:p>
                      <a:pPr algn="l">
                        <a:lnSpc>
                          <a:spcPct val="98000"/>
                        </a:lnSpc>
                      </a:pPr>
                      <a:r>
                        <a:rPr sz="1000" b="0" i="0">
                          <a:solidFill>
                            <a:srgbClr val="14532D"/>
                          </a:solidFill>
                          <a:latin typeface="Calibri"/>
                        </a:rPr>
                        <a:t>PASS ×2</a:t>
                      </a:r>
                    </a:p>
                  </a:txBody>
                  <a:tcPr marL="54864" marR="54864" marT="27432" marB="27432" anchor="ctr">
                    <a:solidFill>
                      <a:srgbClr val="DCFCE7"/>
                    </a:solidFill>
                  </a:tcPr>
                </a:tc>
                <a:tc>
                  <a:txBody>
                    <a:bodyPr wrap="square"/>
                    <a:lstStyle/>
                    <a:p>
                      <a:pPr algn="l">
                        <a:lnSpc>
                          <a:spcPct val="98000"/>
                        </a:lnSpc>
                      </a:pPr>
                      <a:r>
                        <a:rPr sz="1000" b="0" i="0">
                          <a:solidFill>
                            <a:srgbClr val="1F2937"/>
                          </a:solidFill>
                          <a:latin typeface="Calibri"/>
                        </a:rPr>
                        <a:t>première paire : la bande de bruit ±2–3 pp est mesurée et publiée</a:t>
                      </a:r>
                    </a:p>
                  </a:txBody>
                  <a:tcPr marL="54864" marR="54864" marT="27432" marB="27432" anchor="ctr">
                    <a:solidFill>
                      <a:srgbClr val="FFFFFF"/>
                    </a:solidFill>
                  </a:tcPr>
                </a:tc>
              </a:tr>
              <a:tr h="347472">
                <a:tc>
                  <a:txBody>
                    <a:bodyPr wrap="square"/>
                    <a:lstStyle/>
                    <a:p>
                      <a:pPr algn="l">
                        <a:lnSpc>
                          <a:spcPct val="98000"/>
                        </a:lnSpc>
                      </a:pPr>
                      <a:r>
                        <a:rPr sz="1000" b="0" i="0">
                          <a:solidFill>
                            <a:srgbClr val="1F2937"/>
                          </a:solidFill>
                          <a:latin typeface="Calibri"/>
                        </a:rPr>
                        <a:t>release-13 / repeat</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445/469 = 94,9 %</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439/462 = 95,0 %</a:t>
                      </a:r>
                    </a:p>
                  </a:txBody>
                  <a:tcPr marL="54864" marR="54864" marT="27432" marB="27432" anchor="ctr">
                    <a:solidFill>
                      <a:srgbClr val="F5F5F4"/>
                    </a:solidFill>
                  </a:tcPr>
                </a:tc>
                <a:tc>
                  <a:txBody>
                    <a:bodyPr wrap="square"/>
                    <a:lstStyle/>
                    <a:p>
                      <a:pPr algn="l">
                        <a:lnSpc>
                          <a:spcPct val="98000"/>
                        </a:lnSpc>
                      </a:pPr>
                      <a:r>
                        <a:rPr sz="1000" b="0" i="0">
                          <a:solidFill>
                            <a:srgbClr val="92400E"/>
                          </a:solidFill>
                          <a:latin typeface="Calibri"/>
                        </a:rPr>
                        <a:t>SUR LE FIL</a:t>
                      </a:r>
                    </a:p>
                  </a:txBody>
                  <a:tcPr marL="54864" marR="54864" marT="27432" marB="27432" anchor="ctr">
                    <a:solidFill>
                      <a:srgbClr val="FEF3C7"/>
                    </a:solidFill>
                  </a:tcPr>
                </a:tc>
                <a:tc>
                  <a:txBody>
                    <a:bodyPr wrap="square"/>
                    <a:lstStyle/>
                    <a:p>
                      <a:pPr algn="l">
                        <a:lnSpc>
                          <a:spcPct val="98000"/>
                        </a:lnSpc>
                      </a:pPr>
                      <a:r>
                        <a:rPr sz="1000" b="0" i="0">
                          <a:solidFill>
                            <a:srgbClr val="1F2937"/>
                          </a:solidFill>
                          <a:latin typeface="Calibri"/>
                        </a:rPr>
                        <a:t>le bras 1 est une affirmation sous la porte entière ⌈0,95 × 469⌉ = 446, le bras 2 exactement dessus : consigné, sans paire verte</a:t>
                      </a:r>
                    </a:p>
                  </a:txBody>
                  <a:tcPr marL="54864" marR="54864" marT="27432" marB="27432" anchor="ctr">
                    <a:solidFill>
                      <a:srgbClr val="F5F5F4"/>
                    </a:solidFill>
                  </a:tcPr>
                </a:tc>
              </a:tr>
              <a:tr h="347472">
                <a:tc>
                  <a:txBody>
                    <a:bodyPr wrap="square"/>
                    <a:lstStyle/>
                    <a:p>
                      <a:pPr algn="l">
                        <a:lnSpc>
                          <a:spcPct val="98000"/>
                        </a:lnSpc>
                      </a:pPr>
                      <a:r>
                        <a:rPr sz="1000" b="0" i="0">
                          <a:solidFill>
                            <a:srgbClr val="1F2937"/>
                          </a:solidFill>
                          <a:latin typeface="Calibri"/>
                        </a:rPr>
                        <a:t>release-14 / repeat</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421/445 = 94,6 %</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428/454 = 94,3 %</a:t>
                      </a:r>
                    </a:p>
                  </a:txBody>
                  <a:tcPr marL="54864" marR="54864" marT="27432" marB="27432" anchor="ctr">
                    <a:solidFill>
                      <a:srgbClr val="FFFFFF"/>
                    </a:solidFill>
                  </a:tcPr>
                </a:tc>
                <a:tc>
                  <a:txBody>
                    <a:bodyPr wrap="square"/>
                    <a:lstStyle/>
                    <a:p>
                      <a:pPr algn="l">
                        <a:lnSpc>
                          <a:spcPct val="98000"/>
                        </a:lnSpc>
                      </a:pPr>
                      <a:r>
                        <a:rPr sz="1000" b="0" i="0">
                          <a:solidFill>
                            <a:srgbClr val="991B1B"/>
                          </a:solidFill>
                          <a:latin typeface="Calibri"/>
                        </a:rPr>
                        <a:t>ÉCHEC ×2</a:t>
                      </a:r>
                    </a:p>
                  </a:txBody>
                  <a:tcPr marL="54864" marR="54864" marT="27432" marB="27432" anchor="ctr">
                    <a:solidFill>
                      <a:srgbClr val="FEE2E2"/>
                    </a:solidFill>
                  </a:tcPr>
                </a:tc>
                <a:tc>
                  <a:txBody>
                    <a:bodyPr wrap="square"/>
                    <a:lstStyle/>
                    <a:p>
                      <a:pPr algn="l">
                        <a:lnSpc>
                          <a:spcPct val="98000"/>
                        </a:lnSpc>
                      </a:pPr>
                      <a:r>
                        <a:rPr sz="1000" b="0" i="0">
                          <a:solidFill>
                            <a:srgbClr val="1F2937"/>
                          </a:solidFill>
                          <a:latin typeface="Calibri"/>
                        </a:rPr>
                        <a:t>rouge cohérent (pas du bruit) : causes nommées, correctifs mis en file</a:t>
                      </a:r>
                    </a:p>
                  </a:txBody>
                  <a:tcPr marL="54864" marR="54864" marT="27432" marB="27432" anchor="ctr">
                    <a:solidFill>
                      <a:srgbClr val="FFFFFF"/>
                    </a:solidFill>
                  </a:tcPr>
                </a:tc>
              </a:tr>
              <a:tr h="347472">
                <a:tc>
                  <a:txBody>
                    <a:bodyPr wrap="square"/>
                    <a:lstStyle/>
                    <a:p>
                      <a:pPr algn="l">
                        <a:lnSpc>
                          <a:spcPct val="98000"/>
                        </a:lnSpc>
                      </a:pPr>
                      <a:r>
                        <a:rPr sz="1000" b="0" i="0">
                          <a:solidFill>
                            <a:srgbClr val="1F2937"/>
                          </a:solidFill>
                          <a:latin typeface="Calibri"/>
                        </a:rPr>
                        <a:t>release-15 / repeat</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375/394 = 95,2 %</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465/486 = 95,7 %</a:t>
                      </a:r>
                    </a:p>
                  </a:txBody>
                  <a:tcPr marL="54864" marR="54864" marT="27432" marB="27432" anchor="ctr">
                    <a:solidFill>
                      <a:srgbClr val="F5F5F4"/>
                    </a:solidFill>
                  </a:tcPr>
                </a:tc>
                <a:tc>
                  <a:txBody>
                    <a:bodyPr wrap="square"/>
                    <a:lstStyle/>
                    <a:p>
                      <a:pPr algn="l">
                        <a:lnSpc>
                          <a:spcPct val="98000"/>
                        </a:lnSpc>
                      </a:pPr>
                      <a:r>
                        <a:rPr sz="1000" b="0" i="0">
                          <a:solidFill>
                            <a:srgbClr val="14532D"/>
                          </a:solidFill>
                          <a:latin typeface="Calibri"/>
                        </a:rPr>
                        <a:t>PASS ×2</a:t>
                      </a:r>
                    </a:p>
                  </a:txBody>
                  <a:tcPr marL="54864" marR="54864" marT="27432" marB="27432" anchor="ctr">
                    <a:solidFill>
                      <a:srgbClr val="DCFCE7"/>
                    </a:solidFill>
                  </a:tcPr>
                </a:tc>
                <a:tc>
                  <a:txBody>
                    <a:bodyPr wrap="square"/>
                    <a:lstStyle/>
                    <a:p>
                      <a:pPr algn="l">
                        <a:lnSpc>
                          <a:spcPct val="98000"/>
                        </a:lnSpc>
                      </a:pPr>
                      <a:r>
                        <a:rPr sz="1000" b="0" i="0">
                          <a:solidFill>
                            <a:srgbClr val="1F2937"/>
                          </a:solidFill>
                          <a:latin typeface="Calibri"/>
                        </a:rPr>
                        <a:t>paire verte après la cure du corpus (95 pages ré-extraites, 87 guéries)</a:t>
                      </a:r>
                    </a:p>
                  </a:txBody>
                  <a:tcPr marL="54864" marR="54864" marT="27432" marB="27432" anchor="ctr">
                    <a:solidFill>
                      <a:srgbClr val="F5F5F4"/>
                    </a:solidFill>
                  </a:tcPr>
                </a:tc>
              </a:tr>
              <a:tr h="347472">
                <a:tc>
                  <a:txBody>
                    <a:bodyPr wrap="square"/>
                    <a:lstStyle/>
                    <a:p>
                      <a:pPr algn="l">
                        <a:lnSpc>
                          <a:spcPct val="98000"/>
                        </a:lnSpc>
                      </a:pPr>
                      <a:r>
                        <a:rPr sz="1000" b="0" i="0">
                          <a:solidFill>
                            <a:srgbClr val="1F2937"/>
                          </a:solidFill>
                          <a:latin typeface="Calibri"/>
                        </a:rPr>
                        <a:t>release-18 / repeat</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575/592 = 97,1 %</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536/567 = 94,5 %</a:t>
                      </a:r>
                    </a:p>
                  </a:txBody>
                  <a:tcPr marL="54864" marR="54864" marT="27432" marB="27432" anchor="ctr">
                    <a:solidFill>
                      <a:srgbClr val="FFFFFF"/>
                    </a:solidFill>
                  </a:tcPr>
                </a:tc>
                <a:tc>
                  <a:txBody>
                    <a:bodyPr wrap="square"/>
                    <a:lstStyle/>
                    <a:p>
                      <a:pPr algn="l">
                        <a:lnSpc>
                          <a:spcPct val="98000"/>
                        </a:lnSpc>
                      </a:pPr>
                      <a:r>
                        <a:rPr sz="1000" b="0" i="0">
                          <a:solidFill>
                            <a:srgbClr val="991B1B"/>
                          </a:solidFill>
                          <a:latin typeface="Calibri"/>
                        </a:rPr>
                        <a:t>ÉCHEC bras 2</a:t>
                      </a:r>
                    </a:p>
                  </a:txBody>
                  <a:tcPr marL="54864" marR="54864" marT="27432" marB="27432" anchor="ctr">
                    <a:solidFill>
                      <a:srgbClr val="FEE2E2"/>
                    </a:solidFill>
                  </a:tcPr>
                </a:tc>
                <a:tc>
                  <a:txBody>
                    <a:bodyPr wrap="square"/>
                    <a:lstStyle/>
                    <a:p>
                      <a:pPr algn="l">
                        <a:lnSpc>
                          <a:spcPct val="98000"/>
                        </a:lnSpc>
                      </a:pPr>
                      <a:r>
                        <a:rPr sz="1000" b="0" i="0">
                          <a:solidFill>
                            <a:srgbClr val="1F2937"/>
                          </a:solidFill>
                          <a:latin typeface="Calibri"/>
                        </a:rPr>
                        <a:t>un seul cas (listing français, 15 affirmations) : un titre coupé en milieu de mot invitait la paraphrase ; la coupe en fin de mot est certifiée en R19</a:t>
                      </a:r>
                    </a:p>
                  </a:txBody>
                  <a:tcPr marL="54864" marR="54864" marT="27432" marB="27432" anchor="ctr">
                    <a:solidFill>
                      <a:srgbClr val="FFFFFF"/>
                    </a:solidFill>
                  </a:tcPr>
                </a:tc>
              </a:tr>
              <a:tr h="347472">
                <a:tc>
                  <a:txBody>
                    <a:bodyPr wrap="square"/>
                    <a:lstStyle/>
                    <a:p>
                      <a:pPr algn="l">
                        <a:lnSpc>
                          <a:spcPct val="98000"/>
                        </a:lnSpc>
                      </a:pPr>
                      <a:r>
                        <a:rPr sz="1000" b="0" i="0">
                          <a:solidFill>
                            <a:srgbClr val="1F2937"/>
                          </a:solidFill>
                          <a:latin typeface="Calibri"/>
                        </a:rPr>
                        <a:t>release-19 / repeat</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534/548 = 97,4 %</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552/572 = 96,5 %</a:t>
                      </a:r>
                    </a:p>
                  </a:txBody>
                  <a:tcPr marL="54864" marR="54864" marT="27432" marB="27432" anchor="ctr">
                    <a:solidFill>
                      <a:srgbClr val="F5F5F4"/>
                    </a:solidFill>
                  </a:tcPr>
                </a:tc>
                <a:tc>
                  <a:txBody>
                    <a:bodyPr wrap="square"/>
                    <a:lstStyle/>
                    <a:p>
                      <a:pPr algn="l">
                        <a:lnSpc>
                          <a:spcPct val="98000"/>
                        </a:lnSpc>
                      </a:pPr>
                      <a:r>
                        <a:rPr sz="1000" b="0" i="0">
                          <a:solidFill>
                            <a:srgbClr val="14532D"/>
                          </a:solidFill>
                          <a:latin typeface="Calibri"/>
                        </a:rPr>
                        <a:t>PASS ×2</a:t>
                      </a:r>
                    </a:p>
                  </a:txBody>
                  <a:tcPr marL="54864" marR="54864" marT="27432" marB="27432" anchor="ctr">
                    <a:solidFill>
                      <a:srgbClr val="DCFCE7"/>
                    </a:solidFill>
                  </a:tcPr>
                </a:tc>
                <a:tc>
                  <a:txBody>
                    <a:bodyPr wrap="square"/>
                    <a:lstStyle/>
                    <a:p>
                      <a:pPr algn="l">
                        <a:lnSpc>
                          <a:spcPct val="98000"/>
                        </a:lnSpc>
                      </a:pPr>
                      <a:r>
                        <a:rPr sz="1000" b="0" i="0">
                          <a:solidFill>
                            <a:srgbClr val="1F2937"/>
                          </a:solidFill>
                          <a:latin typeface="Calibri"/>
                        </a:rPr>
                        <a:t>la passe « longueur de réponse » est certifiée ; déployée sous fp-gcf:7ad53d2</a:t>
                      </a:r>
                    </a:p>
                  </a:txBody>
                  <a:tcPr marL="54864" marR="54864" marT="27432" marB="27432" anchor="ctr">
                    <a:solidFill>
                      <a:srgbClr val="F5F5F4"/>
                    </a:solidFill>
                  </a:tcPr>
                </a:tc>
              </a:tr>
              <a:tr h="347472">
                <a:tc>
                  <a:txBody>
                    <a:bodyPr wrap="square"/>
                    <a:lstStyle/>
                    <a:p>
                      <a:pPr algn="l">
                        <a:lnSpc>
                          <a:spcPct val="98000"/>
                        </a:lnSpc>
                      </a:pPr>
                      <a:r>
                        <a:rPr sz="1000" b="0" i="0">
                          <a:solidFill>
                            <a:srgbClr val="1F2937"/>
                          </a:solidFill>
                          <a:latin typeface="Calibri"/>
                        </a:rPr>
                        <a:t>release-20 / repeat</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589/607 = 97,0 %</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532/557 = 95,5 %</a:t>
                      </a:r>
                    </a:p>
                  </a:txBody>
                  <a:tcPr marL="54864" marR="54864" marT="27432" marB="27432" anchor="ctr">
                    <a:solidFill>
                      <a:srgbClr val="FFFFFF"/>
                    </a:solidFill>
                  </a:tcPr>
                </a:tc>
                <a:tc>
                  <a:txBody>
                    <a:bodyPr wrap="square"/>
                    <a:lstStyle/>
                    <a:p>
                      <a:pPr algn="l">
                        <a:lnSpc>
                          <a:spcPct val="98000"/>
                        </a:lnSpc>
                      </a:pPr>
                      <a:r>
                        <a:rPr sz="1000" b="0" i="0">
                          <a:solidFill>
                            <a:srgbClr val="14532D"/>
                          </a:solidFill>
                          <a:latin typeface="Calibri"/>
                        </a:rPr>
                        <a:t>PASS ×2</a:t>
                      </a:r>
                    </a:p>
                  </a:txBody>
                  <a:tcPr marL="54864" marR="54864" marT="27432" marB="27432" anchor="ctr">
                    <a:solidFill>
                      <a:srgbClr val="DCFCE7"/>
                    </a:solidFill>
                  </a:tcPr>
                </a:tc>
                <a:tc>
                  <a:txBody>
                    <a:bodyPr wrap="square"/>
                    <a:lstStyle/>
                    <a:p>
                      <a:pPr algn="l">
                        <a:lnSpc>
                          <a:spcPct val="98000"/>
                        </a:lnSpc>
                      </a:pPr>
                      <a:r>
                        <a:rPr sz="1000" b="0" i="0">
                          <a:solidFill>
                            <a:srgbClr val="1F2937"/>
                          </a:solidFill>
                          <a:latin typeface="Calibri"/>
                        </a:rPr>
                        <a:t>la sonde de section est certifiée (l'identifiant imprimé trouve les pages) ; les pages sont servies entières en R21 et R22</a:t>
                      </a:r>
                    </a:p>
                  </a:txBody>
                  <a:tcPr marL="54864" marR="54864" marT="27432" marB="27432" anchor="ctr">
                    <a:solidFill>
                      <a:srgbClr val="FFFFFF"/>
                    </a:solidFill>
                  </a:tcPr>
                </a:tc>
              </a:tr>
              <a:tr h="347472">
                <a:tc>
                  <a:txBody>
                    <a:bodyPr wrap="square"/>
                    <a:lstStyle/>
                    <a:p>
                      <a:pPr algn="l">
                        <a:lnSpc>
                          <a:spcPct val="98000"/>
                        </a:lnSpc>
                      </a:pPr>
                      <a:r>
                        <a:rPr sz="1000" b="0" i="0">
                          <a:solidFill>
                            <a:srgbClr val="1F2937"/>
                          </a:solidFill>
                          <a:latin typeface="Calibri"/>
                        </a:rPr>
                        <a:t>release-21 / repeat</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600/611 = 98,2 %</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547/579 = 94,5 %</a:t>
                      </a:r>
                    </a:p>
                  </a:txBody>
                  <a:tcPr marL="54864" marR="54864" marT="27432" marB="27432" anchor="ctr">
                    <a:solidFill>
                      <a:srgbClr val="F5F5F4"/>
                    </a:solidFill>
                  </a:tcPr>
                </a:tc>
                <a:tc>
                  <a:txBody>
                    <a:bodyPr wrap="square"/>
                    <a:lstStyle/>
                    <a:p>
                      <a:pPr algn="l">
                        <a:lnSpc>
                          <a:spcPct val="98000"/>
                        </a:lnSpc>
                      </a:pPr>
                      <a:r>
                        <a:rPr sz="1000" b="0" i="0">
                          <a:solidFill>
                            <a:srgbClr val="991B1B"/>
                          </a:solidFill>
                          <a:latin typeface="Calibri"/>
                        </a:rPr>
                        <a:t>ÉCHEC bras 2</a:t>
                      </a:r>
                    </a:p>
                  </a:txBody>
                  <a:tcPr marL="54864" marR="54864" marT="27432" marB="27432" anchor="ctr">
                    <a:solidFill>
                      <a:srgbClr val="FEE2E2"/>
                    </a:solidFill>
                  </a:tcPr>
                </a:tc>
                <a:tc>
                  <a:txBody>
                    <a:bodyPr wrap="square"/>
                    <a:lstStyle/>
                    <a:p>
                      <a:pPr algn="l">
                        <a:lnSpc>
                          <a:spcPct val="98000"/>
                        </a:lnSpc>
                      </a:pPr>
                      <a:r>
                        <a:rPr sz="1000" b="0" i="0">
                          <a:solidFill>
                            <a:srgbClr val="1F2937"/>
                          </a:solidFill>
                          <a:latin typeface="Calibri"/>
                        </a:rPr>
                        <a:t>le même cas, avec une deuxième habitude de paraphrase (entités traduites) ; d'où la règle de copie sur toute liste</a:t>
                      </a:r>
                    </a:p>
                  </a:txBody>
                  <a:tcPr marL="54864" marR="54864" marT="27432" marB="27432" anchor="ctr">
                    <a:solidFill>
                      <a:srgbClr val="F5F5F4"/>
                    </a:solidFill>
                  </a:tcPr>
                </a:tc>
              </a:tr>
              <a:tr h="347472">
                <a:tc>
                  <a:txBody>
                    <a:bodyPr wrap="square"/>
                    <a:lstStyle/>
                    <a:p>
                      <a:pPr algn="l">
                        <a:lnSpc>
                          <a:spcPct val="98000"/>
                        </a:lnSpc>
                      </a:pPr>
                      <a:r>
                        <a:rPr sz="1000" b="0" i="0">
                          <a:solidFill>
                            <a:srgbClr val="1F2937"/>
                          </a:solidFill>
                          <a:latin typeface="Calibri"/>
                        </a:rPr>
                        <a:t>release-22 / repeat</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593/608 = 97,5 %</a:t>
                      </a:r>
                    </a:p>
                  </a:txBody>
                  <a:tcPr marL="54864" marR="54864" marT="27432" marB="27432" anchor="ctr">
                    <a:solidFill>
                      <a:srgbClr val="FFFFFF"/>
                    </a:solidFill>
                  </a:tcPr>
                </a:tc>
                <a:tc>
                  <a:txBody>
                    <a:bodyPr wrap="square"/>
                    <a:lstStyle/>
                    <a:p>
                      <a:pPr algn="l">
                        <a:lnSpc>
                          <a:spcPct val="98000"/>
                        </a:lnSpc>
                      </a:pPr>
                      <a:r>
                        <a:rPr sz="1000" b="0" i="0">
                          <a:solidFill>
                            <a:srgbClr val="1F2937"/>
                          </a:solidFill>
                          <a:latin typeface="Calibri"/>
                        </a:rPr>
                        <a:t>594/620 = 95,8 %</a:t>
                      </a:r>
                    </a:p>
                  </a:txBody>
                  <a:tcPr marL="54864" marR="54864" marT="27432" marB="27432" anchor="ctr">
                    <a:solidFill>
                      <a:srgbClr val="FFFFFF"/>
                    </a:solidFill>
                  </a:tcPr>
                </a:tc>
                <a:tc>
                  <a:txBody>
                    <a:bodyPr wrap="square"/>
                    <a:lstStyle/>
                    <a:p>
                      <a:pPr algn="l">
                        <a:lnSpc>
                          <a:spcPct val="98000"/>
                        </a:lnSpc>
                      </a:pPr>
                      <a:r>
                        <a:rPr sz="1000" b="0" i="0">
                          <a:solidFill>
                            <a:srgbClr val="14532D"/>
                          </a:solidFill>
                          <a:latin typeface="Calibri"/>
                        </a:rPr>
                        <a:t>PASS ×2</a:t>
                      </a:r>
                    </a:p>
                  </a:txBody>
                  <a:tcPr marL="54864" marR="54864" marT="27432" marB="27432" anchor="ctr">
                    <a:solidFill>
                      <a:srgbClr val="DCFCE7"/>
                    </a:solidFill>
                  </a:tcPr>
                </a:tc>
                <a:tc>
                  <a:txBody>
                    <a:bodyPr wrap="square"/>
                    <a:lstStyle/>
                    <a:p>
                      <a:pPr algn="l">
                        <a:lnSpc>
                          <a:spcPct val="98000"/>
                        </a:lnSpc>
                      </a:pPr>
                      <a:r>
                        <a:rPr sz="1000" b="0" i="0">
                          <a:solidFill>
                            <a:srgbClr val="1F2937"/>
                          </a:solidFill>
                          <a:latin typeface="Calibri"/>
                        </a:rPr>
                        <a:t>la sonde de section et la règle de copie sont certifiées ; déployée sous fp-gcf:4fde815</a:t>
                      </a:r>
                    </a:p>
                  </a:txBody>
                  <a:tcPr marL="54864" marR="54864" marT="27432" marB="27432" anchor="ctr">
                    <a:solidFill>
                      <a:srgbClr val="FFFFFF"/>
                    </a:solidFill>
                  </a:tcPr>
                </a:tc>
              </a:tr>
              <a:tr h="347472">
                <a:tc>
                  <a:txBody>
                    <a:bodyPr wrap="square"/>
                    <a:lstStyle/>
                    <a:p>
                      <a:pPr algn="l">
                        <a:lnSpc>
                          <a:spcPct val="98000"/>
                        </a:lnSpc>
                      </a:pPr>
                      <a:r>
                        <a:rPr sz="1000" b="0" i="0">
                          <a:solidFill>
                            <a:srgbClr val="1F2937"/>
                          </a:solidFill>
                          <a:latin typeface="Calibri"/>
                        </a:rPr>
                        <a:t>release-23 / repeat</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556/573 = 97,0 %</a:t>
                      </a:r>
                    </a:p>
                  </a:txBody>
                  <a:tcPr marL="54864" marR="54864" marT="27432" marB="27432" anchor="ctr">
                    <a:solidFill>
                      <a:srgbClr val="F5F5F4"/>
                    </a:solidFill>
                  </a:tcPr>
                </a:tc>
                <a:tc>
                  <a:txBody>
                    <a:bodyPr wrap="square"/>
                    <a:lstStyle/>
                    <a:p>
                      <a:pPr algn="l">
                        <a:lnSpc>
                          <a:spcPct val="98000"/>
                        </a:lnSpc>
                      </a:pPr>
                      <a:r>
                        <a:rPr sz="1000" b="0" i="0">
                          <a:solidFill>
                            <a:srgbClr val="1F2937"/>
                          </a:solidFill>
                          <a:latin typeface="Calibri"/>
                        </a:rPr>
                        <a:t>583/596 = 97,8 %</a:t>
                      </a:r>
                    </a:p>
                  </a:txBody>
                  <a:tcPr marL="54864" marR="54864" marT="27432" marB="27432" anchor="ctr">
                    <a:solidFill>
                      <a:srgbClr val="F5F5F4"/>
                    </a:solidFill>
                  </a:tcPr>
                </a:tc>
                <a:tc>
                  <a:txBody>
                    <a:bodyPr wrap="square"/>
                    <a:lstStyle/>
                    <a:p>
                      <a:pPr algn="l">
                        <a:lnSpc>
                          <a:spcPct val="98000"/>
                        </a:lnSpc>
                      </a:pPr>
                      <a:r>
                        <a:rPr sz="1000" b="0" i="0">
                          <a:solidFill>
                            <a:srgbClr val="14532D"/>
                          </a:solidFill>
                          <a:latin typeface="Calibri"/>
                        </a:rPr>
                        <a:t>PASS ×2</a:t>
                      </a:r>
                    </a:p>
                  </a:txBody>
                  <a:tcPr marL="54864" marR="54864" marT="27432" marB="27432" anchor="ctr">
                    <a:solidFill>
                      <a:srgbClr val="DCFCE7"/>
                    </a:solidFill>
                  </a:tcPr>
                </a:tc>
                <a:tc>
                  <a:txBody>
                    <a:bodyPr wrap="square"/>
                    <a:lstStyle/>
                    <a:p>
                      <a:pPr algn="l">
                        <a:lnSpc>
                          <a:spcPct val="98000"/>
                        </a:lnSpc>
                      </a:pPr>
                      <a:r>
                        <a:rPr sz="1000" b="0" i="0">
                          <a:solidFill>
                            <a:srgbClr val="1F2937"/>
                          </a:solidFill>
                          <a:latin typeface="Calibri"/>
                        </a:rPr>
                        <a:t>clôture du niveau L2 : le compte d'en-tête cite la note ; la classe agrégat passe de 91,5 à 95,2 % ; déployée sous fp-gcf:29d55ce</a:t>
                      </a:r>
                    </a:p>
                  </a:txBody>
                  <a:tcPr marL="54864" marR="54864" marT="27432" marB="27432" anchor="ctr">
                    <a:solidFill>
                      <a:srgbClr val="F5F5F4"/>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274320"/>
          </a:xfrm>
          <a:prstGeom prst="rect">
            <a:avLst/>
          </a:prstGeom>
          <a:noFill/>
        </p:spPr>
        <p:txBody>
          <a:bodyPr wrap="square">
            <a:spAutoFit/>
          </a:bodyPr>
          <a:lstStyle/>
          <a:p>
            <a:r>
              <a:rPr sz="1100" b="1" i="0">
                <a:solidFill>
                  <a:srgbClr val="0F766E"/>
                </a:solidFill>
                <a:latin typeface="Calibri"/>
              </a:rPr>
              <a:t>ANNEXES</a:t>
            </a:r>
          </a:p>
        </p:txBody>
      </p:sp>
      <p:sp>
        <p:nvSpPr>
          <p:cNvPr id="4" name="TextBox 3"/>
          <p:cNvSpPr txBox="1"/>
          <p:nvPr/>
        </p:nvSpPr>
        <p:spPr>
          <a:xfrm>
            <a:off x="548640" y="566928"/>
            <a:ext cx="11091672" cy="502920"/>
          </a:xfrm>
          <a:prstGeom prst="rect">
            <a:avLst/>
          </a:prstGeom>
          <a:noFill/>
        </p:spPr>
        <p:txBody>
          <a:bodyPr wrap="square">
            <a:spAutoFit/>
          </a:bodyPr>
          <a:lstStyle/>
          <a:p>
            <a:r>
              <a:rPr sz="2400" b="1" i="0">
                <a:solidFill>
                  <a:srgbClr val="14532D"/>
                </a:solidFill>
                <a:latin typeface="Calibri"/>
              </a:rPr>
              <a:t>Annexe B — paramètres de configuration clés</a:t>
            </a:r>
          </a:p>
        </p:txBody>
      </p:sp>
      <p:sp>
        <p:nvSpPr>
          <p:cNvPr id="5" name="Rectangle 4"/>
          <p:cNvSpPr/>
          <p:nvPr/>
        </p:nvSpPr>
        <p:spPr>
          <a:xfrm>
            <a:off x="548640" y="1042416"/>
            <a:ext cx="1463040" cy="330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243584"/>
          <a:ext cx="11091671" cy="3657600"/>
        </p:xfrm>
        <a:graphic>
          <a:graphicData uri="http://schemas.openxmlformats.org/drawingml/2006/table">
            <a:tbl>
              <a:tblPr>
                <a:tableStyleId>{5C22544A-7EE6-4342-B048-85BDC9FD1C3A}</a:tableStyleId>
              </a:tblPr>
              <a:tblGrid>
                <a:gridCol w="1741667"/>
                <a:gridCol w="2841668"/>
                <a:gridCol w="6508336"/>
              </a:tblGrid>
              <a:tr h="365760">
                <a:tc>
                  <a:txBody>
                    <a:bodyPr wrap="square"/>
                    <a:lstStyle/>
                    <a:p>
                      <a:pPr>
                        <a:lnSpc>
                          <a:spcPct val="98000"/>
                        </a:lnSpc>
                      </a:pPr>
                      <a:r>
                        <a:rPr sz="1050" b="1" i="0">
                          <a:solidFill>
                            <a:srgbClr val="FFFFFF"/>
                          </a:solidFill>
                          <a:latin typeface="Calibri"/>
                        </a:rPr>
                        <a:t>Composant</a:t>
                      </a:r>
                    </a:p>
                  </a:txBody>
                  <a:tcPr marL="54864" marR="54864" marT="27432" marB="27432" anchor="ctr">
                    <a:solidFill>
                      <a:srgbClr val="166534"/>
                    </a:solidFill>
                  </a:tcPr>
                </a:tc>
                <a:tc>
                  <a:txBody>
                    <a:bodyPr wrap="square"/>
                    <a:lstStyle/>
                    <a:p>
                      <a:pPr algn="l">
                        <a:lnSpc>
                          <a:spcPct val="98000"/>
                        </a:lnSpc>
                      </a:pPr>
                      <a:r>
                        <a:rPr sz="1050" b="1" i="0">
                          <a:solidFill>
                            <a:srgbClr val="FFFFFF"/>
                          </a:solidFill>
                          <a:latin typeface="Calibri"/>
                        </a:rPr>
                        <a:t>Paramètre</a:t>
                      </a:r>
                    </a:p>
                  </a:txBody>
                  <a:tcPr marL="54864" marR="54864" marT="27432" marB="27432" anchor="ctr">
                    <a:solidFill>
                      <a:srgbClr val="166534"/>
                    </a:solidFill>
                  </a:tcPr>
                </a:tc>
                <a:tc>
                  <a:txBody>
                    <a:bodyPr wrap="square"/>
                    <a:lstStyle/>
                    <a:p>
                      <a:pPr algn="l">
                        <a:lnSpc>
                          <a:spcPct val="98000"/>
                        </a:lnSpc>
                      </a:pPr>
                      <a:r>
                        <a:rPr sz="1050" b="1" i="0">
                          <a:solidFill>
                            <a:srgbClr val="FFFFFF"/>
                          </a:solidFill>
                          <a:latin typeface="Calibri"/>
                        </a:rPr>
                        <a:t>Valeur (production)</a:t>
                      </a:r>
                    </a:p>
                  </a:txBody>
                  <a:tcPr marL="54864" marR="54864" marT="27432" marB="27432" anchor="ctr">
                    <a:solidFill>
                      <a:srgbClr val="166534"/>
                    </a:solidFill>
                  </a:tcPr>
                </a:tc>
              </a:tr>
              <a:tr h="365760">
                <a:tc>
                  <a:txBody>
                    <a:bodyPr wrap="square"/>
                    <a:lstStyle/>
                    <a:p>
                      <a:pPr>
                        <a:lnSpc>
                          <a:spcPct val="98000"/>
                        </a:lnSpc>
                      </a:pPr>
                      <a:r>
                        <a:rPr sz="1050" b="0" i="0">
                          <a:solidFill>
                            <a:srgbClr val="1F2937"/>
                          </a:solidFill>
                          <a:latin typeface="Calibri"/>
                        </a:rPr>
                        <a:t>Extraction</a:t>
                      </a:r>
                    </a:p>
                  </a:txBody>
                  <a:tcPr marL="54864" marR="54864" marT="27432" marB="27432" anchor="ctr">
                    <a:solidFill>
                      <a:srgbClr val="FFFFFF"/>
                    </a:solidFill>
                  </a:tcPr>
                </a:tc>
                <a:tc>
                  <a:txBody>
                    <a:bodyPr wrap="square"/>
                    <a:lstStyle/>
                    <a:p>
                      <a:pPr algn="l">
                        <a:lnSpc>
                          <a:spcPct val="98000"/>
                        </a:lnSpc>
                      </a:pPr>
                      <a:r>
                        <a:rPr sz="1050" b="0" i="0">
                          <a:solidFill>
                            <a:srgbClr val="1F2937"/>
                          </a:solidFill>
                          <a:latin typeface="Calibri"/>
                        </a:rPr>
                        <a:t>modèle VLM · rendu · concurrence</a:t>
                      </a:r>
                    </a:p>
                  </a:txBody>
                  <a:tcPr marL="54864" marR="54864" marT="27432" marB="27432" anchor="ctr">
                    <a:solidFill>
                      <a:srgbClr val="FFFFFF"/>
                    </a:solidFill>
                  </a:tcPr>
                </a:tc>
                <a:tc>
                  <a:txBody>
                    <a:bodyPr wrap="square"/>
                    <a:lstStyle/>
                    <a:p>
                      <a:pPr algn="l">
                        <a:lnSpc>
                          <a:spcPct val="98000"/>
                        </a:lnSpc>
                      </a:pPr>
                      <a:r>
                        <a:rPr sz="1050" b="0" i="0">
                          <a:solidFill>
                            <a:srgbClr val="1F2937"/>
                          </a:solidFill>
                          <a:latin typeface="Calibri"/>
                        </a:rPr>
                        <a:t>qwen2.5-vl-7b (servi) / qwen3-vl-8b (config) · 2,0 MP JPEG q92 · MAX_CONCURRENT=1, disjoncteur à 20</a:t>
                      </a:r>
                    </a:p>
                  </a:txBody>
                  <a:tcPr marL="54864" marR="54864" marT="27432" marB="27432" anchor="ctr">
                    <a:solidFill>
                      <a:srgbClr val="FFFFFF"/>
                    </a:solidFill>
                  </a:tcPr>
                </a:tc>
              </a:tr>
              <a:tr h="365760">
                <a:tc>
                  <a:txBody>
                    <a:bodyPr wrap="square"/>
                    <a:lstStyle/>
                    <a:p>
                      <a:pPr>
                        <a:lnSpc>
                          <a:spcPct val="98000"/>
                        </a:lnSpc>
                      </a:pPr>
                      <a:r>
                        <a:rPr sz="1050" b="0" i="0">
                          <a:solidFill>
                            <a:srgbClr val="1F2937"/>
                          </a:solidFill>
                          <a:latin typeface="Calibri"/>
                        </a:rPr>
                        <a:t>Chunking</a:t>
                      </a:r>
                    </a:p>
                  </a:txBody>
                  <a:tcPr marL="54864" marR="54864" marT="27432" marB="27432" anchor="ctr">
                    <a:solidFill>
                      <a:srgbClr val="F5F5F4"/>
                    </a:solidFill>
                  </a:tcPr>
                </a:tc>
                <a:tc>
                  <a:txBody>
                    <a:bodyPr wrap="square"/>
                    <a:lstStyle/>
                    <a:p>
                      <a:pPr algn="l">
                        <a:lnSpc>
                          <a:spcPct val="98000"/>
                        </a:lnSpc>
                      </a:pPr>
                      <a:r>
                        <a:rPr sz="1050" b="0" i="0">
                          <a:solidFill>
                            <a:srgbClr val="1F2937"/>
                          </a:solidFill>
                          <a:latin typeface="Calibri"/>
                        </a:rPr>
                        <a:t>taille / recouvrement / tables</a:t>
                      </a:r>
                    </a:p>
                  </a:txBody>
                  <a:tcPr marL="54864" marR="54864" marT="27432" marB="27432" anchor="ctr">
                    <a:solidFill>
                      <a:srgbClr val="F5F5F4"/>
                    </a:solidFill>
                  </a:tcPr>
                </a:tc>
                <a:tc>
                  <a:txBody>
                    <a:bodyPr wrap="square"/>
                    <a:lstStyle/>
                    <a:p>
                      <a:pPr algn="l">
                        <a:lnSpc>
                          <a:spcPct val="98000"/>
                        </a:lnSpc>
                      </a:pPr>
                      <a:r>
                        <a:rPr sz="1050" b="0" i="0">
                          <a:solidFill>
                            <a:srgbClr val="1F2937"/>
                          </a:solidFill>
                          <a:latin typeface="Calibri"/>
                        </a:rPr>
                        <a:t>1000 / 200 · table ≤ 2× atomique · préfixe de section désactivé (mesuré)</a:t>
                      </a:r>
                    </a:p>
                  </a:txBody>
                  <a:tcPr marL="54864" marR="54864" marT="27432" marB="27432" anchor="ctr">
                    <a:solidFill>
                      <a:srgbClr val="F5F5F4"/>
                    </a:solidFill>
                  </a:tcPr>
                </a:tc>
              </a:tr>
              <a:tr h="365760">
                <a:tc>
                  <a:txBody>
                    <a:bodyPr wrap="square"/>
                    <a:lstStyle/>
                    <a:p>
                      <a:pPr>
                        <a:lnSpc>
                          <a:spcPct val="98000"/>
                        </a:lnSpc>
                      </a:pPr>
                      <a:r>
                        <a:rPr sz="1050" b="0" i="0">
                          <a:solidFill>
                            <a:srgbClr val="1F2937"/>
                          </a:solidFill>
                          <a:latin typeface="Calibri"/>
                        </a:rPr>
                        <a:t>Embeddings</a:t>
                      </a:r>
                    </a:p>
                  </a:txBody>
                  <a:tcPr marL="54864" marR="54864" marT="27432" marB="27432" anchor="ctr">
                    <a:solidFill>
                      <a:srgbClr val="FFFFFF"/>
                    </a:solidFill>
                  </a:tcPr>
                </a:tc>
                <a:tc>
                  <a:txBody>
                    <a:bodyPr wrap="square"/>
                    <a:lstStyle/>
                    <a:p>
                      <a:pPr algn="l">
                        <a:lnSpc>
                          <a:spcPct val="98000"/>
                        </a:lnSpc>
                      </a:pPr>
                      <a:r>
                        <a:rPr sz="1050" b="0" i="0">
                          <a:solidFill>
                            <a:srgbClr val="1F2937"/>
                          </a:solidFill>
                          <a:latin typeface="Calibri"/>
                        </a:rPr>
                        <a:t>modèle · normalisation</a:t>
                      </a:r>
                    </a:p>
                  </a:txBody>
                  <a:tcPr marL="54864" marR="54864" marT="27432" marB="27432" anchor="ctr">
                    <a:solidFill>
                      <a:srgbClr val="FFFFFF"/>
                    </a:solidFill>
                  </a:tcPr>
                </a:tc>
                <a:tc>
                  <a:txBody>
                    <a:bodyPr wrap="square"/>
                    <a:lstStyle/>
                    <a:p>
                      <a:pPr algn="l">
                        <a:lnSpc>
                          <a:spcPct val="98000"/>
                        </a:lnSpc>
                      </a:pPr>
                      <a:r>
                        <a:rPr sz="1050" b="0" i="0">
                          <a:solidFill>
                            <a:srgbClr val="1F2937"/>
                          </a:solidFill>
                          <a:latin typeface="Calibri"/>
                        </a:rPr>
                        <a:t>sentence-transformers/all-mpnet-base-v2 (768 d) · vecteurs normalisés, cosinus</a:t>
                      </a:r>
                    </a:p>
                  </a:txBody>
                  <a:tcPr marL="54864" marR="54864" marT="27432" marB="27432" anchor="ctr">
                    <a:solidFill>
                      <a:srgbClr val="FFFFFF"/>
                    </a:solidFill>
                  </a:tcPr>
                </a:tc>
              </a:tr>
              <a:tr h="365760">
                <a:tc>
                  <a:txBody>
                    <a:bodyPr wrap="square"/>
                    <a:lstStyle/>
                    <a:p>
                      <a:pPr>
                        <a:lnSpc>
                          <a:spcPct val="98000"/>
                        </a:lnSpc>
                      </a:pPr>
                      <a:r>
                        <a:rPr sz="1050" b="0" i="0">
                          <a:solidFill>
                            <a:srgbClr val="1F2937"/>
                          </a:solidFill>
                          <a:latin typeface="Calibri"/>
                        </a:rPr>
                        <a:t>Récupération</a:t>
                      </a:r>
                    </a:p>
                  </a:txBody>
                  <a:tcPr marL="54864" marR="54864" marT="27432" marB="27432" anchor="ctr">
                    <a:solidFill>
                      <a:srgbClr val="F5F5F4"/>
                    </a:solidFill>
                  </a:tcPr>
                </a:tc>
                <a:tc>
                  <a:txBody>
                    <a:bodyPr wrap="square"/>
                    <a:lstStyle/>
                    <a:p>
                      <a:pPr algn="l">
                        <a:lnSpc>
                          <a:spcPct val="98000"/>
                        </a:lnSpc>
                      </a:pPr>
                      <a:r>
                        <a:rPr sz="1050" b="0" i="0">
                          <a:solidFill>
                            <a:srgbClr val="1F2937"/>
                          </a:solidFill>
                          <a:latin typeface="Calibri"/>
                        </a:rPr>
                        <a:t>TOP_K · candidats · fusion</a:t>
                      </a:r>
                    </a:p>
                  </a:txBody>
                  <a:tcPr marL="54864" marR="54864" marT="27432" marB="27432" anchor="ctr">
                    <a:solidFill>
                      <a:srgbClr val="F5F5F4"/>
                    </a:solidFill>
                  </a:tcPr>
                </a:tc>
                <a:tc>
                  <a:txBody>
                    <a:bodyPr wrap="square"/>
                    <a:lstStyle/>
                    <a:p>
                      <a:pPr algn="l">
                        <a:lnSpc>
                          <a:spcPct val="98000"/>
                        </a:lnSpc>
                      </a:pPr>
                      <a:r>
                        <a:rPr sz="1050" b="0" i="0">
                          <a:solidFill>
                            <a:srgbClr val="1F2937"/>
                          </a:solidFill>
                          <a:latin typeface="Calibri"/>
                        </a:rPr>
                        <a:t>10 · 30/canal (pool ×3) · RRF k=60, poids dense 1,0 / lexical 2,0 (identifiants)</a:t>
                      </a:r>
                    </a:p>
                  </a:txBody>
                  <a:tcPr marL="54864" marR="54864" marT="27432" marB="27432" anchor="ctr">
                    <a:solidFill>
                      <a:srgbClr val="F5F5F4"/>
                    </a:solidFill>
                  </a:tcPr>
                </a:tc>
              </a:tr>
              <a:tr h="365760">
                <a:tc>
                  <a:txBody>
                    <a:bodyPr wrap="square"/>
                    <a:lstStyle/>
                    <a:p>
                      <a:pPr>
                        <a:lnSpc>
                          <a:spcPct val="98000"/>
                        </a:lnSpc>
                      </a:pPr>
                      <a:r>
                        <a:rPr sz="1050" b="0" i="0">
                          <a:solidFill>
                            <a:srgbClr val="1F2937"/>
                          </a:solidFill>
                          <a:latin typeface="Calibri"/>
                        </a:rPr>
                        <a:t>Reranking</a:t>
                      </a:r>
                    </a:p>
                  </a:txBody>
                  <a:tcPr marL="54864" marR="54864" marT="27432" marB="27432" anchor="ctr">
                    <a:solidFill>
                      <a:srgbClr val="FFFFFF"/>
                    </a:solidFill>
                  </a:tcPr>
                </a:tc>
                <a:tc>
                  <a:txBody>
                    <a:bodyPr wrap="square"/>
                    <a:lstStyle/>
                    <a:p>
                      <a:pPr algn="l">
                        <a:lnSpc>
                          <a:spcPct val="98000"/>
                        </a:lnSpc>
                      </a:pPr>
                      <a:r>
                        <a:rPr sz="1050" b="0" i="0">
                          <a:solidFill>
                            <a:srgbClr val="1F2937"/>
                          </a:solidFill>
                          <a:latin typeface="Calibri"/>
                        </a:rPr>
                        <a:t>modèle · bornes</a:t>
                      </a:r>
                    </a:p>
                  </a:txBody>
                  <a:tcPr marL="54864" marR="54864" marT="27432" marB="27432" anchor="ctr">
                    <a:solidFill>
                      <a:srgbClr val="FFFFFF"/>
                    </a:solidFill>
                  </a:tcPr>
                </a:tc>
                <a:tc>
                  <a:txBody>
                    <a:bodyPr wrap="square"/>
                    <a:lstStyle/>
                    <a:p>
                      <a:pPr algn="l">
                        <a:lnSpc>
                          <a:spcPct val="98000"/>
                        </a:lnSpc>
                      </a:pPr>
                      <a:r>
                        <a:rPr sz="1050" b="0" i="0">
                          <a:solidFill>
                            <a:srgbClr val="1F2937"/>
                          </a:solidFill>
                          <a:latin typeface="Calibri"/>
                        </a:rPr>
                        <a:t>cross-encoder/ms-marco-MiniLM-L-6-v2 · 64 paires max, passages 1 800 c.</a:t>
                      </a:r>
                    </a:p>
                  </a:txBody>
                  <a:tcPr marL="54864" marR="54864" marT="27432" marB="27432" anchor="ctr">
                    <a:solidFill>
                      <a:srgbClr val="FFFFFF"/>
                    </a:solidFill>
                  </a:tcPr>
                </a:tc>
              </a:tr>
              <a:tr h="365760">
                <a:tc>
                  <a:txBody>
                    <a:bodyPr wrap="square"/>
                    <a:lstStyle/>
                    <a:p>
                      <a:pPr>
                        <a:lnSpc>
                          <a:spcPct val="98000"/>
                        </a:lnSpc>
                      </a:pPr>
                      <a:r>
                        <a:rPr sz="1050" b="0" i="0">
                          <a:solidFill>
                            <a:srgbClr val="1F2937"/>
                          </a:solidFill>
                          <a:latin typeface="Calibri"/>
                        </a:rPr>
                        <a:t>Génération</a:t>
                      </a:r>
                    </a:p>
                  </a:txBody>
                  <a:tcPr marL="54864" marR="54864" marT="27432" marB="27432" anchor="ctr">
                    <a:solidFill>
                      <a:srgbClr val="F5F5F4"/>
                    </a:solidFill>
                  </a:tcPr>
                </a:tc>
                <a:tc>
                  <a:txBody>
                    <a:bodyPr wrap="square"/>
                    <a:lstStyle/>
                    <a:p>
                      <a:pPr algn="l">
                        <a:lnSpc>
                          <a:spcPct val="98000"/>
                        </a:lnSpc>
                      </a:pPr>
                      <a:r>
                        <a:rPr sz="1050" b="0" i="0">
                          <a:solidFill>
                            <a:srgbClr val="1F2937"/>
                          </a:solidFill>
                          <a:latin typeface="Calibri"/>
                        </a:rPr>
                        <a:t>modèle · appels/tour</a:t>
                      </a:r>
                    </a:p>
                  </a:txBody>
                  <a:tcPr marL="54864" marR="54864" marT="27432" marB="27432" anchor="ctr">
                    <a:solidFill>
                      <a:srgbClr val="F5F5F4"/>
                    </a:solidFill>
                  </a:tcPr>
                </a:tc>
                <a:tc>
                  <a:txBody>
                    <a:bodyPr wrap="square"/>
                    <a:lstStyle/>
                    <a:p>
                      <a:pPr algn="l">
                        <a:lnSpc>
                          <a:spcPct val="98000"/>
                        </a:lnSpc>
                      </a:pPr>
                      <a:r>
                        <a:rPr sz="1050" b="0" i="0">
                          <a:solidFill>
                            <a:srgbClr val="1F2937"/>
                          </a:solidFill>
                          <a:latin typeface="Calibri"/>
                        </a:rPr>
                        <a:t>gpt-5.2 (snapshot 2025-12-11) · conducteur 300 tk JSON + réponse streamée + juge</a:t>
                      </a:r>
                    </a:p>
                  </a:txBody>
                  <a:tcPr marL="54864" marR="54864" marT="27432" marB="27432" anchor="ctr">
                    <a:solidFill>
                      <a:srgbClr val="F5F5F4"/>
                    </a:solidFill>
                  </a:tcPr>
                </a:tc>
              </a:tr>
              <a:tr h="365760">
                <a:tc>
                  <a:txBody>
                    <a:bodyPr wrap="square"/>
                    <a:lstStyle/>
                    <a:p>
                      <a:pPr>
                        <a:lnSpc>
                          <a:spcPct val="98000"/>
                        </a:lnSpc>
                      </a:pPr>
                      <a:r>
                        <a:rPr sz="1050" b="0" i="0">
                          <a:solidFill>
                            <a:srgbClr val="1F2937"/>
                          </a:solidFill>
                          <a:latin typeface="Calibri"/>
                        </a:rPr>
                        <a:t>Vérification</a:t>
                      </a:r>
                    </a:p>
                  </a:txBody>
                  <a:tcPr marL="54864" marR="54864" marT="27432" marB="27432" anchor="ctr">
                    <a:solidFill>
                      <a:srgbClr val="FFFFFF"/>
                    </a:solidFill>
                  </a:tcPr>
                </a:tc>
                <a:tc>
                  <a:txBody>
                    <a:bodyPr wrap="square"/>
                    <a:lstStyle/>
                    <a:p>
                      <a:pPr algn="l">
                        <a:lnSpc>
                          <a:spcPct val="98000"/>
                        </a:lnSpc>
                      </a:pPr>
                      <a:r>
                        <a:rPr sz="1050" b="0" i="0">
                          <a:solidFill>
                            <a:srgbClr val="1F2937"/>
                          </a:solidFill>
                          <a:latin typeface="Calibri"/>
                        </a:rPr>
                        <a:t>juge · budget</a:t>
                      </a:r>
                    </a:p>
                  </a:txBody>
                  <a:tcPr marL="54864" marR="54864" marT="27432" marB="27432" anchor="ctr">
                    <a:solidFill>
                      <a:srgbClr val="FFFFFF"/>
                    </a:solidFill>
                  </a:tcPr>
                </a:tc>
                <a:tc>
                  <a:txBody>
                    <a:bodyPr wrap="square"/>
                    <a:lstStyle/>
                    <a:p>
                      <a:pPr algn="l">
                        <a:lnSpc>
                          <a:spcPct val="98000"/>
                        </a:lnSpc>
                      </a:pPr>
                      <a:r>
                        <a:rPr sz="1050" b="0" i="0">
                          <a:solidFill>
                            <a:srgbClr val="1F2937"/>
                          </a:solidFill>
                          <a:latin typeface="Calibri"/>
                        </a:rPr>
                        <a:t>VERIFY=1, VERIFY_LLM=1 · promote-only, ≤ 12 claims, 1 appel/réponse</a:t>
                      </a:r>
                    </a:p>
                  </a:txBody>
                  <a:tcPr marL="54864" marR="54864" marT="27432" marB="27432" anchor="ctr">
                    <a:solidFill>
                      <a:srgbClr val="FFFFFF"/>
                    </a:solidFill>
                  </a:tcPr>
                </a:tc>
              </a:tr>
              <a:tr h="365760">
                <a:tc>
                  <a:txBody>
                    <a:bodyPr wrap="square"/>
                    <a:lstStyle/>
                    <a:p>
                      <a:pPr>
                        <a:lnSpc>
                          <a:spcPct val="98000"/>
                        </a:lnSpc>
                      </a:pPr>
                      <a:r>
                        <a:rPr sz="1050" b="0" i="0">
                          <a:solidFill>
                            <a:srgbClr val="1F2937"/>
                          </a:solidFill>
                          <a:latin typeface="Calibri"/>
                        </a:rPr>
                        <a:t>Éval</a:t>
                      </a:r>
                    </a:p>
                  </a:txBody>
                  <a:tcPr marL="54864" marR="54864" marT="27432" marB="27432" anchor="ctr">
                    <a:solidFill>
                      <a:srgbClr val="F5F5F4"/>
                    </a:solidFill>
                  </a:tcPr>
                </a:tc>
                <a:tc>
                  <a:txBody>
                    <a:bodyPr wrap="square"/>
                    <a:lstStyle/>
                    <a:p>
                      <a:pPr algn="l">
                        <a:lnSpc>
                          <a:spcPct val="98000"/>
                        </a:lnSpc>
                      </a:pPr>
                      <a:r>
                        <a:rPr sz="1050" b="0" i="0">
                          <a:solidFill>
                            <a:srgbClr val="1F2937"/>
                          </a:solidFill>
                          <a:latin typeface="Calibri"/>
                        </a:rPr>
                        <a:t>gold · porte · épinglage</a:t>
                      </a:r>
                    </a:p>
                  </a:txBody>
                  <a:tcPr marL="54864" marR="54864" marT="27432" marB="27432" anchor="ctr">
                    <a:solidFill>
                      <a:srgbClr val="F5F5F4"/>
                    </a:solidFill>
                  </a:tcPr>
                </a:tc>
                <a:tc>
                  <a:txBody>
                    <a:bodyPr wrap="square"/>
                    <a:lstStyle/>
                    <a:p>
                      <a:pPr algn="l">
                        <a:lnSpc>
                          <a:spcPct val="98000"/>
                        </a:lnSpc>
                      </a:pPr>
                      <a:r>
                        <a:rPr sz="1050" b="0" i="0">
                          <a:solidFill>
                            <a:srgbClr val="1F2937"/>
                          </a:solidFill>
                          <a:latin typeface="Calibri"/>
                        </a:rPr>
                        <a:t>165 cas (157 certifiés + 8 multi-tour) / 12 classes · ⌈0,95 × d⌉ les deux bras · temp 0, seed, 108 checksums</a:t>
                      </a:r>
                    </a:p>
                  </a:txBody>
                  <a:tcPr marL="54864" marR="54864" marT="27432" marB="27432" anchor="ctr">
                    <a:solidFill>
                      <a:srgbClr val="F5F5F4"/>
                    </a:solidFill>
                  </a:tcPr>
                </a:tc>
              </a:tr>
              <a:tr h="365760">
                <a:tc>
                  <a:txBody>
                    <a:bodyPr wrap="square"/>
                    <a:lstStyle/>
                    <a:p>
                      <a:pPr>
                        <a:lnSpc>
                          <a:spcPct val="98000"/>
                        </a:lnSpc>
                      </a:pPr>
                      <a:r>
                        <a:rPr sz="1050" b="0" i="0">
                          <a:solidFill>
                            <a:srgbClr val="1F2937"/>
                          </a:solidFill>
                          <a:latin typeface="Calibri"/>
                        </a:rPr>
                        <a:t>Déploiement</a:t>
                      </a:r>
                    </a:p>
                  </a:txBody>
                  <a:tcPr marL="54864" marR="54864" marT="27432" marB="27432" anchor="ctr">
                    <a:solidFill>
                      <a:srgbClr val="FFFFFF"/>
                    </a:solidFill>
                  </a:tcPr>
                </a:tc>
                <a:tc>
                  <a:txBody>
                    <a:bodyPr wrap="square"/>
                    <a:lstStyle/>
                    <a:p>
                      <a:pPr algn="l">
                        <a:lnSpc>
                          <a:spcPct val="98000"/>
                        </a:lnSpc>
                      </a:pPr>
                      <a:r>
                        <a:rPr sz="1050" b="0" i="0">
                          <a:solidFill>
                            <a:srgbClr val="1F2937"/>
                          </a:solidFill>
                          <a:latin typeface="Calibri"/>
                        </a:rPr>
                        <a:t>image · flags actifs</a:t>
                      </a:r>
                    </a:p>
                  </a:txBody>
                  <a:tcPr marL="54864" marR="54864" marT="27432" marB="27432" anchor="ctr">
                    <a:solidFill>
                      <a:srgbClr val="FFFFFF"/>
                    </a:solidFill>
                  </a:tcPr>
                </a:tc>
                <a:tc>
                  <a:txBody>
                    <a:bodyPr wrap="square"/>
                    <a:lstStyle/>
                    <a:p>
                      <a:pPr algn="l">
                        <a:lnSpc>
                          <a:spcPct val="98000"/>
                        </a:lnSpc>
                      </a:pPr>
                      <a:r>
                        <a:rPr sz="1050" b="0" i="0">
                          <a:solidFill>
                            <a:srgbClr val="1F2937"/>
                          </a:solidFill>
                          <a:latin typeface="Calibri"/>
                        </a:rPr>
                        <a:t>fp-gcf:29d55ce (SHA git, 4 sept. 2026) · PLANNER=1 VERIFY=1 RERANK=1 · rollback sans rebuild</a:t>
                      </a:r>
                    </a:p>
                  </a:txBody>
                  <a:tcPr marL="54864" marR="54864" marT="27432" marB="27432" anchor="ctr">
                    <a:solidFill>
                      <a:srgbClr val="FFFFFF"/>
                    </a:solidFill>
                  </a:tcPr>
                </a:tc>
              </a:tr>
            </a:tbl>
          </a:graphicData>
        </a:graphic>
      </p:graphicFrame>
      <p:sp>
        <p:nvSpPr>
          <p:cNvPr id="7" name="TextBox 6"/>
          <p:cNvSpPr txBox="1"/>
          <p:nvPr/>
        </p:nvSpPr>
        <p:spPr>
          <a:xfrm>
            <a:off x="548640" y="6510528"/>
            <a:ext cx="7315200" cy="274320"/>
          </a:xfrm>
          <a:prstGeom prst="rect">
            <a:avLst/>
          </a:prstGeom>
          <a:noFill/>
        </p:spPr>
        <p:txBody>
          <a:bodyPr wrap="square">
            <a:spAutoFit/>
          </a:bodyPr>
          <a:lstStyle/>
          <a:p>
            <a:r>
              <a:rPr sz="900" b="0" i="0">
                <a:solidFill>
                  <a:srgbClr val="6B7280"/>
                </a:solidFill>
                <a:latin typeface="Calibri"/>
              </a:rPr>
              <a:t>Synthèse assistée par RAG · approche hybride · documents sectoriels GCF</a:t>
            </a:r>
          </a:p>
        </p:txBody>
      </p:sp>
      <p:sp>
        <p:nvSpPr>
          <p:cNvPr id="8" name="TextBox 7"/>
          <p:cNvSpPr txBox="1"/>
          <p:nvPr/>
        </p:nvSpPr>
        <p:spPr>
          <a:xfrm>
            <a:off x="11292840" y="6510528"/>
            <a:ext cx="640080" cy="274320"/>
          </a:xfrm>
          <a:prstGeom prst="rect">
            <a:avLst/>
          </a:prstGeom>
          <a:noFill/>
        </p:spPr>
        <p:txBody>
          <a:bodyPr wrap="square">
            <a:spAutoFit/>
          </a:bodyPr>
          <a:lstStyle/>
          <a:p>
            <a:pPr algn="r"/>
            <a:r>
              <a:rPr sz="900" b="0" i="0">
                <a:solidFill>
                  <a:srgbClr val="6B7280"/>
                </a:solidFill>
                <a:latin typeface="Calibri"/>
              </a:rPr>
              <a:t>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